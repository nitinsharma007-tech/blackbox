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F889C6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F889C6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F889C6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66978" y="1223898"/>
            <a:ext cx="3779520" cy="402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D5E4EE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F889C6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46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46" y="6858000"/>
                </a:lnTo>
                <a:lnTo>
                  <a:pt x="12191746" y="0"/>
                </a:lnTo>
                <a:close/>
              </a:path>
            </a:pathLst>
          </a:custGeom>
          <a:solidFill>
            <a:srgbClr val="2428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6812" y="6558989"/>
            <a:ext cx="1071841" cy="2560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745" y="-1"/>
            <a:ext cx="4571873" cy="685799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98080" y="5185028"/>
            <a:ext cx="6224270" cy="25400"/>
          </a:xfrm>
          <a:custGeom>
            <a:avLst/>
            <a:gdLst/>
            <a:ahLst/>
            <a:cxnLst/>
            <a:rect l="l" t="t" r="r" b="b"/>
            <a:pathLst>
              <a:path w="6224270" h="25400">
                <a:moveTo>
                  <a:pt x="6217958" y="0"/>
                </a:moveTo>
                <a:lnTo>
                  <a:pt x="5689" y="0"/>
                </a:lnTo>
                <a:lnTo>
                  <a:pt x="0" y="5715"/>
                </a:lnTo>
                <a:lnTo>
                  <a:pt x="0" y="12700"/>
                </a:lnTo>
                <a:lnTo>
                  <a:pt x="0" y="19812"/>
                </a:lnTo>
                <a:lnTo>
                  <a:pt x="5689" y="25400"/>
                </a:lnTo>
                <a:lnTo>
                  <a:pt x="6217958" y="25400"/>
                </a:lnTo>
                <a:lnTo>
                  <a:pt x="6223673" y="19812"/>
                </a:lnTo>
                <a:lnTo>
                  <a:pt x="6223673" y="5715"/>
                </a:lnTo>
                <a:lnTo>
                  <a:pt x="6217958" y="0"/>
                </a:lnTo>
                <a:close/>
              </a:path>
            </a:pathLst>
          </a:custGeom>
          <a:solidFill>
            <a:srgbClr val="D5E4EE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46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46" y="6858000"/>
                </a:lnTo>
                <a:lnTo>
                  <a:pt x="12191746" y="0"/>
                </a:lnTo>
                <a:close/>
              </a:path>
            </a:pathLst>
          </a:custGeom>
          <a:solidFill>
            <a:srgbClr val="2428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76812" y="6558989"/>
            <a:ext cx="1071841" cy="2560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5596" y="524332"/>
            <a:ext cx="10820806" cy="43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F889C6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2122" y="1738629"/>
            <a:ext cx="6529070" cy="3738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4571872" cy="68579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269991" y="583565"/>
            <a:ext cx="2383155" cy="265430"/>
          </a:xfrm>
          <a:custGeom>
            <a:avLst/>
            <a:gdLst/>
            <a:ahLst/>
            <a:cxnLst/>
            <a:rect l="l" t="t" r="r" b="b"/>
            <a:pathLst>
              <a:path w="2383154" h="265430">
                <a:moveTo>
                  <a:pt x="0" y="20827"/>
                </a:moveTo>
                <a:lnTo>
                  <a:pt x="1649" y="12698"/>
                </a:lnTo>
                <a:lnTo>
                  <a:pt x="6143" y="6080"/>
                </a:lnTo>
                <a:lnTo>
                  <a:pt x="12805" y="1629"/>
                </a:lnTo>
                <a:lnTo>
                  <a:pt x="20955" y="0"/>
                </a:lnTo>
                <a:lnTo>
                  <a:pt x="2361818" y="0"/>
                </a:lnTo>
                <a:lnTo>
                  <a:pt x="2369968" y="1629"/>
                </a:lnTo>
                <a:lnTo>
                  <a:pt x="2376630" y="6080"/>
                </a:lnTo>
                <a:lnTo>
                  <a:pt x="2381124" y="12698"/>
                </a:lnTo>
                <a:lnTo>
                  <a:pt x="2382774" y="20827"/>
                </a:lnTo>
                <a:lnTo>
                  <a:pt x="2382774" y="244094"/>
                </a:lnTo>
                <a:lnTo>
                  <a:pt x="2381124" y="252243"/>
                </a:lnTo>
                <a:lnTo>
                  <a:pt x="2376630" y="258905"/>
                </a:lnTo>
                <a:lnTo>
                  <a:pt x="2369968" y="263399"/>
                </a:lnTo>
                <a:lnTo>
                  <a:pt x="2361818" y="265049"/>
                </a:lnTo>
                <a:lnTo>
                  <a:pt x="20955" y="265049"/>
                </a:lnTo>
                <a:lnTo>
                  <a:pt x="12805" y="263399"/>
                </a:lnTo>
                <a:lnTo>
                  <a:pt x="6143" y="258905"/>
                </a:lnTo>
                <a:lnTo>
                  <a:pt x="1649" y="252243"/>
                </a:lnTo>
                <a:lnTo>
                  <a:pt x="0" y="244094"/>
                </a:lnTo>
                <a:lnTo>
                  <a:pt x="0" y="20827"/>
                </a:lnTo>
                <a:close/>
              </a:path>
            </a:pathLst>
          </a:custGeom>
          <a:ln w="6349">
            <a:solidFill>
              <a:srgbClr val="F889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62702" y="601421"/>
            <a:ext cx="2105025" cy="187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95">
                <a:solidFill>
                  <a:srgbClr val="F889C6"/>
                </a:solidFill>
                <a:latin typeface="SimSun-ExtB"/>
                <a:cs typeface="SimSun-ExtB"/>
              </a:rPr>
              <a:t>PRODUCT</a:t>
            </a:r>
            <a:r>
              <a:rPr dirty="0" sz="1050" spc="-270">
                <a:solidFill>
                  <a:srgbClr val="F889C6"/>
                </a:solidFill>
                <a:latin typeface="SimSun-ExtB"/>
                <a:cs typeface="SimSun-ExtB"/>
              </a:rPr>
              <a:t> </a:t>
            </a:r>
            <a:r>
              <a:rPr dirty="0" sz="1050" spc="114">
                <a:solidFill>
                  <a:srgbClr val="F889C6"/>
                </a:solidFill>
                <a:latin typeface="SimSun-ExtB"/>
                <a:cs typeface="SimSun-ExtB"/>
              </a:rPr>
              <a:t>&amp;</a:t>
            </a:r>
            <a:r>
              <a:rPr dirty="0" sz="1050" spc="-265">
                <a:solidFill>
                  <a:srgbClr val="F889C6"/>
                </a:solidFill>
                <a:latin typeface="SimSun-ExtB"/>
                <a:cs typeface="SimSun-ExtB"/>
              </a:rPr>
              <a:t> </a:t>
            </a:r>
            <a:r>
              <a:rPr dirty="0" sz="1050" spc="20">
                <a:solidFill>
                  <a:srgbClr val="F889C6"/>
                </a:solidFill>
                <a:latin typeface="SimSun-ExtB"/>
                <a:cs typeface="SimSun-ExtB"/>
              </a:rPr>
              <a:t>ENGINEERING</a:t>
            </a:r>
            <a:r>
              <a:rPr dirty="0" sz="1050" spc="-310">
                <a:solidFill>
                  <a:srgbClr val="F889C6"/>
                </a:solidFill>
                <a:latin typeface="SimSun-ExtB"/>
                <a:cs typeface="SimSun-ExtB"/>
              </a:rPr>
              <a:t> </a:t>
            </a:r>
            <a:r>
              <a:rPr dirty="0" sz="1050" spc="-10">
                <a:solidFill>
                  <a:srgbClr val="F889C6"/>
                </a:solidFill>
                <a:latin typeface="SimSun-ExtB"/>
                <a:cs typeface="SimSun-ExtB"/>
              </a:rPr>
              <a:t>OVERVIEW</a:t>
            </a:r>
            <a:endParaRPr sz="1050">
              <a:latin typeface="SimSun-ExtB"/>
              <a:cs typeface="SimSun-ExtB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257927" y="830949"/>
            <a:ext cx="3234690" cy="777875"/>
          </a:xfrm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3200"/>
              <a:t>NovaShields</a:t>
            </a:r>
            <a:r>
              <a:rPr dirty="0" sz="3200" spc="575"/>
              <a:t> </a:t>
            </a:r>
            <a:r>
              <a:rPr dirty="0" sz="3200" spc="-20"/>
              <a:t>Plus</a:t>
            </a:r>
            <a:endParaRPr sz="3200"/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50">
                <a:solidFill>
                  <a:srgbClr val="D5E4EE"/>
                </a:solidFill>
                <a:latin typeface="SimSun-ExtB"/>
                <a:cs typeface="SimSun-ExtB"/>
              </a:rPr>
              <a:t>Smart</a:t>
            </a:r>
            <a:r>
              <a:rPr dirty="0" sz="1350" spc="-3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>
                <a:solidFill>
                  <a:srgbClr val="D5E4EE"/>
                </a:solidFill>
                <a:latin typeface="SimSun-ExtB"/>
                <a:cs typeface="SimSun-ExtB"/>
              </a:rPr>
              <a:t>Two-</a:t>
            </a:r>
            <a:r>
              <a:rPr dirty="0" sz="1350" spc="-25">
                <a:solidFill>
                  <a:srgbClr val="D5E4EE"/>
                </a:solidFill>
                <a:latin typeface="SimSun-ExtB"/>
                <a:cs typeface="SimSun-ExtB"/>
              </a:rPr>
              <a:t>Wheeler</a:t>
            </a:r>
            <a:r>
              <a:rPr dirty="0" sz="1350" spc="-2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90">
                <a:solidFill>
                  <a:srgbClr val="D5E4EE"/>
                </a:solidFill>
                <a:latin typeface="SimSun-ExtB"/>
                <a:cs typeface="SimSun-ExtB"/>
              </a:rPr>
              <a:t>Safety</a:t>
            </a:r>
            <a:r>
              <a:rPr dirty="0" sz="1350" spc="-3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10">
                <a:solidFill>
                  <a:srgbClr val="D5E4EE"/>
                </a:solidFill>
                <a:latin typeface="SimSun-ExtB"/>
                <a:cs typeface="SimSun-ExtB"/>
              </a:rPr>
              <a:t>Ecosystem</a:t>
            </a:r>
            <a:endParaRPr sz="1350">
              <a:latin typeface="SimSun-ExtB"/>
              <a:cs typeface="SimSun-ExtB"/>
            </a:endParaRPr>
          </a:p>
        </p:txBody>
      </p:sp>
      <p:pic>
        <p:nvPicPr>
          <p:cNvPr id="6" name="object 6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9991" y="2085352"/>
            <a:ext cx="872705" cy="87273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283578" y="2060829"/>
            <a:ext cx="37064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Accident</a:t>
            </a:r>
            <a:r>
              <a:rPr dirty="0" sz="1600" spc="20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45">
                <a:solidFill>
                  <a:srgbClr val="D5E4EE"/>
                </a:solidFill>
                <a:latin typeface="Georgia"/>
                <a:cs typeface="Georgia"/>
              </a:rPr>
              <a:t>Detection</a:t>
            </a:r>
            <a:r>
              <a:rPr dirty="0" sz="1600" spc="24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-190">
                <a:solidFill>
                  <a:srgbClr val="D5E4EE"/>
                </a:solidFill>
                <a:latin typeface="Georgia"/>
                <a:cs typeface="Georgia"/>
              </a:rPr>
              <a:t>+</a:t>
            </a:r>
            <a:r>
              <a:rPr dirty="0" sz="1600" spc="19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Tiered</a:t>
            </a:r>
            <a:r>
              <a:rPr dirty="0" sz="1600" spc="19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Georgia"/>
                <a:cs typeface="Georgia"/>
              </a:rPr>
              <a:t>Escalation</a:t>
            </a:r>
            <a:endParaRPr sz="1600">
              <a:latin typeface="Georgia"/>
              <a:cs typeface="Georgia"/>
            </a:endParaRPr>
          </a:p>
        </p:txBody>
      </p:sp>
      <p:pic>
        <p:nvPicPr>
          <p:cNvPr id="8" name="object 8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69991" y="3132594"/>
            <a:ext cx="872705" cy="87273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283578" y="3108451"/>
            <a:ext cx="19862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Insurance</a:t>
            </a:r>
            <a:r>
              <a:rPr dirty="0" sz="1600" spc="29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35">
                <a:solidFill>
                  <a:srgbClr val="D5E4EE"/>
                </a:solidFill>
                <a:latin typeface="Georgia"/>
                <a:cs typeface="Georgia"/>
              </a:rPr>
              <a:t>Telemetry</a:t>
            </a:r>
            <a:endParaRPr sz="1600">
              <a:latin typeface="Georgia"/>
              <a:cs typeface="Georgia"/>
            </a:endParaRPr>
          </a:p>
        </p:txBody>
      </p:sp>
      <p:pic>
        <p:nvPicPr>
          <p:cNvPr id="10" name="object 10" descr="preencoded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69991" y="4179836"/>
            <a:ext cx="872705" cy="87273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283578" y="4155388"/>
            <a:ext cx="1976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Guardian</a:t>
            </a:r>
            <a:r>
              <a:rPr dirty="0" sz="1600" spc="15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Georgia"/>
                <a:cs typeface="Georgia"/>
              </a:rPr>
              <a:t>Dashboard</a:t>
            </a:r>
            <a:endParaRPr sz="1600">
              <a:latin typeface="Georgia"/>
              <a:cs typeface="Georgia"/>
            </a:endParaRPr>
          </a:p>
        </p:txBody>
      </p:sp>
      <p:pic>
        <p:nvPicPr>
          <p:cNvPr id="12" name="object 12" descr="preencoded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69991" y="5227142"/>
            <a:ext cx="872705" cy="87273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283578" y="5203316"/>
            <a:ext cx="17030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Rider</a:t>
            </a:r>
            <a:r>
              <a:rPr dirty="0" sz="1600" spc="2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35">
                <a:solidFill>
                  <a:srgbClr val="D5E4EE"/>
                </a:solidFill>
                <a:latin typeface="Georgia"/>
                <a:cs typeface="Georgia"/>
              </a:rPr>
              <a:t>Telemetrics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931525" y="6378797"/>
            <a:ext cx="1188085" cy="402590"/>
            <a:chOff x="10931525" y="6378797"/>
            <a:chExt cx="1188085" cy="402590"/>
          </a:xfrm>
        </p:grpSpPr>
        <p:sp>
          <p:nvSpPr>
            <p:cNvPr id="15" name="object 15"/>
            <p:cNvSpPr/>
            <p:nvPr/>
          </p:nvSpPr>
          <p:spPr>
            <a:xfrm>
              <a:off x="10937875" y="6385147"/>
              <a:ext cx="1175385" cy="389890"/>
            </a:xfrm>
            <a:custGeom>
              <a:avLst/>
              <a:gdLst/>
              <a:ahLst/>
              <a:cxnLst/>
              <a:rect l="l" t="t" r="r" b="b"/>
              <a:pathLst>
                <a:path w="1175384" h="389890">
                  <a:moveTo>
                    <a:pt x="1175232" y="0"/>
                  </a:moveTo>
                  <a:lnTo>
                    <a:pt x="0" y="0"/>
                  </a:lnTo>
                  <a:lnTo>
                    <a:pt x="0" y="389585"/>
                  </a:lnTo>
                  <a:lnTo>
                    <a:pt x="1175232" y="389585"/>
                  </a:lnTo>
                  <a:lnTo>
                    <a:pt x="1175232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937875" y="6385147"/>
              <a:ext cx="1175385" cy="389890"/>
            </a:xfrm>
            <a:custGeom>
              <a:avLst/>
              <a:gdLst/>
              <a:ahLst/>
              <a:cxnLst/>
              <a:rect l="l" t="t" r="r" b="b"/>
              <a:pathLst>
                <a:path w="1175384" h="389890">
                  <a:moveTo>
                    <a:pt x="0" y="389585"/>
                  </a:moveTo>
                  <a:lnTo>
                    <a:pt x="1175232" y="389585"/>
                  </a:lnTo>
                  <a:lnTo>
                    <a:pt x="1175232" y="0"/>
                  </a:lnTo>
                  <a:lnTo>
                    <a:pt x="0" y="0"/>
                  </a:lnTo>
                  <a:lnTo>
                    <a:pt x="0" y="389585"/>
                  </a:lnTo>
                  <a:close/>
                </a:path>
              </a:pathLst>
            </a:custGeom>
            <a:ln w="12699">
              <a:solidFill>
                <a:srgbClr val="2428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821173" y="6459118"/>
            <a:ext cx="6169660" cy="26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25" b="1">
                <a:solidFill>
                  <a:srgbClr val="D5E4EE"/>
                </a:solidFill>
                <a:latin typeface="Yu Gothic UI"/>
                <a:cs typeface="Yu Gothic UI"/>
              </a:rPr>
              <a:t>Team</a:t>
            </a:r>
            <a:r>
              <a:rPr dirty="0" sz="1550" spc="-8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spc="-60" b="1">
                <a:solidFill>
                  <a:srgbClr val="D5E4EE"/>
                </a:solidFill>
                <a:latin typeface="Yu Gothic UI"/>
                <a:cs typeface="Yu Gothic UI"/>
              </a:rPr>
              <a:t>Code</a:t>
            </a:r>
            <a:r>
              <a:rPr dirty="0" sz="1550" spc="-8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b="1">
                <a:solidFill>
                  <a:srgbClr val="D5E4EE"/>
                </a:solidFill>
                <a:latin typeface="Yu Gothic UI"/>
                <a:cs typeface="Yu Gothic UI"/>
              </a:rPr>
              <a:t>Catalyst</a:t>
            </a:r>
            <a:r>
              <a:rPr dirty="0" sz="1550" spc="-80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spc="-1180">
                <a:solidFill>
                  <a:srgbClr val="D5E4EE"/>
                </a:solidFill>
                <a:latin typeface="SimSun-ExtB"/>
                <a:cs typeface="SimSun-ExtB"/>
              </a:rPr>
              <a:t>·</a:t>
            </a:r>
            <a:r>
              <a:rPr dirty="0" sz="1550" spc="-4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65">
                <a:solidFill>
                  <a:srgbClr val="D5E4EE"/>
                </a:solidFill>
                <a:latin typeface="SimSun-ExtB"/>
                <a:cs typeface="SimSun-ExtB"/>
              </a:rPr>
              <a:t>Panipat</a:t>
            </a:r>
            <a:r>
              <a:rPr dirty="0" sz="1550" spc="-43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80">
                <a:solidFill>
                  <a:srgbClr val="D5E4EE"/>
                </a:solidFill>
                <a:latin typeface="SimSun-ExtB"/>
                <a:cs typeface="SimSun-ExtB"/>
              </a:rPr>
              <a:t>Institute</a:t>
            </a:r>
            <a:r>
              <a:rPr dirty="0" sz="1550" spc="-409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40">
                <a:solidFill>
                  <a:srgbClr val="D5E4EE"/>
                </a:solidFill>
                <a:latin typeface="SimSun-ExtB"/>
                <a:cs typeface="SimSun-ExtB"/>
              </a:rPr>
              <a:t>of</a:t>
            </a:r>
            <a:r>
              <a:rPr dirty="0" sz="1550" spc="-4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80">
                <a:solidFill>
                  <a:srgbClr val="D5E4EE"/>
                </a:solidFill>
                <a:latin typeface="SimSun-ExtB"/>
                <a:cs typeface="SimSun-ExtB"/>
              </a:rPr>
              <a:t>Engineering</a:t>
            </a:r>
            <a:r>
              <a:rPr dirty="0" sz="1550" spc="-4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160">
                <a:solidFill>
                  <a:srgbClr val="D5E4EE"/>
                </a:solidFill>
                <a:latin typeface="SimSun-ExtB"/>
                <a:cs typeface="SimSun-ExtB"/>
              </a:rPr>
              <a:t>&amp;</a:t>
            </a:r>
            <a:r>
              <a:rPr dirty="0" sz="1550" spc="-4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30">
                <a:solidFill>
                  <a:srgbClr val="D5E4EE"/>
                </a:solidFill>
                <a:latin typeface="SimSun-ExtB"/>
                <a:cs typeface="SimSun-ExtB"/>
              </a:rPr>
              <a:t>Technology</a:t>
            </a:r>
            <a:r>
              <a:rPr dirty="0" sz="1550" spc="-4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80">
                <a:solidFill>
                  <a:srgbClr val="D5E4EE"/>
                </a:solidFill>
                <a:latin typeface="SimSun-ExtB"/>
                <a:cs typeface="SimSun-ExtB"/>
              </a:rPr>
              <a:t>(PIET)</a:t>
            </a:r>
            <a:endParaRPr sz="1550">
              <a:latin typeface="SimSun-ExtB"/>
              <a:cs typeface="SimSun-ExtB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79557" y="65023"/>
            <a:ext cx="179832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0" b="1">
                <a:solidFill>
                  <a:srgbClr val="D5E4EE"/>
                </a:solidFill>
                <a:latin typeface="Yu Gothic UI"/>
                <a:cs typeface="Yu Gothic UI"/>
              </a:rPr>
              <a:t>Team</a:t>
            </a:r>
            <a:r>
              <a:rPr dirty="0" sz="1550" spc="-110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spc="-70" b="1">
                <a:solidFill>
                  <a:srgbClr val="D5E4EE"/>
                </a:solidFill>
                <a:latin typeface="Yu Gothic UI"/>
                <a:cs typeface="Yu Gothic UI"/>
              </a:rPr>
              <a:t>ID</a:t>
            </a:r>
            <a:r>
              <a:rPr dirty="0" sz="1550" spc="-9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spc="-260" b="1">
                <a:solidFill>
                  <a:srgbClr val="D5E4EE"/>
                </a:solidFill>
                <a:latin typeface="Yu Gothic UI"/>
                <a:cs typeface="Yu Gothic UI"/>
              </a:rPr>
              <a:t>=</a:t>
            </a:r>
            <a:r>
              <a:rPr dirty="0" sz="1550" spc="-110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spc="-20" b="1">
                <a:solidFill>
                  <a:srgbClr val="D5E4EE"/>
                </a:solidFill>
                <a:latin typeface="Yu Gothic UI"/>
                <a:cs typeface="Yu Gothic UI"/>
              </a:rPr>
              <a:t>ECF5</a:t>
            </a:r>
            <a:r>
              <a:rPr dirty="0" sz="1550" spc="-9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spc="-120" b="1">
                <a:solidFill>
                  <a:srgbClr val="D5E4EE"/>
                </a:solidFill>
                <a:latin typeface="Yu Gothic UI"/>
                <a:cs typeface="Yu Gothic UI"/>
              </a:rPr>
              <a:t>-</a:t>
            </a:r>
            <a:r>
              <a:rPr dirty="0" sz="1550" spc="-10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spc="-25" b="1">
                <a:solidFill>
                  <a:srgbClr val="D5E4EE"/>
                </a:solidFill>
                <a:latin typeface="Yu Gothic UI"/>
                <a:cs typeface="Yu Gothic UI"/>
              </a:rPr>
              <a:t>166</a:t>
            </a:r>
            <a:endParaRPr sz="1550">
              <a:latin typeface="Yu Gothic UI"/>
              <a:cs typeface="Yu Gothic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4571872" cy="68579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269991" y="736726"/>
            <a:ext cx="1014730" cy="255904"/>
          </a:xfrm>
          <a:custGeom>
            <a:avLst/>
            <a:gdLst/>
            <a:ahLst/>
            <a:cxnLst/>
            <a:rect l="l" t="t" r="r" b="b"/>
            <a:pathLst>
              <a:path w="1014729" h="255905">
                <a:moveTo>
                  <a:pt x="994410" y="0"/>
                </a:moveTo>
                <a:lnTo>
                  <a:pt x="20193" y="0"/>
                </a:lnTo>
                <a:lnTo>
                  <a:pt x="12322" y="1583"/>
                </a:lnTo>
                <a:lnTo>
                  <a:pt x="5905" y="5905"/>
                </a:lnTo>
                <a:lnTo>
                  <a:pt x="1583" y="12322"/>
                </a:lnTo>
                <a:lnTo>
                  <a:pt x="0" y="20193"/>
                </a:lnTo>
                <a:lnTo>
                  <a:pt x="0" y="235331"/>
                </a:lnTo>
                <a:lnTo>
                  <a:pt x="1583" y="243201"/>
                </a:lnTo>
                <a:lnTo>
                  <a:pt x="5905" y="249618"/>
                </a:lnTo>
                <a:lnTo>
                  <a:pt x="12322" y="253940"/>
                </a:lnTo>
                <a:lnTo>
                  <a:pt x="20193" y="255524"/>
                </a:lnTo>
                <a:lnTo>
                  <a:pt x="994410" y="255524"/>
                </a:lnTo>
                <a:lnTo>
                  <a:pt x="1002280" y="253940"/>
                </a:lnTo>
                <a:lnTo>
                  <a:pt x="1008697" y="249618"/>
                </a:lnTo>
                <a:lnTo>
                  <a:pt x="1013019" y="243201"/>
                </a:lnTo>
                <a:lnTo>
                  <a:pt x="1014603" y="235331"/>
                </a:lnTo>
                <a:lnTo>
                  <a:pt x="1014603" y="20193"/>
                </a:lnTo>
                <a:lnTo>
                  <a:pt x="1013019" y="12322"/>
                </a:lnTo>
                <a:lnTo>
                  <a:pt x="1008697" y="5905"/>
                </a:lnTo>
                <a:lnTo>
                  <a:pt x="1002280" y="1583"/>
                </a:lnTo>
                <a:lnTo>
                  <a:pt x="994410" y="0"/>
                </a:lnTo>
                <a:close/>
              </a:path>
            </a:pathLst>
          </a:custGeom>
          <a:solidFill>
            <a:srgbClr val="4804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257927" y="719760"/>
            <a:ext cx="4982210" cy="78994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370"/>
              </a:spcBef>
            </a:pPr>
            <a:r>
              <a:rPr dirty="0" sz="1050" spc="70">
                <a:solidFill>
                  <a:srgbClr val="D5E4EE"/>
                </a:solidFill>
                <a:latin typeface="SimSun-ExtB"/>
                <a:cs typeface="SimSun-ExtB"/>
              </a:rPr>
              <a:t>THE</a:t>
            </a:r>
            <a:r>
              <a:rPr dirty="0" sz="1050" spc="-3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85">
                <a:solidFill>
                  <a:srgbClr val="D5E4EE"/>
                </a:solidFill>
                <a:latin typeface="SimSun-ExtB"/>
                <a:cs typeface="SimSun-ExtB"/>
              </a:rPr>
              <a:t>PROBLEM</a:t>
            </a:r>
            <a:endParaRPr sz="10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3100">
                <a:solidFill>
                  <a:srgbClr val="F889C6"/>
                </a:solidFill>
                <a:latin typeface="Georgia"/>
                <a:cs typeface="Georgia"/>
              </a:rPr>
              <a:t>India's</a:t>
            </a:r>
            <a:r>
              <a:rPr dirty="0" sz="3100" spc="9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3100" spc="175">
                <a:solidFill>
                  <a:srgbClr val="F889C6"/>
                </a:solidFill>
                <a:latin typeface="Georgia"/>
                <a:cs typeface="Georgia"/>
              </a:rPr>
              <a:t>Two-</a:t>
            </a:r>
            <a:r>
              <a:rPr dirty="0" sz="3100" spc="85">
                <a:solidFill>
                  <a:srgbClr val="F889C6"/>
                </a:solidFill>
                <a:latin typeface="Georgia"/>
                <a:cs typeface="Georgia"/>
              </a:rPr>
              <a:t>Wheeler</a:t>
            </a:r>
            <a:r>
              <a:rPr dirty="0" sz="3100" spc="80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3100" spc="40">
                <a:solidFill>
                  <a:srgbClr val="F889C6"/>
                </a:solidFill>
                <a:latin typeface="Georgia"/>
                <a:cs typeface="Georgia"/>
              </a:rPr>
              <a:t>Crisis</a:t>
            </a:r>
            <a:endParaRPr sz="3100">
              <a:latin typeface="Georgia"/>
              <a:cs typeface="Georgi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094857" y="1688414"/>
            <a:ext cx="1229360" cy="69024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350" spc="-270">
                <a:solidFill>
                  <a:srgbClr val="D5E4EE"/>
                </a:solidFill>
              </a:rPr>
              <a:t>~1.7L</a:t>
            </a:r>
            <a:endParaRPr sz="4350"/>
          </a:p>
        </p:txBody>
      </p:sp>
      <p:sp>
        <p:nvSpPr>
          <p:cNvPr id="6" name="object 6"/>
          <p:cNvSpPr txBox="1"/>
          <p:nvPr/>
        </p:nvSpPr>
        <p:spPr>
          <a:xfrm>
            <a:off x="8484869" y="1688414"/>
            <a:ext cx="2999105" cy="16357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350" spc="-10">
                <a:solidFill>
                  <a:srgbClr val="D5E4EE"/>
                </a:solidFill>
                <a:latin typeface="Georgia"/>
                <a:cs typeface="Georgia"/>
              </a:rPr>
              <a:t>46.2%</a:t>
            </a:r>
            <a:endParaRPr sz="43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655"/>
              </a:spcBef>
            </a:pPr>
            <a:r>
              <a:rPr dirty="0" sz="1550">
                <a:solidFill>
                  <a:srgbClr val="D5E4EE"/>
                </a:solidFill>
                <a:latin typeface="Georgia"/>
                <a:cs typeface="Georgia"/>
              </a:rPr>
              <a:t>Fatalities</a:t>
            </a:r>
            <a:r>
              <a:rPr dirty="0" sz="1550" spc="15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50">
                <a:solidFill>
                  <a:srgbClr val="D5E4EE"/>
                </a:solidFill>
                <a:latin typeface="Georgia"/>
                <a:cs typeface="Georgia"/>
              </a:rPr>
              <a:t>of</a:t>
            </a:r>
            <a:r>
              <a:rPr dirty="0" sz="1550" spc="18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50">
                <a:solidFill>
                  <a:srgbClr val="D5E4EE"/>
                </a:solidFill>
                <a:latin typeface="Georgia"/>
                <a:cs typeface="Georgia"/>
              </a:rPr>
              <a:t>Total</a:t>
            </a:r>
            <a:r>
              <a:rPr dirty="0" sz="1550" spc="17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50" spc="-10">
                <a:solidFill>
                  <a:srgbClr val="D5E4EE"/>
                </a:solidFill>
                <a:latin typeface="Georgia"/>
                <a:cs typeface="Georgia"/>
              </a:rPr>
              <a:t>Fatalities</a:t>
            </a:r>
            <a:endParaRPr sz="15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dirty="0" sz="1550">
                <a:solidFill>
                  <a:srgbClr val="D5E4EE"/>
                </a:solidFill>
                <a:latin typeface="Georgia"/>
                <a:cs typeface="Georgia"/>
              </a:rPr>
              <a:t>Are</a:t>
            </a:r>
            <a:r>
              <a:rPr dirty="0" sz="1550" spc="21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50" spc="85">
                <a:solidFill>
                  <a:srgbClr val="D5E4EE"/>
                </a:solidFill>
                <a:latin typeface="Georgia"/>
                <a:cs typeface="Georgia"/>
              </a:rPr>
              <a:t>Two-</a:t>
            </a:r>
            <a:r>
              <a:rPr dirty="0" sz="1550">
                <a:solidFill>
                  <a:srgbClr val="D5E4EE"/>
                </a:solidFill>
                <a:latin typeface="Georgia"/>
                <a:cs typeface="Georgia"/>
              </a:rPr>
              <a:t>Wheeler</a:t>
            </a:r>
            <a:r>
              <a:rPr dirty="0" sz="1550" spc="22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50" spc="-10">
                <a:solidFill>
                  <a:srgbClr val="D5E4EE"/>
                </a:solidFill>
                <a:latin typeface="Georgia"/>
                <a:cs typeface="Georgia"/>
              </a:rPr>
              <a:t>Riders</a:t>
            </a:r>
            <a:endParaRPr sz="15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dirty="0" sz="1300">
                <a:solidFill>
                  <a:srgbClr val="D5E4EE"/>
                </a:solidFill>
                <a:latin typeface="SimSun-ExtB"/>
                <a:cs typeface="SimSun-ExtB"/>
              </a:rPr>
              <a:t>The</a:t>
            </a:r>
            <a:r>
              <a:rPr dirty="0" sz="1300" spc="-33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30">
                <a:solidFill>
                  <a:srgbClr val="D5E4EE"/>
                </a:solidFill>
                <a:latin typeface="SimSun-ExtB"/>
                <a:cs typeface="SimSun-ExtB"/>
              </a:rPr>
              <a:t>single</a:t>
            </a:r>
            <a:r>
              <a:rPr dirty="0" sz="1300" spc="-33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35">
                <a:solidFill>
                  <a:srgbClr val="D5E4EE"/>
                </a:solidFill>
                <a:latin typeface="SimSun-ExtB"/>
                <a:cs typeface="SimSun-ExtB"/>
              </a:rPr>
              <a:t>largest</a:t>
            </a:r>
            <a:r>
              <a:rPr dirty="0" sz="130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65">
                <a:solidFill>
                  <a:srgbClr val="D5E4EE"/>
                </a:solidFill>
                <a:latin typeface="SimSun-ExtB"/>
                <a:cs typeface="SimSun-ExtB"/>
              </a:rPr>
              <a:t>share</a:t>
            </a:r>
            <a:r>
              <a:rPr dirty="0" sz="130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20">
                <a:solidFill>
                  <a:srgbClr val="D5E4EE"/>
                </a:solidFill>
                <a:latin typeface="SimSun-ExtB"/>
                <a:cs typeface="SimSun-ExtB"/>
              </a:rPr>
              <a:t>of</a:t>
            </a:r>
            <a:r>
              <a:rPr dirty="0" sz="1300" spc="-37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>
                <a:solidFill>
                  <a:srgbClr val="D5E4EE"/>
                </a:solidFill>
                <a:latin typeface="SimSun-ExtB"/>
                <a:cs typeface="SimSun-ExtB"/>
              </a:rPr>
              <a:t>any</a:t>
            </a:r>
            <a:r>
              <a:rPr dirty="0" sz="1300" spc="-3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14">
                <a:solidFill>
                  <a:srgbClr val="D5E4EE"/>
                </a:solidFill>
                <a:latin typeface="SimSun-ExtB"/>
                <a:cs typeface="SimSun-ExtB"/>
              </a:rPr>
              <a:t>vehicle</a:t>
            </a:r>
            <a:r>
              <a:rPr dirty="0" sz="1300" spc="-3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60">
                <a:solidFill>
                  <a:srgbClr val="D5E4EE"/>
                </a:solidFill>
                <a:latin typeface="SimSun-ExtB"/>
                <a:cs typeface="SimSun-ExtB"/>
              </a:rPr>
              <a:t>class</a:t>
            </a:r>
            <a:endParaRPr sz="1300">
              <a:latin typeface="SimSun-ExtB"/>
              <a:cs typeface="SimSun-ExtB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69991" y="5271008"/>
            <a:ext cx="6223635" cy="850265"/>
            <a:chOff x="5269991" y="5271008"/>
            <a:chExt cx="6223635" cy="850265"/>
          </a:xfrm>
        </p:grpSpPr>
        <p:sp>
          <p:nvSpPr>
            <p:cNvPr id="8" name="object 8"/>
            <p:cNvSpPr/>
            <p:nvPr/>
          </p:nvSpPr>
          <p:spPr>
            <a:xfrm>
              <a:off x="5269991" y="5271008"/>
              <a:ext cx="6223635" cy="850265"/>
            </a:xfrm>
            <a:custGeom>
              <a:avLst/>
              <a:gdLst/>
              <a:ahLst/>
              <a:cxnLst/>
              <a:rect l="l" t="t" r="r" b="b"/>
              <a:pathLst>
                <a:path w="6223634" h="850264">
                  <a:moveTo>
                    <a:pt x="6198362" y="0"/>
                  </a:moveTo>
                  <a:lnTo>
                    <a:pt x="25273" y="0"/>
                  </a:lnTo>
                  <a:lnTo>
                    <a:pt x="15430" y="1984"/>
                  </a:lnTo>
                  <a:lnTo>
                    <a:pt x="7397" y="7397"/>
                  </a:lnTo>
                  <a:lnTo>
                    <a:pt x="1984" y="15430"/>
                  </a:lnTo>
                  <a:lnTo>
                    <a:pt x="0" y="25272"/>
                  </a:lnTo>
                  <a:lnTo>
                    <a:pt x="0" y="824953"/>
                  </a:lnTo>
                  <a:lnTo>
                    <a:pt x="1984" y="834774"/>
                  </a:lnTo>
                  <a:lnTo>
                    <a:pt x="7397" y="842795"/>
                  </a:lnTo>
                  <a:lnTo>
                    <a:pt x="15430" y="848205"/>
                  </a:lnTo>
                  <a:lnTo>
                    <a:pt x="25273" y="850188"/>
                  </a:lnTo>
                  <a:lnTo>
                    <a:pt x="6198362" y="850188"/>
                  </a:lnTo>
                  <a:lnTo>
                    <a:pt x="6208204" y="848205"/>
                  </a:lnTo>
                  <a:lnTo>
                    <a:pt x="6216237" y="842795"/>
                  </a:lnTo>
                  <a:lnTo>
                    <a:pt x="6221650" y="834774"/>
                  </a:lnTo>
                  <a:lnTo>
                    <a:pt x="6223635" y="824953"/>
                  </a:lnTo>
                  <a:lnTo>
                    <a:pt x="6223635" y="25272"/>
                  </a:lnTo>
                  <a:lnTo>
                    <a:pt x="6221650" y="15430"/>
                  </a:lnTo>
                  <a:lnTo>
                    <a:pt x="6216237" y="7397"/>
                  </a:lnTo>
                  <a:lnTo>
                    <a:pt x="6208204" y="1984"/>
                  </a:lnTo>
                  <a:lnTo>
                    <a:pt x="6198362" y="0"/>
                  </a:lnTo>
                  <a:close/>
                </a:path>
              </a:pathLst>
            </a:custGeom>
            <a:solidFill>
              <a:srgbClr val="4A3E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8266" y="5479250"/>
              <a:ext cx="210337" cy="16827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418201" y="2562555"/>
            <a:ext cx="5539740" cy="3314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55">
                <a:solidFill>
                  <a:srgbClr val="D5E4EE"/>
                </a:solidFill>
                <a:latin typeface="Georgia"/>
                <a:cs typeface="Georgia"/>
              </a:rPr>
              <a:t>Two</a:t>
            </a:r>
            <a:r>
              <a:rPr dirty="0" sz="1550" spc="14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50">
                <a:solidFill>
                  <a:srgbClr val="D5E4EE"/>
                </a:solidFill>
                <a:latin typeface="Georgia"/>
                <a:cs typeface="Georgia"/>
              </a:rPr>
              <a:t>Wheelers</a:t>
            </a:r>
            <a:r>
              <a:rPr dirty="0" sz="1550" spc="15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50">
                <a:solidFill>
                  <a:srgbClr val="D5E4EE"/>
                </a:solidFill>
                <a:latin typeface="Georgia"/>
                <a:cs typeface="Georgia"/>
              </a:rPr>
              <a:t>Road</a:t>
            </a:r>
            <a:r>
              <a:rPr dirty="0" sz="1550" spc="16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50" spc="-10">
                <a:solidFill>
                  <a:srgbClr val="D5E4EE"/>
                </a:solidFill>
                <a:latin typeface="Georgia"/>
                <a:cs typeface="Georgia"/>
              </a:rPr>
              <a:t>Fatalities</a:t>
            </a:r>
            <a:endParaRPr sz="1550">
              <a:latin typeface="Georgia"/>
              <a:cs typeface="Georgia"/>
            </a:endParaRPr>
          </a:p>
          <a:p>
            <a:pPr marL="18415">
              <a:lnSpc>
                <a:spcPct val="100000"/>
              </a:lnSpc>
              <a:spcBef>
                <a:spcPts val="975"/>
              </a:spcBef>
            </a:pPr>
            <a:r>
              <a:rPr dirty="0" sz="1300" spc="-75">
                <a:solidFill>
                  <a:srgbClr val="D5E4EE"/>
                </a:solidFill>
                <a:latin typeface="SimSun-ExtB"/>
                <a:cs typeface="SimSun-ExtB"/>
              </a:rPr>
              <a:t>2024,</a:t>
            </a:r>
            <a:r>
              <a:rPr dirty="0" sz="1300" spc="-3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125">
                <a:solidFill>
                  <a:srgbClr val="D5E4EE"/>
                </a:solidFill>
                <a:latin typeface="SimSun-ExtB"/>
                <a:cs typeface="SimSun-ExtB"/>
              </a:rPr>
              <a:t>MoRTH</a:t>
            </a:r>
            <a:r>
              <a:rPr dirty="0" sz="1300" spc="-34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275">
                <a:solidFill>
                  <a:srgbClr val="D5E4EE"/>
                </a:solidFill>
                <a:latin typeface="SimSun-ExtB"/>
                <a:cs typeface="SimSun-ExtB"/>
              </a:rPr>
              <a:t>—</a:t>
            </a:r>
            <a:r>
              <a:rPr dirty="0" sz="1300" spc="-36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65">
                <a:solidFill>
                  <a:srgbClr val="D5E4EE"/>
                </a:solidFill>
                <a:latin typeface="SimSun-ExtB"/>
                <a:cs typeface="SimSun-ExtB"/>
              </a:rPr>
              <a:t>the</a:t>
            </a:r>
            <a:r>
              <a:rPr dirty="0" sz="1300" spc="-35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55">
                <a:solidFill>
                  <a:srgbClr val="D5E4EE"/>
                </a:solidFill>
                <a:latin typeface="SimSun-ExtB"/>
                <a:cs typeface="SimSun-ExtB"/>
              </a:rPr>
              <a:t>latest</a:t>
            </a:r>
            <a:r>
              <a:rPr dirty="0" sz="1300" spc="-36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200">
                <a:solidFill>
                  <a:srgbClr val="D5E4EE"/>
                </a:solidFill>
                <a:latin typeface="SimSun-ExtB"/>
                <a:cs typeface="SimSun-ExtB"/>
              </a:rPr>
              <a:t>official</a:t>
            </a:r>
            <a:r>
              <a:rPr dirty="0" sz="1300" spc="-38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0">
                <a:solidFill>
                  <a:srgbClr val="D5E4EE"/>
                </a:solidFill>
                <a:latin typeface="SimSun-ExtB"/>
                <a:cs typeface="SimSun-ExtB"/>
              </a:rPr>
              <a:t>count</a:t>
            </a:r>
            <a:endParaRPr sz="1300">
              <a:latin typeface="SimSun-ExtB"/>
              <a:cs typeface="SimSun-ExtB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1300">
              <a:latin typeface="SimSun-ExtB"/>
              <a:cs typeface="SimSun-ExtB"/>
            </a:endParaRPr>
          </a:p>
          <a:p>
            <a:pPr algn="ctr" marL="43180">
              <a:lnSpc>
                <a:spcPct val="100000"/>
              </a:lnSpc>
              <a:spcBef>
                <a:spcPts val="5"/>
              </a:spcBef>
            </a:pPr>
            <a:r>
              <a:rPr dirty="0" sz="4350" spc="-25">
                <a:solidFill>
                  <a:srgbClr val="D5E4EE"/>
                </a:solidFill>
                <a:latin typeface="Georgia"/>
                <a:cs typeface="Georgia"/>
              </a:rPr>
              <a:t>~20</a:t>
            </a:r>
            <a:endParaRPr sz="4350">
              <a:latin typeface="Georgia"/>
              <a:cs typeface="Georgia"/>
            </a:endParaRPr>
          </a:p>
          <a:p>
            <a:pPr algn="ctr" marL="387985">
              <a:lnSpc>
                <a:spcPct val="100000"/>
              </a:lnSpc>
              <a:spcBef>
                <a:spcPts val="540"/>
              </a:spcBef>
            </a:pPr>
            <a:r>
              <a:rPr dirty="0" sz="1550">
                <a:solidFill>
                  <a:srgbClr val="D5E4EE"/>
                </a:solidFill>
                <a:latin typeface="Georgia"/>
                <a:cs typeface="Georgia"/>
              </a:rPr>
              <a:t>Lives</a:t>
            </a:r>
            <a:r>
              <a:rPr dirty="0" sz="1550" spc="13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50">
                <a:solidFill>
                  <a:srgbClr val="D5E4EE"/>
                </a:solidFill>
                <a:latin typeface="Georgia"/>
                <a:cs typeface="Georgia"/>
              </a:rPr>
              <a:t>Lost</a:t>
            </a:r>
            <a:r>
              <a:rPr dirty="0" sz="1550" spc="12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50">
                <a:solidFill>
                  <a:srgbClr val="D5E4EE"/>
                </a:solidFill>
                <a:latin typeface="Georgia"/>
                <a:cs typeface="Georgia"/>
              </a:rPr>
              <a:t>Per</a:t>
            </a:r>
            <a:r>
              <a:rPr dirty="0" sz="1550" spc="13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50" spc="-20">
                <a:solidFill>
                  <a:srgbClr val="D5E4EE"/>
                </a:solidFill>
                <a:latin typeface="Georgia"/>
                <a:cs typeface="Georgia"/>
              </a:rPr>
              <a:t>Hour</a:t>
            </a:r>
            <a:endParaRPr sz="1550">
              <a:latin typeface="Georgia"/>
              <a:cs typeface="Georgia"/>
            </a:endParaRPr>
          </a:p>
          <a:p>
            <a:pPr algn="ctr" marL="1630045" marR="1235075">
              <a:lnSpc>
                <a:spcPct val="124600"/>
              </a:lnSpc>
              <a:spcBef>
                <a:spcPts val="570"/>
              </a:spcBef>
            </a:pPr>
            <a:r>
              <a:rPr dirty="0" sz="1300">
                <a:solidFill>
                  <a:srgbClr val="D5E4EE"/>
                </a:solidFill>
                <a:latin typeface="SimSun-ExtB"/>
                <a:cs typeface="SimSun-ExtB"/>
              </a:rPr>
              <a:t>70.8%</a:t>
            </a:r>
            <a:r>
              <a:rPr dirty="0" sz="1300" spc="-3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45">
                <a:solidFill>
                  <a:srgbClr val="D5E4EE"/>
                </a:solidFill>
                <a:latin typeface="SimSun-ExtB"/>
                <a:cs typeface="SimSun-ExtB"/>
              </a:rPr>
              <a:t>in</a:t>
            </a:r>
            <a:r>
              <a:rPr dirty="0" sz="1300" spc="-35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50">
                <a:solidFill>
                  <a:srgbClr val="D5E4EE"/>
                </a:solidFill>
                <a:latin typeface="SimSun-ExtB"/>
                <a:cs typeface="SimSun-ExtB"/>
              </a:rPr>
              <a:t>rural</a:t>
            </a:r>
            <a:r>
              <a:rPr dirty="0" sz="130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80">
                <a:solidFill>
                  <a:srgbClr val="D5E4EE"/>
                </a:solidFill>
                <a:latin typeface="SimSun-ExtB"/>
                <a:cs typeface="SimSun-ExtB"/>
              </a:rPr>
              <a:t>areas</a:t>
            </a:r>
            <a:r>
              <a:rPr dirty="0" sz="130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275">
                <a:solidFill>
                  <a:srgbClr val="D5E4EE"/>
                </a:solidFill>
                <a:latin typeface="SimSun-ExtB"/>
                <a:cs typeface="SimSun-ExtB"/>
              </a:rPr>
              <a:t>—</a:t>
            </a:r>
            <a:r>
              <a:rPr dirty="0" sz="1300" spc="-36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120">
                <a:solidFill>
                  <a:srgbClr val="D5E4EE"/>
                </a:solidFill>
                <a:latin typeface="SimSun-ExtB"/>
                <a:cs typeface="SimSun-ExtB"/>
              </a:rPr>
              <a:t>EMS</a:t>
            </a:r>
            <a:r>
              <a:rPr dirty="0" sz="1300" spc="-3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45">
                <a:solidFill>
                  <a:srgbClr val="D5E4EE"/>
                </a:solidFill>
                <a:latin typeface="SimSun-ExtB"/>
                <a:cs typeface="SimSun-ExtB"/>
              </a:rPr>
              <a:t>response</a:t>
            </a:r>
            <a:r>
              <a:rPr dirty="0" sz="1300" spc="-3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60">
                <a:solidFill>
                  <a:srgbClr val="D5E4EE"/>
                </a:solidFill>
                <a:latin typeface="SimSun-ExtB"/>
                <a:cs typeface="SimSun-ExtB"/>
              </a:rPr>
              <a:t>is </a:t>
            </a:r>
            <a:r>
              <a:rPr dirty="0" sz="1300" spc="-55">
                <a:solidFill>
                  <a:srgbClr val="D5E4EE"/>
                </a:solidFill>
                <a:latin typeface="SimSun-ExtB"/>
                <a:cs typeface="SimSun-ExtB"/>
              </a:rPr>
              <a:t>dangerously</a:t>
            </a:r>
            <a:r>
              <a:rPr dirty="0" sz="1300" spc="-26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20">
                <a:solidFill>
                  <a:srgbClr val="D5E4EE"/>
                </a:solidFill>
                <a:latin typeface="SimSun-ExtB"/>
                <a:cs typeface="SimSun-ExtB"/>
              </a:rPr>
              <a:t>slow</a:t>
            </a:r>
            <a:endParaRPr sz="1300">
              <a:latin typeface="SimSun-ExtB"/>
              <a:cs typeface="SimSun-ExtB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300">
              <a:latin typeface="SimSun-ExtB"/>
              <a:cs typeface="SimSun-ExtB"/>
            </a:endParaRPr>
          </a:p>
          <a:p>
            <a:pPr marL="359410" marR="5080">
              <a:lnSpc>
                <a:spcPct val="124600"/>
              </a:lnSpc>
              <a:spcBef>
                <a:spcPts val="5"/>
              </a:spcBef>
            </a:pPr>
            <a:r>
              <a:rPr dirty="0" sz="1300" spc="-55">
                <a:solidFill>
                  <a:srgbClr val="FFFFFF"/>
                </a:solidFill>
                <a:latin typeface="SimSun-ExtB"/>
                <a:cs typeface="SimSun-ExtB"/>
              </a:rPr>
              <a:t>Today's</a:t>
            </a:r>
            <a:r>
              <a:rPr dirty="0" sz="1300" spc="-33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300" spc="-160">
                <a:solidFill>
                  <a:srgbClr val="FFFFFF"/>
                </a:solidFill>
                <a:latin typeface="SimSun-ExtB"/>
                <a:cs typeface="SimSun-ExtB"/>
              </a:rPr>
              <a:t>alerting:</a:t>
            </a:r>
            <a:r>
              <a:rPr dirty="0" sz="1300" spc="-34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300">
                <a:solidFill>
                  <a:srgbClr val="FFFFFF"/>
                </a:solidFill>
                <a:latin typeface="SimSun-ExtB"/>
                <a:cs typeface="SimSun-ExtB"/>
              </a:rPr>
              <a:t>a</a:t>
            </a:r>
            <a:r>
              <a:rPr dirty="0" sz="1300" spc="-36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SimSun-ExtB"/>
                <a:cs typeface="SimSun-ExtB"/>
              </a:rPr>
              <a:t>single</a:t>
            </a:r>
            <a:r>
              <a:rPr dirty="0" sz="1300" spc="-33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300" spc="120">
                <a:solidFill>
                  <a:srgbClr val="FFFFFF"/>
                </a:solidFill>
                <a:latin typeface="SimSun-ExtB"/>
                <a:cs typeface="SimSun-ExtB"/>
              </a:rPr>
              <a:t>SMS</a:t>
            </a:r>
            <a:r>
              <a:rPr dirty="0" sz="1300" spc="-35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300" spc="-55">
                <a:solidFill>
                  <a:srgbClr val="FFFFFF"/>
                </a:solidFill>
                <a:latin typeface="SimSun-ExtB"/>
                <a:cs typeface="SimSun-ExtB"/>
              </a:rPr>
              <a:t>event</a:t>
            </a:r>
            <a:r>
              <a:rPr dirty="0" sz="1300" spc="-30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300" spc="-275">
                <a:solidFill>
                  <a:srgbClr val="FFFFFF"/>
                </a:solidFill>
                <a:latin typeface="SimSun-ExtB"/>
                <a:cs typeface="SimSun-ExtB"/>
              </a:rPr>
              <a:t>—</a:t>
            </a:r>
            <a:r>
              <a:rPr dirty="0" sz="1300" spc="-36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SimSun-ExtB"/>
                <a:cs typeface="SimSun-ExtB"/>
              </a:rPr>
              <a:t>no</a:t>
            </a:r>
            <a:r>
              <a:rPr dirty="0" sz="1300" spc="-37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SimSun-ExtB"/>
                <a:cs typeface="SimSun-ExtB"/>
              </a:rPr>
              <a:t>escalation,</a:t>
            </a:r>
            <a:r>
              <a:rPr dirty="0" sz="1300" spc="-35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SimSun-ExtB"/>
                <a:cs typeface="SimSun-ExtB"/>
              </a:rPr>
              <a:t>no</a:t>
            </a:r>
            <a:r>
              <a:rPr dirty="0" sz="1300" spc="-35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SimSun-ExtB"/>
                <a:cs typeface="SimSun-ExtB"/>
              </a:rPr>
              <a:t>family</a:t>
            </a:r>
            <a:r>
              <a:rPr dirty="0" sz="1300" spc="-36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300" spc="-220">
                <a:solidFill>
                  <a:srgbClr val="FFFFFF"/>
                </a:solidFill>
                <a:latin typeface="SimSun-ExtB"/>
                <a:cs typeface="SimSun-ExtB"/>
              </a:rPr>
              <a:t>visibility,</a:t>
            </a:r>
            <a:r>
              <a:rPr dirty="0" sz="1300" spc="-32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300" spc="25">
                <a:solidFill>
                  <a:srgbClr val="FFFFFF"/>
                </a:solidFill>
                <a:latin typeface="SimSun-ExtB"/>
                <a:cs typeface="SimSun-ExtB"/>
              </a:rPr>
              <a:t>no </a:t>
            </a:r>
            <a:r>
              <a:rPr dirty="0" sz="1300" spc="-10">
                <a:solidFill>
                  <a:srgbClr val="FFFFFF"/>
                </a:solidFill>
                <a:latin typeface="SimSun-ExtB"/>
                <a:cs typeface="SimSun-ExtB"/>
              </a:rPr>
              <a:t>evidence.</a:t>
            </a:r>
            <a:endParaRPr sz="1300">
              <a:latin typeface="SimSun-ExtB"/>
              <a:cs typeface="SimSun-ExtB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931525" y="6378797"/>
            <a:ext cx="1188085" cy="402590"/>
            <a:chOff x="10931525" y="6378797"/>
            <a:chExt cx="1188085" cy="402590"/>
          </a:xfrm>
        </p:grpSpPr>
        <p:sp>
          <p:nvSpPr>
            <p:cNvPr id="12" name="object 12"/>
            <p:cNvSpPr/>
            <p:nvPr/>
          </p:nvSpPr>
          <p:spPr>
            <a:xfrm>
              <a:off x="10937875" y="6385147"/>
              <a:ext cx="1175385" cy="389890"/>
            </a:xfrm>
            <a:custGeom>
              <a:avLst/>
              <a:gdLst/>
              <a:ahLst/>
              <a:cxnLst/>
              <a:rect l="l" t="t" r="r" b="b"/>
              <a:pathLst>
                <a:path w="1175384" h="389890">
                  <a:moveTo>
                    <a:pt x="1175232" y="0"/>
                  </a:moveTo>
                  <a:lnTo>
                    <a:pt x="0" y="0"/>
                  </a:lnTo>
                  <a:lnTo>
                    <a:pt x="0" y="389585"/>
                  </a:lnTo>
                  <a:lnTo>
                    <a:pt x="1175232" y="389585"/>
                  </a:lnTo>
                  <a:lnTo>
                    <a:pt x="1175232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937875" y="6385147"/>
              <a:ext cx="1175385" cy="389890"/>
            </a:xfrm>
            <a:custGeom>
              <a:avLst/>
              <a:gdLst/>
              <a:ahLst/>
              <a:cxnLst/>
              <a:rect l="l" t="t" r="r" b="b"/>
              <a:pathLst>
                <a:path w="1175384" h="389890">
                  <a:moveTo>
                    <a:pt x="0" y="389585"/>
                  </a:moveTo>
                  <a:lnTo>
                    <a:pt x="1175232" y="389585"/>
                  </a:lnTo>
                  <a:lnTo>
                    <a:pt x="1175232" y="0"/>
                  </a:lnTo>
                  <a:lnTo>
                    <a:pt x="0" y="0"/>
                  </a:lnTo>
                  <a:lnTo>
                    <a:pt x="0" y="389585"/>
                  </a:lnTo>
                  <a:close/>
                </a:path>
              </a:pathLst>
            </a:custGeom>
            <a:ln w="12699">
              <a:solidFill>
                <a:srgbClr val="2428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6508" y="5930226"/>
            <a:ext cx="10795635" cy="445134"/>
          </a:xfrm>
          <a:custGeom>
            <a:avLst/>
            <a:gdLst/>
            <a:ahLst/>
            <a:cxnLst/>
            <a:rect l="l" t="t" r="r" b="b"/>
            <a:pathLst>
              <a:path w="10795635" h="445135">
                <a:moveTo>
                  <a:pt x="10774540" y="0"/>
                </a:moveTo>
                <a:lnTo>
                  <a:pt x="20942" y="0"/>
                </a:lnTo>
                <a:lnTo>
                  <a:pt x="12789" y="1645"/>
                </a:lnTo>
                <a:lnTo>
                  <a:pt x="6132" y="6132"/>
                </a:lnTo>
                <a:lnTo>
                  <a:pt x="1645" y="12789"/>
                </a:lnTo>
                <a:lnTo>
                  <a:pt x="0" y="20942"/>
                </a:lnTo>
                <a:lnTo>
                  <a:pt x="0" y="424154"/>
                </a:lnTo>
                <a:lnTo>
                  <a:pt x="1645" y="432307"/>
                </a:lnTo>
                <a:lnTo>
                  <a:pt x="6132" y="438964"/>
                </a:lnTo>
                <a:lnTo>
                  <a:pt x="12789" y="443451"/>
                </a:lnTo>
                <a:lnTo>
                  <a:pt x="20942" y="445096"/>
                </a:lnTo>
                <a:lnTo>
                  <a:pt x="10774540" y="445096"/>
                </a:lnTo>
                <a:lnTo>
                  <a:pt x="10782690" y="443451"/>
                </a:lnTo>
                <a:lnTo>
                  <a:pt x="10789351" y="438964"/>
                </a:lnTo>
                <a:lnTo>
                  <a:pt x="10793846" y="432307"/>
                </a:lnTo>
                <a:lnTo>
                  <a:pt x="10795495" y="424154"/>
                </a:lnTo>
                <a:lnTo>
                  <a:pt x="10795495" y="20942"/>
                </a:lnTo>
                <a:lnTo>
                  <a:pt x="10793846" y="12789"/>
                </a:lnTo>
                <a:lnTo>
                  <a:pt x="10789351" y="6132"/>
                </a:lnTo>
                <a:lnTo>
                  <a:pt x="10782690" y="1645"/>
                </a:lnTo>
                <a:lnTo>
                  <a:pt x="10774540" y="0"/>
                </a:lnTo>
                <a:close/>
              </a:path>
            </a:pathLst>
          </a:custGeom>
          <a:solidFill>
            <a:srgbClr val="7905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95191" y="204597"/>
            <a:ext cx="47713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5"/>
              <a:t>Why </a:t>
            </a:r>
            <a:r>
              <a:rPr dirty="0" sz="2800"/>
              <a:t>Existing</a:t>
            </a:r>
            <a:r>
              <a:rPr dirty="0" sz="2800" spc="110"/>
              <a:t> </a:t>
            </a:r>
            <a:r>
              <a:rPr dirty="0" sz="2800" spc="45"/>
              <a:t>Solutions</a:t>
            </a:r>
            <a:r>
              <a:rPr dirty="0" sz="2800" spc="114"/>
              <a:t> </a:t>
            </a:r>
            <a:r>
              <a:rPr dirty="0" sz="2800"/>
              <a:t>Fail</a:t>
            </a:r>
            <a:r>
              <a:rPr dirty="0" sz="2800" spc="70"/>
              <a:t> </a:t>
            </a:r>
            <a:r>
              <a:rPr dirty="0" sz="2800" spc="-50"/>
              <a:t>?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776241" y="1351940"/>
            <a:ext cx="3588385" cy="1921510"/>
            <a:chOff x="776241" y="1351940"/>
            <a:chExt cx="3588385" cy="1921510"/>
          </a:xfrm>
        </p:grpSpPr>
        <p:sp>
          <p:nvSpPr>
            <p:cNvPr id="5" name="object 5"/>
            <p:cNvSpPr/>
            <p:nvPr/>
          </p:nvSpPr>
          <p:spPr>
            <a:xfrm>
              <a:off x="801871" y="1382600"/>
              <a:ext cx="3536950" cy="1860550"/>
            </a:xfrm>
            <a:custGeom>
              <a:avLst/>
              <a:gdLst/>
              <a:ahLst/>
              <a:cxnLst/>
              <a:rect l="l" t="t" r="r" b="b"/>
              <a:pathLst>
                <a:path w="3536950" h="1860550">
                  <a:moveTo>
                    <a:pt x="3513460" y="0"/>
                  </a:moveTo>
                  <a:lnTo>
                    <a:pt x="102520" y="0"/>
                  </a:lnTo>
                  <a:lnTo>
                    <a:pt x="62614" y="9641"/>
                  </a:lnTo>
                  <a:lnTo>
                    <a:pt x="30027" y="35929"/>
                  </a:lnTo>
                  <a:lnTo>
                    <a:pt x="8056" y="74912"/>
                  </a:lnTo>
                  <a:lnTo>
                    <a:pt x="0" y="122638"/>
                  </a:lnTo>
                  <a:lnTo>
                    <a:pt x="0" y="1737391"/>
                  </a:lnTo>
                  <a:lnTo>
                    <a:pt x="8056" y="1785128"/>
                  </a:lnTo>
                  <a:lnTo>
                    <a:pt x="30027" y="1824110"/>
                  </a:lnTo>
                  <a:lnTo>
                    <a:pt x="62614" y="1850393"/>
                  </a:lnTo>
                  <a:lnTo>
                    <a:pt x="102520" y="1860030"/>
                  </a:lnTo>
                  <a:lnTo>
                    <a:pt x="3513460" y="1860031"/>
                  </a:lnTo>
                  <a:lnTo>
                    <a:pt x="3522597" y="1857823"/>
                  </a:lnTo>
                  <a:lnTo>
                    <a:pt x="3530066" y="1851803"/>
                  </a:lnTo>
                  <a:lnTo>
                    <a:pt x="3535105" y="1842873"/>
                  </a:lnTo>
                  <a:lnTo>
                    <a:pt x="3536954" y="1831938"/>
                  </a:lnTo>
                  <a:lnTo>
                    <a:pt x="3536954" y="28105"/>
                  </a:lnTo>
                  <a:lnTo>
                    <a:pt x="3535105" y="17174"/>
                  </a:lnTo>
                  <a:lnTo>
                    <a:pt x="3530066" y="8240"/>
                  </a:lnTo>
                  <a:lnTo>
                    <a:pt x="3522597" y="2211"/>
                  </a:lnTo>
                  <a:lnTo>
                    <a:pt x="3513460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01871" y="1382600"/>
              <a:ext cx="3536950" cy="1860550"/>
            </a:xfrm>
            <a:custGeom>
              <a:avLst/>
              <a:gdLst/>
              <a:ahLst/>
              <a:cxnLst/>
              <a:rect l="l" t="t" r="r" b="b"/>
              <a:pathLst>
                <a:path w="3536950" h="1860550">
                  <a:moveTo>
                    <a:pt x="61055" y="10898"/>
                  </a:moveTo>
                  <a:lnTo>
                    <a:pt x="63318" y="9470"/>
                  </a:lnTo>
                </a:path>
                <a:path w="3536950" h="1860550">
                  <a:moveTo>
                    <a:pt x="102520" y="0"/>
                  </a:moveTo>
                  <a:lnTo>
                    <a:pt x="3513460" y="0"/>
                  </a:lnTo>
                </a:path>
                <a:path w="3536950" h="1860550">
                  <a:moveTo>
                    <a:pt x="3536954" y="28104"/>
                  </a:moveTo>
                  <a:lnTo>
                    <a:pt x="3536954" y="1831938"/>
                  </a:lnTo>
                </a:path>
                <a:path w="3536950" h="1860550">
                  <a:moveTo>
                    <a:pt x="3513460" y="1860030"/>
                  </a:moveTo>
                  <a:lnTo>
                    <a:pt x="102520" y="1860030"/>
                  </a:lnTo>
                </a:path>
                <a:path w="3536950" h="1860550">
                  <a:moveTo>
                    <a:pt x="0" y="1737391"/>
                  </a:moveTo>
                  <a:lnTo>
                    <a:pt x="0" y="122638"/>
                  </a:lnTo>
                </a:path>
              </a:pathLst>
            </a:custGeom>
            <a:ln w="56289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9130" y="1382600"/>
              <a:ext cx="125261" cy="186003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04392" y="1605788"/>
            <a:ext cx="3409315" cy="1062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D5E4EE"/>
                </a:solidFill>
                <a:latin typeface="Georgia"/>
                <a:cs typeface="Georgia"/>
              </a:rPr>
              <a:t>Smart</a:t>
            </a:r>
            <a:r>
              <a:rPr dirty="0" sz="1800" spc="17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D5E4EE"/>
                </a:solidFill>
                <a:latin typeface="Georgia"/>
                <a:cs typeface="Georgia"/>
              </a:rPr>
              <a:t>Helmets</a:t>
            </a:r>
            <a:endParaRPr sz="1800">
              <a:latin typeface="Georgia"/>
              <a:cs typeface="Georgia"/>
            </a:endParaRPr>
          </a:p>
          <a:p>
            <a:pPr marL="281940" indent="-177800">
              <a:lnSpc>
                <a:spcPct val="100000"/>
              </a:lnSpc>
              <a:spcBef>
                <a:spcPts val="1205"/>
              </a:spcBef>
              <a:buChar char="·"/>
              <a:tabLst>
                <a:tab pos="281940" algn="l"/>
              </a:tabLst>
            </a:pPr>
            <a:r>
              <a:rPr dirty="0" sz="1300" spc="-55">
                <a:solidFill>
                  <a:srgbClr val="D5E4EE"/>
                </a:solidFill>
                <a:latin typeface="SimSun-ExtB"/>
                <a:cs typeface="SimSun-ExtB"/>
              </a:rPr>
              <a:t>Expensive</a:t>
            </a:r>
            <a:r>
              <a:rPr dirty="0" sz="1300" spc="-2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345">
                <a:solidFill>
                  <a:srgbClr val="D5E4EE"/>
                </a:solidFill>
                <a:latin typeface="SimSun-ExtB"/>
                <a:cs typeface="SimSun-ExtB"/>
              </a:rPr>
              <a:t>₹8k–</a:t>
            </a:r>
            <a:r>
              <a:rPr dirty="0" sz="1300" spc="-25">
                <a:solidFill>
                  <a:srgbClr val="D5E4EE"/>
                </a:solidFill>
                <a:latin typeface="SimSun-ExtB"/>
                <a:cs typeface="SimSun-ExtB"/>
              </a:rPr>
              <a:t>20k</a:t>
            </a:r>
            <a:endParaRPr sz="1300">
              <a:latin typeface="SimSun-ExtB"/>
              <a:cs typeface="SimSun-ExtB"/>
            </a:endParaRPr>
          </a:p>
          <a:p>
            <a:pPr marL="282575" indent="-177800">
              <a:lnSpc>
                <a:spcPct val="100000"/>
              </a:lnSpc>
              <a:spcBef>
                <a:spcPts val="50"/>
              </a:spcBef>
              <a:buChar char="·"/>
              <a:tabLst>
                <a:tab pos="282575" algn="l"/>
              </a:tabLst>
            </a:pPr>
            <a:r>
              <a:rPr dirty="0" sz="1300" spc="-114">
                <a:solidFill>
                  <a:srgbClr val="D5E4EE"/>
                </a:solidFill>
                <a:latin typeface="SimSun-ExtB"/>
                <a:cs typeface="SimSun-ExtB"/>
              </a:rPr>
              <a:t>Rider-</a:t>
            </a:r>
            <a:r>
              <a:rPr dirty="0" sz="1300" spc="-10">
                <a:solidFill>
                  <a:srgbClr val="D5E4EE"/>
                </a:solidFill>
                <a:latin typeface="SimSun-ExtB"/>
                <a:cs typeface="SimSun-ExtB"/>
              </a:rPr>
              <a:t>dependent</a:t>
            </a:r>
            <a:endParaRPr sz="1300">
              <a:latin typeface="SimSun-ExtB"/>
              <a:cs typeface="SimSun-ExtB"/>
            </a:endParaRPr>
          </a:p>
          <a:p>
            <a:pPr marL="282575" indent="-177800">
              <a:lnSpc>
                <a:spcPct val="100000"/>
              </a:lnSpc>
              <a:spcBef>
                <a:spcPts val="70"/>
              </a:spcBef>
              <a:buChar char="·"/>
              <a:tabLst>
                <a:tab pos="282575" algn="l"/>
              </a:tabLst>
            </a:pPr>
            <a:r>
              <a:rPr dirty="0" sz="1300" spc="-10">
                <a:solidFill>
                  <a:srgbClr val="D5E4EE"/>
                </a:solidFill>
                <a:latin typeface="SimSun-ExtB"/>
                <a:cs typeface="SimSun-ExtB"/>
              </a:rPr>
              <a:t>Poor</a:t>
            </a:r>
            <a:r>
              <a:rPr dirty="0" sz="1300" spc="-3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0">
                <a:solidFill>
                  <a:srgbClr val="D5E4EE"/>
                </a:solidFill>
                <a:latin typeface="SimSun-ExtB"/>
                <a:cs typeface="SimSun-ExtB"/>
              </a:rPr>
              <a:t>adoption</a:t>
            </a:r>
            <a:endParaRPr sz="1300">
              <a:latin typeface="SimSun-ExtB"/>
              <a:cs typeface="SimSun-ExtB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04892" y="1440205"/>
            <a:ext cx="3588385" cy="1921510"/>
            <a:chOff x="7304892" y="1440205"/>
            <a:chExt cx="3588385" cy="1921510"/>
          </a:xfrm>
        </p:grpSpPr>
        <p:sp>
          <p:nvSpPr>
            <p:cNvPr id="10" name="object 10"/>
            <p:cNvSpPr/>
            <p:nvPr/>
          </p:nvSpPr>
          <p:spPr>
            <a:xfrm>
              <a:off x="7330521" y="1470865"/>
              <a:ext cx="3536950" cy="1860550"/>
            </a:xfrm>
            <a:custGeom>
              <a:avLst/>
              <a:gdLst/>
              <a:ahLst/>
              <a:cxnLst/>
              <a:rect l="l" t="t" r="r" b="b"/>
              <a:pathLst>
                <a:path w="3536950" h="1860550">
                  <a:moveTo>
                    <a:pt x="3513460" y="0"/>
                  </a:moveTo>
                  <a:lnTo>
                    <a:pt x="102520" y="0"/>
                  </a:lnTo>
                  <a:lnTo>
                    <a:pt x="62614" y="9641"/>
                  </a:lnTo>
                  <a:lnTo>
                    <a:pt x="30027" y="35929"/>
                  </a:lnTo>
                  <a:lnTo>
                    <a:pt x="8056" y="74912"/>
                  </a:lnTo>
                  <a:lnTo>
                    <a:pt x="0" y="122638"/>
                  </a:lnTo>
                  <a:lnTo>
                    <a:pt x="0" y="1737391"/>
                  </a:lnTo>
                  <a:lnTo>
                    <a:pt x="8057" y="1785128"/>
                  </a:lnTo>
                  <a:lnTo>
                    <a:pt x="30028" y="1824110"/>
                  </a:lnTo>
                  <a:lnTo>
                    <a:pt x="62615" y="1850393"/>
                  </a:lnTo>
                  <a:lnTo>
                    <a:pt x="102521" y="1860030"/>
                  </a:lnTo>
                  <a:lnTo>
                    <a:pt x="3513461" y="1860031"/>
                  </a:lnTo>
                  <a:lnTo>
                    <a:pt x="3522598" y="1857823"/>
                  </a:lnTo>
                  <a:lnTo>
                    <a:pt x="3530067" y="1851803"/>
                  </a:lnTo>
                  <a:lnTo>
                    <a:pt x="3535106" y="1842873"/>
                  </a:lnTo>
                  <a:lnTo>
                    <a:pt x="3536955" y="1831938"/>
                  </a:lnTo>
                  <a:lnTo>
                    <a:pt x="3536954" y="28105"/>
                  </a:lnTo>
                  <a:lnTo>
                    <a:pt x="3535105" y="17174"/>
                  </a:lnTo>
                  <a:lnTo>
                    <a:pt x="3530066" y="8240"/>
                  </a:lnTo>
                  <a:lnTo>
                    <a:pt x="3522597" y="2211"/>
                  </a:lnTo>
                  <a:lnTo>
                    <a:pt x="3513460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330522" y="1470865"/>
              <a:ext cx="3536950" cy="1860550"/>
            </a:xfrm>
            <a:custGeom>
              <a:avLst/>
              <a:gdLst/>
              <a:ahLst/>
              <a:cxnLst/>
              <a:rect l="l" t="t" r="r" b="b"/>
              <a:pathLst>
                <a:path w="3536950" h="1860550">
                  <a:moveTo>
                    <a:pt x="61055" y="10898"/>
                  </a:moveTo>
                  <a:lnTo>
                    <a:pt x="63318" y="9470"/>
                  </a:lnTo>
                </a:path>
                <a:path w="3536950" h="1860550">
                  <a:moveTo>
                    <a:pt x="102520" y="0"/>
                  </a:moveTo>
                  <a:lnTo>
                    <a:pt x="3513460" y="0"/>
                  </a:lnTo>
                </a:path>
                <a:path w="3536950" h="1860550">
                  <a:moveTo>
                    <a:pt x="3536954" y="28104"/>
                  </a:moveTo>
                  <a:lnTo>
                    <a:pt x="3536955" y="1831938"/>
                  </a:lnTo>
                </a:path>
                <a:path w="3536950" h="1860550">
                  <a:moveTo>
                    <a:pt x="3513460" y="1860030"/>
                  </a:moveTo>
                  <a:lnTo>
                    <a:pt x="102521" y="1860030"/>
                  </a:lnTo>
                </a:path>
                <a:path w="3536950" h="1860550">
                  <a:moveTo>
                    <a:pt x="0" y="1737391"/>
                  </a:moveTo>
                  <a:lnTo>
                    <a:pt x="0" y="122638"/>
                  </a:lnTo>
                </a:path>
              </a:pathLst>
            </a:custGeom>
            <a:ln w="56289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07780" y="1470865"/>
              <a:ext cx="125261" cy="186003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433042" y="1694179"/>
            <a:ext cx="3409315" cy="892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955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D5E4EE"/>
                </a:solidFill>
                <a:latin typeface="Georgia"/>
                <a:cs typeface="Georgia"/>
              </a:rPr>
              <a:t>Smartphone</a:t>
            </a:r>
            <a:r>
              <a:rPr dirty="0" sz="1800" spc="40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800" spc="-20">
                <a:solidFill>
                  <a:srgbClr val="D5E4EE"/>
                </a:solidFill>
                <a:latin typeface="Georgia"/>
                <a:cs typeface="Georgia"/>
              </a:rPr>
              <a:t>Apps</a:t>
            </a:r>
            <a:endParaRPr sz="1800">
              <a:latin typeface="Georgia"/>
              <a:cs typeface="Georgia"/>
            </a:endParaRPr>
          </a:p>
          <a:p>
            <a:pPr marL="283845" indent="-177800">
              <a:lnSpc>
                <a:spcPct val="100000"/>
              </a:lnSpc>
              <a:spcBef>
                <a:spcPts val="1315"/>
              </a:spcBef>
              <a:buChar char="·"/>
              <a:tabLst>
                <a:tab pos="283845" algn="l"/>
              </a:tabLst>
            </a:pPr>
            <a:r>
              <a:rPr dirty="0" sz="1300" spc="-180">
                <a:solidFill>
                  <a:srgbClr val="D5E4EE"/>
                </a:solidFill>
                <a:latin typeface="SimSun-ExtB"/>
                <a:cs typeface="SimSun-ExtB"/>
              </a:rPr>
              <a:t>Fail</a:t>
            </a:r>
            <a:r>
              <a:rPr dirty="0" sz="1300" spc="-3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95">
                <a:solidFill>
                  <a:srgbClr val="D5E4EE"/>
                </a:solidFill>
                <a:latin typeface="SimSun-ExtB"/>
                <a:cs typeface="SimSun-ExtB"/>
              </a:rPr>
              <a:t>when</a:t>
            </a:r>
            <a:r>
              <a:rPr dirty="0" sz="1300" spc="-3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>
                <a:solidFill>
                  <a:srgbClr val="D5E4EE"/>
                </a:solidFill>
                <a:latin typeface="SimSun-ExtB"/>
                <a:cs typeface="SimSun-ExtB"/>
              </a:rPr>
              <a:t>phone</a:t>
            </a:r>
            <a:r>
              <a:rPr dirty="0" sz="130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229">
                <a:solidFill>
                  <a:srgbClr val="D5E4EE"/>
                </a:solidFill>
                <a:latin typeface="SimSun-ExtB"/>
                <a:cs typeface="SimSun-ExtB"/>
              </a:rPr>
              <a:t>is</a:t>
            </a:r>
            <a:r>
              <a:rPr dirty="0" sz="1300" spc="-3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70">
                <a:solidFill>
                  <a:srgbClr val="D5E4EE"/>
                </a:solidFill>
                <a:latin typeface="SimSun-ExtB"/>
                <a:cs typeface="SimSun-ExtB"/>
              </a:rPr>
              <a:t>damaged</a:t>
            </a:r>
            <a:r>
              <a:rPr dirty="0" sz="130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80">
                <a:solidFill>
                  <a:srgbClr val="D5E4EE"/>
                </a:solidFill>
                <a:latin typeface="SimSun-ExtB"/>
                <a:cs typeface="SimSun-ExtB"/>
              </a:rPr>
              <a:t>or</a:t>
            </a:r>
            <a:r>
              <a:rPr dirty="0" sz="1300" spc="-35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00">
                <a:solidFill>
                  <a:srgbClr val="D5E4EE"/>
                </a:solidFill>
                <a:latin typeface="SimSun-ExtB"/>
                <a:cs typeface="SimSun-ExtB"/>
              </a:rPr>
              <a:t>battery</a:t>
            </a:r>
            <a:r>
              <a:rPr dirty="0" sz="1300" spc="-33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20">
                <a:solidFill>
                  <a:srgbClr val="D5E4EE"/>
                </a:solidFill>
                <a:latin typeface="SimSun-ExtB"/>
                <a:cs typeface="SimSun-ExtB"/>
              </a:rPr>
              <a:t>dies</a:t>
            </a:r>
            <a:endParaRPr sz="1300">
              <a:latin typeface="SimSun-ExtB"/>
              <a:cs typeface="SimSun-ExtB"/>
            </a:endParaRPr>
          </a:p>
          <a:p>
            <a:pPr marL="283845" indent="-177800">
              <a:lnSpc>
                <a:spcPct val="100000"/>
              </a:lnSpc>
              <a:spcBef>
                <a:spcPts val="225"/>
              </a:spcBef>
              <a:buChar char="·"/>
              <a:tabLst>
                <a:tab pos="283845" algn="l"/>
              </a:tabLst>
            </a:pPr>
            <a:r>
              <a:rPr dirty="0" sz="1300" spc="120">
                <a:solidFill>
                  <a:srgbClr val="D5E4EE"/>
                </a:solidFill>
                <a:latin typeface="SimSun-ExtB"/>
                <a:cs typeface="SimSun-ExtB"/>
              </a:rPr>
              <a:t>No</a:t>
            </a:r>
            <a:r>
              <a:rPr dirty="0" sz="1300" spc="-37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55">
                <a:solidFill>
                  <a:srgbClr val="D5E4EE"/>
                </a:solidFill>
                <a:latin typeface="SimSun-ExtB"/>
                <a:cs typeface="SimSun-ExtB"/>
              </a:rPr>
              <a:t>dedicated</a:t>
            </a:r>
            <a:r>
              <a:rPr dirty="0" sz="1300" spc="-3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0">
                <a:solidFill>
                  <a:srgbClr val="D5E4EE"/>
                </a:solidFill>
                <a:latin typeface="SimSun-ExtB"/>
                <a:cs typeface="SimSun-ExtB"/>
              </a:rPr>
              <a:t>sensors</a:t>
            </a:r>
            <a:endParaRPr sz="1300">
              <a:latin typeface="SimSun-ExtB"/>
              <a:cs typeface="SimSun-ExtB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55939" y="3521196"/>
            <a:ext cx="3508375" cy="1988820"/>
            <a:chOff x="855939" y="3521196"/>
            <a:chExt cx="3508375" cy="1988820"/>
          </a:xfrm>
        </p:grpSpPr>
        <p:sp>
          <p:nvSpPr>
            <p:cNvPr id="15" name="object 15"/>
            <p:cNvSpPr/>
            <p:nvPr/>
          </p:nvSpPr>
          <p:spPr>
            <a:xfrm>
              <a:off x="880997" y="3552927"/>
              <a:ext cx="3458210" cy="1925320"/>
            </a:xfrm>
            <a:custGeom>
              <a:avLst/>
              <a:gdLst/>
              <a:ahLst/>
              <a:cxnLst/>
              <a:rect l="l" t="t" r="r" b="b"/>
              <a:pathLst>
                <a:path w="3458210" h="1925320">
                  <a:moveTo>
                    <a:pt x="3434924" y="0"/>
                  </a:moveTo>
                  <a:lnTo>
                    <a:pt x="100228" y="0"/>
                  </a:lnTo>
                  <a:lnTo>
                    <a:pt x="61215" y="9977"/>
                  </a:lnTo>
                  <a:lnTo>
                    <a:pt x="29356" y="37184"/>
                  </a:lnTo>
                  <a:lnTo>
                    <a:pt x="7876" y="77529"/>
                  </a:lnTo>
                  <a:lnTo>
                    <a:pt x="0" y="126922"/>
                  </a:lnTo>
                  <a:lnTo>
                    <a:pt x="0" y="1798077"/>
                  </a:lnTo>
                  <a:lnTo>
                    <a:pt x="7876" y="1847481"/>
                  </a:lnTo>
                  <a:lnTo>
                    <a:pt x="29356" y="1887825"/>
                  </a:lnTo>
                  <a:lnTo>
                    <a:pt x="61215" y="1915025"/>
                  </a:lnTo>
                  <a:lnTo>
                    <a:pt x="100228" y="1925000"/>
                  </a:lnTo>
                  <a:lnTo>
                    <a:pt x="3434924" y="1925000"/>
                  </a:lnTo>
                  <a:lnTo>
                    <a:pt x="3443857" y="1922715"/>
                  </a:lnTo>
                  <a:lnTo>
                    <a:pt x="3451159" y="1916484"/>
                  </a:lnTo>
                  <a:lnTo>
                    <a:pt x="3456086" y="1907243"/>
                  </a:lnTo>
                  <a:lnTo>
                    <a:pt x="3457893" y="1895926"/>
                  </a:lnTo>
                  <a:lnTo>
                    <a:pt x="3457893" y="29086"/>
                  </a:lnTo>
                  <a:lnTo>
                    <a:pt x="3456086" y="17774"/>
                  </a:lnTo>
                  <a:lnTo>
                    <a:pt x="3451159" y="8527"/>
                  </a:lnTo>
                  <a:lnTo>
                    <a:pt x="3443857" y="2288"/>
                  </a:lnTo>
                  <a:lnTo>
                    <a:pt x="3434924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80997" y="3552927"/>
              <a:ext cx="3458210" cy="1925320"/>
            </a:xfrm>
            <a:custGeom>
              <a:avLst/>
              <a:gdLst/>
              <a:ahLst/>
              <a:cxnLst/>
              <a:rect l="l" t="t" r="r" b="b"/>
              <a:pathLst>
                <a:path w="3458210" h="1925320">
                  <a:moveTo>
                    <a:pt x="100228" y="0"/>
                  </a:moveTo>
                  <a:lnTo>
                    <a:pt x="3434924" y="0"/>
                  </a:lnTo>
                </a:path>
                <a:path w="3458210" h="1925320">
                  <a:moveTo>
                    <a:pt x="3457893" y="29086"/>
                  </a:moveTo>
                  <a:lnTo>
                    <a:pt x="3457893" y="1895926"/>
                  </a:lnTo>
                </a:path>
                <a:path w="3458210" h="1925320">
                  <a:moveTo>
                    <a:pt x="3434924" y="1924999"/>
                  </a:moveTo>
                  <a:lnTo>
                    <a:pt x="100228" y="1924999"/>
                  </a:lnTo>
                </a:path>
                <a:path w="3458210" h="1925320">
                  <a:moveTo>
                    <a:pt x="0" y="1798077"/>
                  </a:moveTo>
                  <a:lnTo>
                    <a:pt x="0" y="126922"/>
                  </a:lnTo>
                </a:path>
              </a:pathLst>
            </a:custGeom>
            <a:ln w="56787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008" y="3552927"/>
              <a:ext cx="124217" cy="19250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81225" y="3785361"/>
            <a:ext cx="3333115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83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D5E4EE"/>
                </a:solidFill>
                <a:latin typeface="Georgia"/>
                <a:cs typeface="Georgia"/>
              </a:rPr>
              <a:t>Premium</a:t>
            </a:r>
            <a:r>
              <a:rPr dirty="0" sz="1800" spc="10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800" spc="75">
                <a:solidFill>
                  <a:srgbClr val="D5E4EE"/>
                </a:solidFill>
                <a:latin typeface="Georgia"/>
                <a:cs typeface="Georgia"/>
              </a:rPr>
              <a:t>Connected</a:t>
            </a:r>
            <a:r>
              <a:rPr dirty="0" sz="1800" spc="11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D5E4EE"/>
                </a:solidFill>
                <a:latin typeface="Georgia"/>
                <a:cs typeface="Georgia"/>
              </a:rPr>
              <a:t>Bikes</a:t>
            </a:r>
            <a:endParaRPr sz="1800">
              <a:latin typeface="Georgia"/>
              <a:cs typeface="Georgia"/>
            </a:endParaRPr>
          </a:p>
          <a:p>
            <a:pPr marL="282575" indent="-190500">
              <a:lnSpc>
                <a:spcPct val="100000"/>
              </a:lnSpc>
              <a:spcBef>
                <a:spcPts val="1425"/>
              </a:spcBef>
              <a:buChar char="·"/>
              <a:tabLst>
                <a:tab pos="282575" algn="l"/>
              </a:tabLst>
            </a:pPr>
            <a:r>
              <a:rPr dirty="0" sz="1400" spc="-30">
                <a:solidFill>
                  <a:srgbClr val="D5E4EE"/>
                </a:solidFill>
                <a:latin typeface="SimSun-ExtB"/>
                <a:cs typeface="SimSun-ExtB"/>
              </a:rPr>
              <a:t>Only</a:t>
            </a:r>
            <a:r>
              <a:rPr dirty="0" sz="1400" spc="-4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00" spc="50">
                <a:solidFill>
                  <a:srgbClr val="D5E4EE"/>
                </a:solidFill>
                <a:latin typeface="SimSun-ExtB"/>
                <a:cs typeface="SimSun-ExtB"/>
              </a:rPr>
              <a:t>on</a:t>
            </a:r>
            <a:r>
              <a:rPr dirty="0" sz="1400" spc="-4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00" spc="-195">
                <a:solidFill>
                  <a:srgbClr val="D5E4EE"/>
                </a:solidFill>
                <a:latin typeface="SimSun-ExtB"/>
                <a:cs typeface="SimSun-ExtB"/>
              </a:rPr>
              <a:t>₹1.5L+</a:t>
            </a:r>
            <a:r>
              <a:rPr dirty="0" sz="1400" spc="-3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00" spc="-10">
                <a:solidFill>
                  <a:srgbClr val="D5E4EE"/>
                </a:solidFill>
                <a:latin typeface="SimSun-ExtB"/>
                <a:cs typeface="SimSun-ExtB"/>
              </a:rPr>
              <a:t>motorcycles</a:t>
            </a:r>
            <a:endParaRPr sz="1400">
              <a:latin typeface="SimSun-ExtB"/>
              <a:cs typeface="SimSun-ExtB"/>
            </a:endParaRPr>
          </a:p>
          <a:p>
            <a:pPr marL="281940" indent="-190500">
              <a:lnSpc>
                <a:spcPct val="100000"/>
              </a:lnSpc>
              <a:spcBef>
                <a:spcPts val="254"/>
              </a:spcBef>
              <a:buChar char="·"/>
              <a:tabLst>
                <a:tab pos="281940" algn="l"/>
              </a:tabLst>
            </a:pPr>
            <a:r>
              <a:rPr dirty="0" sz="1400" spc="-60">
                <a:solidFill>
                  <a:srgbClr val="D5E4EE"/>
                </a:solidFill>
                <a:latin typeface="SimSun-ExtB"/>
                <a:cs typeface="SimSun-ExtB"/>
              </a:rPr>
              <a:t>Excludes</a:t>
            </a:r>
            <a:r>
              <a:rPr dirty="0" sz="1400" spc="-4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00" spc="145">
                <a:solidFill>
                  <a:srgbClr val="D5E4EE"/>
                </a:solidFill>
                <a:latin typeface="SimSun-ExtB"/>
                <a:cs typeface="SimSun-ExtB"/>
              </a:rPr>
              <a:t>95%</a:t>
            </a:r>
            <a:r>
              <a:rPr dirty="0" sz="1400" spc="-4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00" spc="-130">
                <a:solidFill>
                  <a:srgbClr val="D5E4EE"/>
                </a:solidFill>
                <a:latin typeface="SimSun-ExtB"/>
                <a:cs typeface="SimSun-ExtB"/>
              </a:rPr>
              <a:t>of</a:t>
            </a:r>
            <a:r>
              <a:rPr dirty="0" sz="1400" spc="-3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00" spc="-10">
                <a:solidFill>
                  <a:srgbClr val="D5E4EE"/>
                </a:solidFill>
                <a:latin typeface="SimSun-ExtB"/>
                <a:cs typeface="SimSun-ExtB"/>
              </a:rPr>
              <a:t>riders</a:t>
            </a:r>
            <a:endParaRPr sz="1400">
              <a:latin typeface="SimSun-ExtB"/>
              <a:cs typeface="SimSun-ExtB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04524" y="3570122"/>
            <a:ext cx="3656329" cy="1921510"/>
            <a:chOff x="7304524" y="3570122"/>
            <a:chExt cx="3656329" cy="1921510"/>
          </a:xfrm>
        </p:grpSpPr>
        <p:sp>
          <p:nvSpPr>
            <p:cNvPr id="20" name="object 20"/>
            <p:cNvSpPr/>
            <p:nvPr/>
          </p:nvSpPr>
          <p:spPr>
            <a:xfrm>
              <a:off x="7330636" y="3600781"/>
              <a:ext cx="3603625" cy="1860550"/>
            </a:xfrm>
            <a:custGeom>
              <a:avLst/>
              <a:gdLst/>
              <a:ahLst/>
              <a:cxnLst/>
              <a:rect l="l" t="t" r="r" b="b"/>
              <a:pathLst>
                <a:path w="3603625" h="1860550">
                  <a:moveTo>
                    <a:pt x="3579586" y="0"/>
                  </a:moveTo>
                  <a:lnTo>
                    <a:pt x="104449" y="0"/>
                  </a:lnTo>
                  <a:lnTo>
                    <a:pt x="63793" y="9641"/>
                  </a:lnTo>
                  <a:lnTo>
                    <a:pt x="30592" y="35929"/>
                  </a:lnTo>
                  <a:lnTo>
                    <a:pt x="8208" y="74912"/>
                  </a:lnTo>
                  <a:lnTo>
                    <a:pt x="0" y="122638"/>
                  </a:lnTo>
                  <a:lnTo>
                    <a:pt x="0" y="1737391"/>
                  </a:lnTo>
                  <a:lnTo>
                    <a:pt x="8208" y="1785128"/>
                  </a:lnTo>
                  <a:lnTo>
                    <a:pt x="30592" y="1824110"/>
                  </a:lnTo>
                  <a:lnTo>
                    <a:pt x="63793" y="1850393"/>
                  </a:lnTo>
                  <a:lnTo>
                    <a:pt x="104449" y="1860030"/>
                  </a:lnTo>
                  <a:lnTo>
                    <a:pt x="3579586" y="1860030"/>
                  </a:lnTo>
                  <a:lnTo>
                    <a:pt x="3588895" y="1857823"/>
                  </a:lnTo>
                  <a:lnTo>
                    <a:pt x="3596505" y="1851802"/>
                  </a:lnTo>
                  <a:lnTo>
                    <a:pt x="3601639" y="1842873"/>
                  </a:lnTo>
                  <a:lnTo>
                    <a:pt x="3603522" y="1831938"/>
                  </a:lnTo>
                  <a:lnTo>
                    <a:pt x="3603522" y="28104"/>
                  </a:lnTo>
                  <a:lnTo>
                    <a:pt x="3601639" y="17174"/>
                  </a:lnTo>
                  <a:lnTo>
                    <a:pt x="3596505" y="8239"/>
                  </a:lnTo>
                  <a:lnTo>
                    <a:pt x="3588895" y="2211"/>
                  </a:lnTo>
                  <a:lnTo>
                    <a:pt x="3579586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330637" y="3600782"/>
              <a:ext cx="3603625" cy="1860550"/>
            </a:xfrm>
            <a:custGeom>
              <a:avLst/>
              <a:gdLst/>
              <a:ahLst/>
              <a:cxnLst/>
              <a:rect l="l" t="t" r="r" b="b"/>
              <a:pathLst>
                <a:path w="3603625" h="1860550">
                  <a:moveTo>
                    <a:pt x="62206" y="10897"/>
                  </a:moveTo>
                  <a:lnTo>
                    <a:pt x="64509" y="9471"/>
                  </a:lnTo>
                </a:path>
                <a:path w="3603625" h="1860550">
                  <a:moveTo>
                    <a:pt x="104449" y="0"/>
                  </a:moveTo>
                  <a:lnTo>
                    <a:pt x="3579586" y="0"/>
                  </a:lnTo>
                </a:path>
                <a:path w="3603625" h="1860550">
                  <a:moveTo>
                    <a:pt x="3603522" y="28104"/>
                  </a:moveTo>
                  <a:lnTo>
                    <a:pt x="3603522" y="1831938"/>
                  </a:lnTo>
                </a:path>
                <a:path w="3603625" h="1860550">
                  <a:moveTo>
                    <a:pt x="3579586" y="1860030"/>
                  </a:moveTo>
                  <a:lnTo>
                    <a:pt x="104450" y="1860030"/>
                  </a:lnTo>
                </a:path>
                <a:path w="3603625" h="1860550">
                  <a:moveTo>
                    <a:pt x="0" y="1737391"/>
                  </a:moveTo>
                  <a:lnTo>
                    <a:pt x="0" y="122638"/>
                  </a:lnTo>
                </a:path>
              </a:pathLst>
            </a:custGeom>
            <a:ln w="56772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8044" y="3600781"/>
              <a:ext cx="127041" cy="186003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435086" y="3824478"/>
            <a:ext cx="3473450" cy="1062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D5E4EE"/>
                </a:solidFill>
                <a:latin typeface="Georgia"/>
                <a:cs typeface="Georgia"/>
              </a:rPr>
              <a:t>Standard</a:t>
            </a:r>
            <a:r>
              <a:rPr dirty="0" sz="1800" spc="24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800" spc="45">
                <a:solidFill>
                  <a:srgbClr val="D5E4EE"/>
                </a:solidFill>
                <a:latin typeface="Georgia"/>
                <a:cs typeface="Georgia"/>
              </a:rPr>
              <a:t>Motorcycles</a:t>
            </a:r>
            <a:endParaRPr sz="1800">
              <a:latin typeface="Georgia"/>
              <a:cs typeface="Georgia"/>
            </a:endParaRPr>
          </a:p>
          <a:p>
            <a:pPr marL="287655" indent="-177800">
              <a:lnSpc>
                <a:spcPct val="100000"/>
              </a:lnSpc>
              <a:spcBef>
                <a:spcPts val="1205"/>
              </a:spcBef>
              <a:buChar char="·"/>
              <a:tabLst>
                <a:tab pos="287655" algn="l"/>
              </a:tabLst>
            </a:pPr>
            <a:r>
              <a:rPr dirty="0" sz="1300" spc="-40">
                <a:solidFill>
                  <a:srgbClr val="D5E4EE"/>
                </a:solidFill>
                <a:latin typeface="SimSun-ExtB"/>
                <a:cs typeface="SimSun-ExtB"/>
              </a:rPr>
              <a:t>Zero</a:t>
            </a:r>
            <a:r>
              <a:rPr dirty="0" sz="1300" spc="-3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75">
                <a:solidFill>
                  <a:srgbClr val="D5E4EE"/>
                </a:solidFill>
                <a:latin typeface="SimSun-ExtB"/>
                <a:cs typeface="SimSun-ExtB"/>
              </a:rPr>
              <a:t>crash</a:t>
            </a:r>
            <a:r>
              <a:rPr dirty="0" sz="1300" spc="-3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0">
                <a:solidFill>
                  <a:srgbClr val="D5E4EE"/>
                </a:solidFill>
                <a:latin typeface="SimSun-ExtB"/>
                <a:cs typeface="SimSun-ExtB"/>
              </a:rPr>
              <a:t>detection</a:t>
            </a:r>
            <a:endParaRPr sz="1300">
              <a:latin typeface="SimSun-ExtB"/>
              <a:cs typeface="SimSun-ExtB"/>
            </a:endParaRPr>
          </a:p>
          <a:p>
            <a:pPr marL="287655" indent="-177800">
              <a:lnSpc>
                <a:spcPct val="100000"/>
              </a:lnSpc>
              <a:spcBef>
                <a:spcPts val="45"/>
              </a:spcBef>
              <a:buChar char="·"/>
              <a:tabLst>
                <a:tab pos="287655" algn="l"/>
              </a:tabLst>
            </a:pPr>
            <a:r>
              <a:rPr dirty="0" sz="1300" spc="120">
                <a:solidFill>
                  <a:srgbClr val="D5E4EE"/>
                </a:solidFill>
                <a:latin typeface="SimSun-ExtB"/>
                <a:cs typeface="SimSun-ExtB"/>
              </a:rPr>
              <a:t>No</a:t>
            </a:r>
            <a:r>
              <a:rPr dirty="0" sz="1300" spc="-38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30">
                <a:solidFill>
                  <a:srgbClr val="D5E4EE"/>
                </a:solidFill>
                <a:latin typeface="SimSun-ExtB"/>
                <a:cs typeface="SimSun-ExtB"/>
              </a:rPr>
              <a:t>ride</a:t>
            </a:r>
            <a:r>
              <a:rPr dirty="0" sz="1300" spc="-36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20">
                <a:solidFill>
                  <a:srgbClr val="D5E4EE"/>
                </a:solidFill>
                <a:latin typeface="SimSun-ExtB"/>
                <a:cs typeface="SimSun-ExtB"/>
              </a:rPr>
              <a:t>data</a:t>
            </a:r>
            <a:endParaRPr sz="1300">
              <a:latin typeface="SimSun-ExtB"/>
              <a:cs typeface="SimSun-ExtB"/>
            </a:endParaRPr>
          </a:p>
          <a:p>
            <a:pPr marL="287655" indent="-177800">
              <a:lnSpc>
                <a:spcPct val="100000"/>
              </a:lnSpc>
              <a:spcBef>
                <a:spcPts val="75"/>
              </a:spcBef>
              <a:buChar char="·"/>
              <a:tabLst>
                <a:tab pos="287655" algn="l"/>
              </a:tabLst>
            </a:pPr>
            <a:r>
              <a:rPr dirty="0" sz="1300" spc="120">
                <a:solidFill>
                  <a:srgbClr val="D5E4EE"/>
                </a:solidFill>
                <a:latin typeface="SimSun-ExtB"/>
                <a:cs typeface="SimSun-ExtB"/>
              </a:rPr>
              <a:t>No</a:t>
            </a:r>
            <a:r>
              <a:rPr dirty="0" sz="1300" spc="-3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>
                <a:solidFill>
                  <a:srgbClr val="D5E4EE"/>
                </a:solidFill>
                <a:latin typeface="SimSun-ExtB"/>
                <a:cs typeface="SimSun-ExtB"/>
              </a:rPr>
              <a:t>emergency</a:t>
            </a:r>
            <a:r>
              <a:rPr dirty="0" sz="130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00" spc="-10">
                <a:solidFill>
                  <a:srgbClr val="D5E4EE"/>
                </a:solidFill>
                <a:latin typeface="SimSun-ExtB"/>
                <a:cs typeface="SimSun-ExtB"/>
              </a:rPr>
              <a:t>dispatch</a:t>
            </a:r>
            <a:endParaRPr sz="1300">
              <a:latin typeface="SimSun-ExtB"/>
              <a:cs typeface="SimSun-ExtB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3132" y="6004052"/>
            <a:ext cx="716343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solidFill>
                  <a:srgbClr val="FFFFFF"/>
                </a:solidFill>
                <a:latin typeface="Yu Gothic UI"/>
                <a:cs typeface="Yu Gothic UI"/>
              </a:rPr>
              <a:t>"The</a:t>
            </a:r>
            <a:r>
              <a:rPr dirty="0" sz="1400" spc="-95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Yu Gothic UI"/>
                <a:cs typeface="Yu Gothic UI"/>
              </a:rPr>
              <a:t>gap</a:t>
            </a:r>
            <a:r>
              <a:rPr dirty="0" sz="1400" spc="-65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Yu Gothic UI"/>
                <a:cs typeface="Yu Gothic UI"/>
              </a:rPr>
              <a:t>is</a:t>
            </a:r>
            <a:r>
              <a:rPr dirty="0" sz="1400" spc="-65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Yu Gothic UI"/>
                <a:cs typeface="Yu Gothic UI"/>
              </a:rPr>
              <a:t>not</a:t>
            </a:r>
            <a:r>
              <a:rPr dirty="0" sz="1400" spc="-85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Yu Gothic UI"/>
                <a:cs typeface="Yu Gothic UI"/>
              </a:rPr>
              <a:t>another</a:t>
            </a:r>
            <a:r>
              <a:rPr dirty="0" sz="1400" spc="-110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Yu Gothic UI"/>
                <a:cs typeface="Yu Gothic UI"/>
              </a:rPr>
              <a:t>app.</a:t>
            </a:r>
            <a:r>
              <a:rPr dirty="0" sz="1400" spc="-85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Yu Gothic UI"/>
                <a:cs typeface="Yu Gothic UI"/>
              </a:rPr>
              <a:t>The</a:t>
            </a:r>
            <a:r>
              <a:rPr dirty="0" sz="1400" spc="-80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Yu Gothic UI"/>
                <a:cs typeface="Yu Gothic UI"/>
              </a:rPr>
              <a:t>gap</a:t>
            </a:r>
            <a:r>
              <a:rPr dirty="0" sz="1400" spc="-65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Yu Gothic UI"/>
                <a:cs typeface="Yu Gothic UI"/>
              </a:rPr>
              <a:t>is</a:t>
            </a:r>
            <a:r>
              <a:rPr dirty="0" sz="1400" spc="-65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Yu Gothic UI"/>
                <a:cs typeface="Yu Gothic UI"/>
              </a:rPr>
              <a:t>an</a:t>
            </a:r>
            <a:r>
              <a:rPr dirty="0" sz="1400" spc="-85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Yu Gothic UI"/>
                <a:cs typeface="Yu Gothic UI"/>
              </a:rPr>
              <a:t>always-</a:t>
            </a:r>
            <a:r>
              <a:rPr dirty="0" sz="1400" spc="-50" b="1">
                <a:solidFill>
                  <a:srgbClr val="FFFFFF"/>
                </a:solidFill>
                <a:latin typeface="Yu Gothic UI"/>
                <a:cs typeface="Yu Gothic UI"/>
              </a:rPr>
              <a:t>on</a:t>
            </a:r>
            <a:r>
              <a:rPr dirty="0" sz="1400" spc="-110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Yu Gothic UI"/>
                <a:cs typeface="Yu Gothic UI"/>
              </a:rPr>
              <a:t>safety</a:t>
            </a:r>
            <a:r>
              <a:rPr dirty="0" sz="1400" spc="-100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Yu Gothic UI"/>
                <a:cs typeface="Yu Gothic UI"/>
              </a:rPr>
              <a:t>layer</a:t>
            </a:r>
            <a:r>
              <a:rPr dirty="0" sz="1400" spc="-95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Yu Gothic UI"/>
                <a:cs typeface="Yu Gothic UI"/>
              </a:rPr>
              <a:t>for</a:t>
            </a:r>
            <a:r>
              <a:rPr dirty="0" sz="1400" spc="-80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Yu Gothic UI"/>
                <a:cs typeface="Yu Gothic UI"/>
              </a:rPr>
              <a:t>every</a:t>
            </a:r>
            <a:r>
              <a:rPr dirty="0" sz="1400" spc="-80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600" spc="-45" b="1">
                <a:solidFill>
                  <a:srgbClr val="FFFFFF"/>
                </a:solidFill>
                <a:latin typeface="Yu Gothic UI"/>
                <a:cs typeface="Yu Gothic UI"/>
              </a:rPr>
              <a:t>two-</a:t>
            </a:r>
            <a:r>
              <a:rPr dirty="0" sz="1600" spc="-10" b="1">
                <a:solidFill>
                  <a:srgbClr val="FFFFFF"/>
                </a:solidFill>
                <a:latin typeface="Yu Gothic UI"/>
                <a:cs typeface="Yu Gothic UI"/>
              </a:rPr>
              <a:t>wheeler</a:t>
            </a:r>
            <a:r>
              <a:rPr dirty="0" sz="1400" spc="-10" b="1">
                <a:solidFill>
                  <a:srgbClr val="FFFFFF"/>
                </a:solidFill>
                <a:latin typeface="Yu Gothic UI"/>
                <a:cs typeface="Yu Gothic UI"/>
              </a:rPr>
              <a:t>."</a:t>
            </a:r>
            <a:endParaRPr sz="1400">
              <a:latin typeface="Yu Gothic UI"/>
              <a:cs typeface="Yu Gothic U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931525" y="6378797"/>
            <a:ext cx="1188085" cy="402590"/>
            <a:chOff x="10931525" y="6378797"/>
            <a:chExt cx="1188085" cy="402590"/>
          </a:xfrm>
        </p:grpSpPr>
        <p:sp>
          <p:nvSpPr>
            <p:cNvPr id="26" name="object 26"/>
            <p:cNvSpPr/>
            <p:nvPr/>
          </p:nvSpPr>
          <p:spPr>
            <a:xfrm>
              <a:off x="10937875" y="6385147"/>
              <a:ext cx="1175385" cy="389890"/>
            </a:xfrm>
            <a:custGeom>
              <a:avLst/>
              <a:gdLst/>
              <a:ahLst/>
              <a:cxnLst/>
              <a:rect l="l" t="t" r="r" b="b"/>
              <a:pathLst>
                <a:path w="1175384" h="389890">
                  <a:moveTo>
                    <a:pt x="1175232" y="0"/>
                  </a:moveTo>
                  <a:lnTo>
                    <a:pt x="0" y="0"/>
                  </a:lnTo>
                  <a:lnTo>
                    <a:pt x="0" y="389585"/>
                  </a:lnTo>
                  <a:lnTo>
                    <a:pt x="1175232" y="389585"/>
                  </a:lnTo>
                  <a:lnTo>
                    <a:pt x="1175232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937875" y="6385147"/>
              <a:ext cx="1175385" cy="389890"/>
            </a:xfrm>
            <a:custGeom>
              <a:avLst/>
              <a:gdLst/>
              <a:ahLst/>
              <a:cxnLst/>
              <a:rect l="l" t="t" r="r" b="b"/>
              <a:pathLst>
                <a:path w="1175384" h="389890">
                  <a:moveTo>
                    <a:pt x="0" y="389585"/>
                  </a:moveTo>
                  <a:lnTo>
                    <a:pt x="1175232" y="389585"/>
                  </a:lnTo>
                  <a:lnTo>
                    <a:pt x="1175232" y="0"/>
                  </a:lnTo>
                  <a:lnTo>
                    <a:pt x="0" y="0"/>
                  </a:lnTo>
                  <a:lnTo>
                    <a:pt x="0" y="389585"/>
                  </a:lnTo>
                  <a:close/>
                </a:path>
              </a:pathLst>
            </a:custGeom>
            <a:ln w="12699">
              <a:solidFill>
                <a:srgbClr val="2428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3557" y="3054416"/>
            <a:ext cx="6254750" cy="1003935"/>
            <a:chOff x="683557" y="3054416"/>
            <a:chExt cx="6254750" cy="1003935"/>
          </a:xfrm>
        </p:grpSpPr>
        <p:sp>
          <p:nvSpPr>
            <p:cNvPr id="3" name="object 3"/>
            <p:cNvSpPr/>
            <p:nvPr/>
          </p:nvSpPr>
          <p:spPr>
            <a:xfrm>
              <a:off x="702569" y="3073238"/>
              <a:ext cx="6217285" cy="966469"/>
            </a:xfrm>
            <a:custGeom>
              <a:avLst/>
              <a:gdLst/>
              <a:ahLst/>
              <a:cxnLst/>
              <a:rect l="l" t="t" r="r" b="b"/>
              <a:pathLst>
                <a:path w="6217284" h="966470">
                  <a:moveTo>
                    <a:pt x="6196635" y="0"/>
                  </a:moveTo>
                  <a:lnTo>
                    <a:pt x="20219" y="0"/>
                  </a:lnTo>
                  <a:lnTo>
                    <a:pt x="0" y="20024"/>
                  </a:lnTo>
                  <a:lnTo>
                    <a:pt x="0" y="946189"/>
                  </a:lnTo>
                  <a:lnTo>
                    <a:pt x="6196635" y="966207"/>
                  </a:lnTo>
                  <a:lnTo>
                    <a:pt x="6204449" y="964634"/>
                  </a:lnTo>
                  <a:lnTo>
                    <a:pt x="6210828" y="960344"/>
                  </a:lnTo>
                  <a:lnTo>
                    <a:pt x="6215127" y="953981"/>
                  </a:lnTo>
                  <a:lnTo>
                    <a:pt x="6216703" y="946189"/>
                  </a:lnTo>
                  <a:lnTo>
                    <a:pt x="6216703" y="20024"/>
                  </a:lnTo>
                  <a:lnTo>
                    <a:pt x="6215127" y="12241"/>
                  </a:lnTo>
                  <a:lnTo>
                    <a:pt x="6210828" y="5875"/>
                  </a:lnTo>
                  <a:lnTo>
                    <a:pt x="6204449" y="1577"/>
                  </a:lnTo>
                  <a:lnTo>
                    <a:pt x="6196635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02569" y="3073238"/>
              <a:ext cx="6217285" cy="966469"/>
            </a:xfrm>
            <a:custGeom>
              <a:avLst/>
              <a:gdLst/>
              <a:ahLst/>
              <a:cxnLst/>
              <a:rect l="l" t="t" r="r" b="b"/>
              <a:pathLst>
                <a:path w="6217284" h="966470">
                  <a:moveTo>
                    <a:pt x="20219" y="0"/>
                  </a:moveTo>
                  <a:lnTo>
                    <a:pt x="6196634" y="0"/>
                  </a:lnTo>
                </a:path>
                <a:path w="6217284" h="966470">
                  <a:moveTo>
                    <a:pt x="6216703" y="20024"/>
                  </a:moveTo>
                  <a:lnTo>
                    <a:pt x="6216703" y="946189"/>
                  </a:lnTo>
                </a:path>
                <a:path w="6217284" h="966470">
                  <a:moveTo>
                    <a:pt x="6196634" y="966206"/>
                  </a:moveTo>
                  <a:lnTo>
                    <a:pt x="20219" y="966206"/>
                  </a:lnTo>
                </a:path>
                <a:path w="6217284" h="966470">
                  <a:moveTo>
                    <a:pt x="0" y="946189"/>
                  </a:moveTo>
                  <a:lnTo>
                    <a:pt x="0" y="20024"/>
                  </a:lnTo>
                </a:path>
              </a:pathLst>
            </a:custGeom>
            <a:ln w="37834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683557" y="4164396"/>
            <a:ext cx="6254750" cy="1003935"/>
            <a:chOff x="683557" y="4164396"/>
            <a:chExt cx="6254750" cy="1003935"/>
          </a:xfrm>
        </p:grpSpPr>
        <p:sp>
          <p:nvSpPr>
            <p:cNvPr id="6" name="object 6"/>
            <p:cNvSpPr/>
            <p:nvPr/>
          </p:nvSpPr>
          <p:spPr>
            <a:xfrm>
              <a:off x="702569" y="4183218"/>
              <a:ext cx="6217285" cy="966469"/>
            </a:xfrm>
            <a:custGeom>
              <a:avLst/>
              <a:gdLst/>
              <a:ahLst/>
              <a:cxnLst/>
              <a:rect l="l" t="t" r="r" b="b"/>
              <a:pathLst>
                <a:path w="6217284" h="966470">
                  <a:moveTo>
                    <a:pt x="6196635" y="0"/>
                  </a:moveTo>
                  <a:lnTo>
                    <a:pt x="20219" y="0"/>
                  </a:lnTo>
                  <a:lnTo>
                    <a:pt x="12349" y="1577"/>
                  </a:lnTo>
                  <a:lnTo>
                    <a:pt x="5922" y="5875"/>
                  </a:lnTo>
                  <a:lnTo>
                    <a:pt x="1589" y="12241"/>
                  </a:lnTo>
                  <a:lnTo>
                    <a:pt x="0" y="20024"/>
                  </a:lnTo>
                  <a:lnTo>
                    <a:pt x="0" y="946189"/>
                  </a:lnTo>
                  <a:lnTo>
                    <a:pt x="1589" y="953981"/>
                  </a:lnTo>
                  <a:lnTo>
                    <a:pt x="5922" y="960344"/>
                  </a:lnTo>
                  <a:lnTo>
                    <a:pt x="12349" y="964633"/>
                  </a:lnTo>
                  <a:lnTo>
                    <a:pt x="20219" y="966207"/>
                  </a:lnTo>
                  <a:lnTo>
                    <a:pt x="6196635" y="966207"/>
                  </a:lnTo>
                  <a:lnTo>
                    <a:pt x="6204449" y="964633"/>
                  </a:lnTo>
                  <a:lnTo>
                    <a:pt x="6210828" y="960344"/>
                  </a:lnTo>
                  <a:lnTo>
                    <a:pt x="6215127" y="953981"/>
                  </a:lnTo>
                  <a:lnTo>
                    <a:pt x="6216703" y="946189"/>
                  </a:lnTo>
                  <a:lnTo>
                    <a:pt x="6216703" y="20024"/>
                  </a:lnTo>
                  <a:lnTo>
                    <a:pt x="6215127" y="12241"/>
                  </a:lnTo>
                  <a:lnTo>
                    <a:pt x="6210828" y="5875"/>
                  </a:lnTo>
                  <a:lnTo>
                    <a:pt x="6204449" y="1577"/>
                  </a:lnTo>
                  <a:lnTo>
                    <a:pt x="6196635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2569" y="4183218"/>
              <a:ext cx="6217285" cy="966469"/>
            </a:xfrm>
            <a:custGeom>
              <a:avLst/>
              <a:gdLst/>
              <a:ahLst/>
              <a:cxnLst/>
              <a:rect l="l" t="t" r="r" b="b"/>
              <a:pathLst>
                <a:path w="6217284" h="966470">
                  <a:moveTo>
                    <a:pt x="20219" y="0"/>
                  </a:moveTo>
                  <a:lnTo>
                    <a:pt x="6196634" y="0"/>
                  </a:lnTo>
                </a:path>
                <a:path w="6217284" h="966470">
                  <a:moveTo>
                    <a:pt x="6216703" y="20024"/>
                  </a:moveTo>
                  <a:lnTo>
                    <a:pt x="6216703" y="946189"/>
                  </a:lnTo>
                </a:path>
                <a:path w="6217284" h="966470">
                  <a:moveTo>
                    <a:pt x="6196634" y="966206"/>
                  </a:moveTo>
                  <a:lnTo>
                    <a:pt x="20219" y="966206"/>
                  </a:lnTo>
                </a:path>
                <a:path w="6217284" h="966470">
                  <a:moveTo>
                    <a:pt x="0" y="946189"/>
                  </a:moveTo>
                  <a:lnTo>
                    <a:pt x="0" y="20024"/>
                  </a:lnTo>
                </a:path>
              </a:pathLst>
            </a:custGeom>
            <a:ln w="37834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698080" y="608456"/>
            <a:ext cx="1067435" cy="246379"/>
          </a:xfrm>
          <a:custGeom>
            <a:avLst/>
            <a:gdLst/>
            <a:ahLst/>
            <a:cxnLst/>
            <a:rect l="l" t="t" r="r" b="b"/>
            <a:pathLst>
              <a:path w="1067435" h="246380">
                <a:moveTo>
                  <a:pt x="1047280" y="0"/>
                </a:moveTo>
                <a:lnTo>
                  <a:pt x="19456" y="0"/>
                </a:lnTo>
                <a:lnTo>
                  <a:pt x="11883" y="1518"/>
                </a:lnTo>
                <a:lnTo>
                  <a:pt x="5699" y="5667"/>
                </a:lnTo>
                <a:lnTo>
                  <a:pt x="1529" y="11840"/>
                </a:lnTo>
                <a:lnTo>
                  <a:pt x="0" y="19430"/>
                </a:lnTo>
                <a:lnTo>
                  <a:pt x="0" y="226821"/>
                </a:lnTo>
                <a:lnTo>
                  <a:pt x="1529" y="234412"/>
                </a:lnTo>
                <a:lnTo>
                  <a:pt x="5699" y="240585"/>
                </a:lnTo>
                <a:lnTo>
                  <a:pt x="11883" y="244734"/>
                </a:lnTo>
                <a:lnTo>
                  <a:pt x="19456" y="246252"/>
                </a:lnTo>
                <a:lnTo>
                  <a:pt x="1047280" y="246252"/>
                </a:lnTo>
                <a:lnTo>
                  <a:pt x="1054890" y="244734"/>
                </a:lnTo>
                <a:lnTo>
                  <a:pt x="1061107" y="240585"/>
                </a:lnTo>
                <a:lnTo>
                  <a:pt x="1065300" y="234412"/>
                </a:lnTo>
                <a:lnTo>
                  <a:pt x="1066838" y="226821"/>
                </a:lnTo>
                <a:lnTo>
                  <a:pt x="1066838" y="19430"/>
                </a:lnTo>
                <a:lnTo>
                  <a:pt x="1065300" y="11840"/>
                </a:lnTo>
                <a:lnTo>
                  <a:pt x="1061107" y="5667"/>
                </a:lnTo>
                <a:lnTo>
                  <a:pt x="1054890" y="1518"/>
                </a:lnTo>
                <a:lnTo>
                  <a:pt x="1047280" y="0"/>
                </a:lnTo>
                <a:close/>
              </a:path>
            </a:pathLst>
          </a:custGeom>
          <a:solidFill>
            <a:srgbClr val="4804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82827" y="626110"/>
            <a:ext cx="88074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20">
                <a:solidFill>
                  <a:srgbClr val="D5E4EE"/>
                </a:solidFill>
                <a:latin typeface="SimSun-ExtB"/>
                <a:cs typeface="SimSun-ExtB"/>
              </a:rPr>
              <a:t>OUR</a:t>
            </a:r>
            <a:r>
              <a:rPr dirty="0" sz="1000" spc="-28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00" spc="65">
                <a:solidFill>
                  <a:srgbClr val="D5E4EE"/>
                </a:solidFill>
                <a:latin typeface="SimSun-ExtB"/>
                <a:cs typeface="SimSun-ExtB"/>
              </a:rPr>
              <a:t>APPROACH</a:t>
            </a:r>
            <a:endParaRPr sz="1000">
              <a:latin typeface="SimSun-ExtB"/>
              <a:cs typeface="SimSun-ExtB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685596" y="772544"/>
            <a:ext cx="3674110" cy="824230"/>
          </a:xfrm>
          <a:prstGeom prst="rect"/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3000"/>
              <a:t>Four</a:t>
            </a:r>
            <a:r>
              <a:rPr dirty="0" sz="3000" spc="45"/>
              <a:t> </a:t>
            </a:r>
            <a:r>
              <a:rPr dirty="0" sz="3000"/>
              <a:t>Pillars.</a:t>
            </a:r>
            <a:r>
              <a:rPr dirty="0" sz="3000" spc="45"/>
              <a:t> </a:t>
            </a:r>
            <a:r>
              <a:rPr dirty="0" sz="3000" spc="110"/>
              <a:t>One</a:t>
            </a:r>
            <a:r>
              <a:rPr dirty="0" sz="3000" spc="60"/>
              <a:t> </a:t>
            </a:r>
            <a:r>
              <a:rPr dirty="0" sz="3000" spc="-20"/>
              <a:t>Kit.</a:t>
            </a:r>
            <a:endParaRPr sz="3000"/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300" spc="-100" i="1">
                <a:solidFill>
                  <a:srgbClr val="D5E4EE"/>
                </a:solidFill>
                <a:latin typeface="Arial"/>
                <a:cs typeface="Arial"/>
              </a:rPr>
              <a:t>No</a:t>
            </a:r>
            <a:r>
              <a:rPr dirty="0" sz="1300" spc="-80" i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300" spc="-75" i="1">
                <a:solidFill>
                  <a:srgbClr val="D5E4EE"/>
                </a:solidFill>
                <a:latin typeface="Arial"/>
                <a:cs typeface="Arial"/>
              </a:rPr>
              <a:t>new</a:t>
            </a:r>
            <a:r>
              <a:rPr dirty="0" sz="1300" spc="-80" i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300" spc="-95" i="1">
                <a:solidFill>
                  <a:srgbClr val="D5E4EE"/>
                </a:solidFill>
                <a:latin typeface="Arial"/>
                <a:cs typeface="Arial"/>
              </a:rPr>
              <a:t>sensors</a:t>
            </a:r>
            <a:r>
              <a:rPr dirty="0" sz="1300" spc="-75" i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D5E4EE"/>
                </a:solidFill>
                <a:latin typeface="Arial"/>
                <a:cs typeface="Arial"/>
              </a:rPr>
              <a:t>required.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3557" y="1950278"/>
            <a:ext cx="6254750" cy="1003935"/>
            <a:chOff x="683557" y="1950278"/>
            <a:chExt cx="6254750" cy="1003935"/>
          </a:xfrm>
        </p:grpSpPr>
        <p:sp>
          <p:nvSpPr>
            <p:cNvPr id="12" name="object 12"/>
            <p:cNvSpPr/>
            <p:nvPr/>
          </p:nvSpPr>
          <p:spPr>
            <a:xfrm>
              <a:off x="702569" y="1969100"/>
              <a:ext cx="6217285" cy="966469"/>
            </a:xfrm>
            <a:custGeom>
              <a:avLst/>
              <a:gdLst/>
              <a:ahLst/>
              <a:cxnLst/>
              <a:rect l="l" t="t" r="r" b="b"/>
              <a:pathLst>
                <a:path w="6217284" h="966469">
                  <a:moveTo>
                    <a:pt x="6196635" y="0"/>
                  </a:moveTo>
                  <a:lnTo>
                    <a:pt x="20219" y="0"/>
                  </a:lnTo>
                  <a:lnTo>
                    <a:pt x="12349" y="1577"/>
                  </a:lnTo>
                  <a:lnTo>
                    <a:pt x="5922" y="5875"/>
                  </a:lnTo>
                  <a:lnTo>
                    <a:pt x="1589" y="12241"/>
                  </a:lnTo>
                  <a:lnTo>
                    <a:pt x="0" y="20024"/>
                  </a:lnTo>
                  <a:lnTo>
                    <a:pt x="0" y="946189"/>
                  </a:lnTo>
                  <a:lnTo>
                    <a:pt x="1589" y="953981"/>
                  </a:lnTo>
                  <a:lnTo>
                    <a:pt x="5922" y="960344"/>
                  </a:lnTo>
                  <a:lnTo>
                    <a:pt x="12349" y="964633"/>
                  </a:lnTo>
                  <a:lnTo>
                    <a:pt x="20219" y="966207"/>
                  </a:lnTo>
                  <a:lnTo>
                    <a:pt x="6196635" y="966207"/>
                  </a:lnTo>
                  <a:lnTo>
                    <a:pt x="6204449" y="964633"/>
                  </a:lnTo>
                  <a:lnTo>
                    <a:pt x="6210828" y="960344"/>
                  </a:lnTo>
                  <a:lnTo>
                    <a:pt x="6215127" y="953981"/>
                  </a:lnTo>
                  <a:lnTo>
                    <a:pt x="6216703" y="946189"/>
                  </a:lnTo>
                  <a:lnTo>
                    <a:pt x="6216703" y="20024"/>
                  </a:lnTo>
                  <a:lnTo>
                    <a:pt x="6215127" y="12241"/>
                  </a:lnTo>
                  <a:lnTo>
                    <a:pt x="6210828" y="5875"/>
                  </a:lnTo>
                  <a:lnTo>
                    <a:pt x="6204449" y="1577"/>
                  </a:lnTo>
                  <a:lnTo>
                    <a:pt x="6196635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02569" y="1969100"/>
              <a:ext cx="6217285" cy="966469"/>
            </a:xfrm>
            <a:custGeom>
              <a:avLst/>
              <a:gdLst/>
              <a:ahLst/>
              <a:cxnLst/>
              <a:rect l="l" t="t" r="r" b="b"/>
              <a:pathLst>
                <a:path w="6217284" h="966469">
                  <a:moveTo>
                    <a:pt x="20219" y="0"/>
                  </a:moveTo>
                  <a:lnTo>
                    <a:pt x="6196634" y="0"/>
                  </a:lnTo>
                </a:path>
                <a:path w="6217284" h="966469">
                  <a:moveTo>
                    <a:pt x="6216703" y="20024"/>
                  </a:moveTo>
                  <a:lnTo>
                    <a:pt x="6216703" y="946189"/>
                  </a:lnTo>
                </a:path>
                <a:path w="6217284" h="966469">
                  <a:moveTo>
                    <a:pt x="6196634" y="966206"/>
                  </a:moveTo>
                  <a:lnTo>
                    <a:pt x="20219" y="966206"/>
                  </a:lnTo>
                </a:path>
                <a:path w="6217284" h="966469">
                  <a:moveTo>
                    <a:pt x="0" y="946189"/>
                  </a:moveTo>
                  <a:lnTo>
                    <a:pt x="0" y="20024"/>
                  </a:lnTo>
                </a:path>
              </a:pathLst>
            </a:custGeom>
            <a:ln w="37834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21581" y="1988150"/>
            <a:ext cx="652780" cy="929005"/>
          </a:xfrm>
          <a:prstGeom prst="rect">
            <a:avLst/>
          </a:prstGeom>
          <a:solidFill>
            <a:srgbClr val="444652"/>
          </a:solidFill>
        </p:spPr>
        <p:txBody>
          <a:bodyPr wrap="square" lIns="0" tIns="247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1900">
              <a:latin typeface="Times New Roman"/>
              <a:cs typeface="Times New Roman"/>
            </a:endParaRPr>
          </a:p>
          <a:p>
            <a:pPr algn="ctr" marR="8255">
              <a:lnSpc>
                <a:spcPct val="100000"/>
              </a:lnSpc>
              <a:spcBef>
                <a:spcPts val="5"/>
              </a:spcBef>
            </a:pPr>
            <a:r>
              <a:rPr dirty="0" sz="1900" spc="-50">
                <a:solidFill>
                  <a:srgbClr val="D5E4EE"/>
                </a:solidFill>
                <a:latin typeface="Georgia"/>
                <a:cs typeface="Georgia"/>
              </a:rPr>
              <a:t>1</a:t>
            </a:r>
            <a:endParaRPr sz="19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4331" y="3214496"/>
            <a:ext cx="5526405" cy="557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D5E4EE"/>
                </a:solidFill>
                <a:latin typeface="Georgia"/>
                <a:cs typeface="Georgia"/>
              </a:rPr>
              <a:t>Insurance</a:t>
            </a:r>
            <a:r>
              <a:rPr dirty="0" sz="1500" spc="32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00" spc="35">
                <a:solidFill>
                  <a:srgbClr val="D5E4EE"/>
                </a:solidFill>
                <a:latin typeface="Georgia"/>
                <a:cs typeface="Georgia"/>
              </a:rPr>
              <a:t>Telemetry</a:t>
            </a:r>
            <a:endParaRPr sz="1500">
              <a:latin typeface="Georgia"/>
              <a:cs typeface="Georgia"/>
            </a:endParaRPr>
          </a:p>
          <a:p>
            <a:pPr marL="45720">
              <a:lnSpc>
                <a:spcPct val="100000"/>
              </a:lnSpc>
              <a:spcBef>
                <a:spcPts val="890"/>
              </a:spcBef>
            </a:pPr>
            <a:r>
              <a:rPr dirty="0" sz="1250" spc="-100">
                <a:solidFill>
                  <a:srgbClr val="D5E4EE"/>
                </a:solidFill>
                <a:latin typeface="SimSun-ExtB"/>
                <a:cs typeface="SimSun-ExtB"/>
              </a:rPr>
              <a:t>Pre-</a:t>
            </a:r>
            <a:r>
              <a:rPr dirty="0" sz="1250" spc="-70">
                <a:solidFill>
                  <a:srgbClr val="D5E4EE"/>
                </a:solidFill>
                <a:latin typeface="SimSun-ExtB"/>
                <a:cs typeface="SimSun-ExtB"/>
              </a:rPr>
              <a:t>crash</a:t>
            </a:r>
            <a:r>
              <a:rPr dirty="0" sz="1250" spc="-3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75">
                <a:solidFill>
                  <a:srgbClr val="D5E4EE"/>
                </a:solidFill>
                <a:latin typeface="SimSun-ExtB"/>
                <a:cs typeface="SimSun-ExtB"/>
              </a:rPr>
              <a:t>black</a:t>
            </a:r>
            <a:r>
              <a:rPr dirty="0" sz="1250" spc="-3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80">
                <a:solidFill>
                  <a:srgbClr val="D5E4EE"/>
                </a:solidFill>
                <a:latin typeface="SimSun-ExtB"/>
                <a:cs typeface="SimSun-ExtB"/>
              </a:rPr>
              <a:t>box,</a:t>
            </a:r>
            <a:r>
              <a:rPr dirty="0" sz="1250" spc="-3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0">
                <a:solidFill>
                  <a:srgbClr val="D5E4EE"/>
                </a:solidFill>
                <a:latin typeface="SimSun-ExtB"/>
                <a:cs typeface="SimSun-ExtB"/>
              </a:rPr>
              <a:t>UBI</a:t>
            </a:r>
            <a:r>
              <a:rPr dirty="0" sz="1250" spc="-33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20">
                <a:solidFill>
                  <a:srgbClr val="D5E4EE"/>
                </a:solidFill>
                <a:latin typeface="SimSun-ExtB"/>
                <a:cs typeface="SimSun-ExtB"/>
              </a:rPr>
              <a:t>scoring,</a:t>
            </a:r>
            <a:r>
              <a:rPr dirty="0" sz="125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75">
                <a:solidFill>
                  <a:srgbClr val="D5E4EE"/>
                </a:solidFill>
                <a:latin typeface="SimSun-ExtB"/>
                <a:cs typeface="SimSun-ExtB"/>
              </a:rPr>
              <a:t>fraud</a:t>
            </a:r>
            <a:r>
              <a:rPr dirty="0" sz="1250" spc="-3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0">
                <a:solidFill>
                  <a:srgbClr val="D5E4EE"/>
                </a:solidFill>
                <a:latin typeface="SimSun-ExtB"/>
                <a:cs typeface="SimSun-ExtB"/>
              </a:rPr>
              <a:t>evidence.</a:t>
            </a:r>
            <a:endParaRPr sz="1250">
              <a:latin typeface="SimSun-ExtB"/>
              <a:cs typeface="SimSun-ExtB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1581" y="3092288"/>
            <a:ext cx="652780" cy="929005"/>
          </a:xfrm>
          <a:prstGeom prst="rect">
            <a:avLst/>
          </a:prstGeom>
          <a:solidFill>
            <a:srgbClr val="444652"/>
          </a:solidFill>
        </p:spPr>
        <p:txBody>
          <a:bodyPr wrap="square" lIns="0" tIns="254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900">
              <a:latin typeface="Times New Roman"/>
              <a:cs typeface="Times New Roman"/>
            </a:endParaRPr>
          </a:p>
          <a:p>
            <a:pPr algn="ctr" marR="6350">
              <a:lnSpc>
                <a:spcPct val="100000"/>
              </a:lnSpc>
            </a:pPr>
            <a:r>
              <a:rPr dirty="0" sz="1900" spc="-50">
                <a:solidFill>
                  <a:srgbClr val="D5E4EE"/>
                </a:solidFill>
                <a:latin typeface="Georgia"/>
                <a:cs typeface="Georgia"/>
              </a:rPr>
              <a:t>2</a:t>
            </a:r>
            <a:endParaRPr sz="19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74331" y="4341621"/>
            <a:ext cx="5526405" cy="557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2555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D5E4EE"/>
                </a:solidFill>
                <a:latin typeface="Georgia"/>
                <a:cs typeface="Georgia"/>
              </a:rPr>
              <a:t>Guardian</a:t>
            </a:r>
            <a:r>
              <a:rPr dirty="0" sz="1500" spc="21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00" spc="-10">
                <a:solidFill>
                  <a:srgbClr val="D5E4EE"/>
                </a:solidFill>
                <a:latin typeface="Georgia"/>
                <a:cs typeface="Georgia"/>
              </a:rPr>
              <a:t>Dashboard</a:t>
            </a:r>
            <a:endParaRPr sz="1500">
              <a:latin typeface="Georgia"/>
              <a:cs typeface="Georgia"/>
            </a:endParaRPr>
          </a:p>
          <a:p>
            <a:pPr marL="122555">
              <a:lnSpc>
                <a:spcPct val="100000"/>
              </a:lnSpc>
              <a:spcBef>
                <a:spcPts val="885"/>
              </a:spcBef>
            </a:pPr>
            <a:r>
              <a:rPr dirty="0" sz="1250" spc="-50">
                <a:solidFill>
                  <a:srgbClr val="D5E4EE"/>
                </a:solidFill>
                <a:latin typeface="SimSun-ExtB"/>
                <a:cs typeface="SimSun-ExtB"/>
              </a:rPr>
              <a:t>Consent-</a:t>
            </a:r>
            <a:r>
              <a:rPr dirty="0" sz="1250">
                <a:solidFill>
                  <a:srgbClr val="D5E4EE"/>
                </a:solidFill>
                <a:latin typeface="SimSun-ExtB"/>
                <a:cs typeface="SimSun-ExtB"/>
              </a:rPr>
              <a:t>based</a:t>
            </a:r>
            <a:r>
              <a:rPr dirty="0" sz="1250" spc="-2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00">
                <a:solidFill>
                  <a:srgbClr val="D5E4EE"/>
                </a:solidFill>
                <a:latin typeface="SimSun-ExtB"/>
                <a:cs typeface="SimSun-ExtB"/>
              </a:rPr>
              <a:t>family</a:t>
            </a:r>
            <a:r>
              <a:rPr dirty="0" sz="1250" spc="-2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210">
                <a:solidFill>
                  <a:srgbClr val="D5E4EE"/>
                </a:solidFill>
                <a:latin typeface="SimSun-ExtB"/>
                <a:cs typeface="SimSun-ExtB"/>
              </a:rPr>
              <a:t>visibility,</a:t>
            </a:r>
            <a:r>
              <a:rPr dirty="0" sz="125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40">
                <a:solidFill>
                  <a:srgbClr val="D5E4EE"/>
                </a:solidFill>
                <a:latin typeface="SimSun-ExtB"/>
                <a:cs typeface="SimSun-ExtB"/>
              </a:rPr>
              <a:t>geofence</a:t>
            </a:r>
            <a:r>
              <a:rPr dirty="0" sz="1250" spc="-28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20">
                <a:solidFill>
                  <a:srgbClr val="D5E4EE"/>
                </a:solidFill>
                <a:latin typeface="SimSun-ExtB"/>
                <a:cs typeface="SimSun-ExtB"/>
              </a:rPr>
              <a:t>alerts.</a:t>
            </a:r>
            <a:endParaRPr sz="1250">
              <a:latin typeface="SimSun-ExtB"/>
              <a:cs typeface="SimSun-ExtB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1581" y="4202269"/>
            <a:ext cx="652780" cy="929005"/>
          </a:xfrm>
          <a:prstGeom prst="rect">
            <a:avLst/>
          </a:prstGeom>
          <a:solidFill>
            <a:srgbClr val="444652"/>
          </a:solidFill>
        </p:spPr>
        <p:txBody>
          <a:bodyPr wrap="square" lIns="0" tIns="19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endParaRPr sz="1900">
              <a:latin typeface="Times New Roman"/>
              <a:cs typeface="Times New Roman"/>
            </a:endParaRPr>
          </a:p>
          <a:p>
            <a:pPr algn="ctr" marR="7620">
              <a:lnSpc>
                <a:spcPct val="100000"/>
              </a:lnSpc>
            </a:pPr>
            <a:r>
              <a:rPr dirty="0" sz="1900" spc="-50">
                <a:solidFill>
                  <a:srgbClr val="D5E4EE"/>
                </a:solidFill>
                <a:latin typeface="Georgia"/>
                <a:cs typeface="Georgia"/>
              </a:rPr>
              <a:t>3</a:t>
            </a:r>
            <a:endParaRPr sz="19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3557" y="5262641"/>
            <a:ext cx="6254750" cy="1003935"/>
            <a:chOff x="683557" y="5262641"/>
            <a:chExt cx="6254750" cy="1003935"/>
          </a:xfrm>
        </p:grpSpPr>
        <p:sp>
          <p:nvSpPr>
            <p:cNvPr id="20" name="object 20"/>
            <p:cNvSpPr/>
            <p:nvPr/>
          </p:nvSpPr>
          <p:spPr>
            <a:xfrm>
              <a:off x="702569" y="5281463"/>
              <a:ext cx="6217285" cy="966469"/>
            </a:xfrm>
            <a:custGeom>
              <a:avLst/>
              <a:gdLst/>
              <a:ahLst/>
              <a:cxnLst/>
              <a:rect l="l" t="t" r="r" b="b"/>
              <a:pathLst>
                <a:path w="6217284" h="966470">
                  <a:moveTo>
                    <a:pt x="6196635" y="0"/>
                  </a:moveTo>
                  <a:lnTo>
                    <a:pt x="20219" y="0"/>
                  </a:lnTo>
                  <a:lnTo>
                    <a:pt x="12349" y="1577"/>
                  </a:lnTo>
                  <a:lnTo>
                    <a:pt x="5922" y="5875"/>
                  </a:lnTo>
                  <a:lnTo>
                    <a:pt x="1589" y="12241"/>
                  </a:lnTo>
                  <a:lnTo>
                    <a:pt x="0" y="20024"/>
                  </a:lnTo>
                  <a:lnTo>
                    <a:pt x="0" y="946189"/>
                  </a:lnTo>
                  <a:lnTo>
                    <a:pt x="1589" y="953981"/>
                  </a:lnTo>
                  <a:lnTo>
                    <a:pt x="5922" y="960344"/>
                  </a:lnTo>
                  <a:lnTo>
                    <a:pt x="12349" y="964633"/>
                  </a:lnTo>
                  <a:lnTo>
                    <a:pt x="20219" y="966207"/>
                  </a:lnTo>
                  <a:lnTo>
                    <a:pt x="6196635" y="966207"/>
                  </a:lnTo>
                  <a:lnTo>
                    <a:pt x="6204449" y="964633"/>
                  </a:lnTo>
                  <a:lnTo>
                    <a:pt x="6210828" y="960344"/>
                  </a:lnTo>
                  <a:lnTo>
                    <a:pt x="6215127" y="953981"/>
                  </a:lnTo>
                  <a:lnTo>
                    <a:pt x="6216703" y="946189"/>
                  </a:lnTo>
                  <a:lnTo>
                    <a:pt x="6216703" y="20024"/>
                  </a:lnTo>
                  <a:lnTo>
                    <a:pt x="6215127" y="12241"/>
                  </a:lnTo>
                  <a:lnTo>
                    <a:pt x="6210828" y="5875"/>
                  </a:lnTo>
                  <a:lnTo>
                    <a:pt x="6204449" y="1577"/>
                  </a:lnTo>
                  <a:lnTo>
                    <a:pt x="6196635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02569" y="5281464"/>
              <a:ext cx="6217285" cy="966469"/>
            </a:xfrm>
            <a:custGeom>
              <a:avLst/>
              <a:gdLst/>
              <a:ahLst/>
              <a:cxnLst/>
              <a:rect l="l" t="t" r="r" b="b"/>
              <a:pathLst>
                <a:path w="6217284" h="966470">
                  <a:moveTo>
                    <a:pt x="20219" y="0"/>
                  </a:moveTo>
                  <a:lnTo>
                    <a:pt x="6196634" y="0"/>
                  </a:lnTo>
                </a:path>
                <a:path w="6217284" h="966470">
                  <a:moveTo>
                    <a:pt x="6216703" y="20024"/>
                  </a:moveTo>
                  <a:lnTo>
                    <a:pt x="6216703" y="946189"/>
                  </a:lnTo>
                </a:path>
                <a:path w="6217284" h="966470">
                  <a:moveTo>
                    <a:pt x="6196634" y="966206"/>
                  </a:moveTo>
                  <a:lnTo>
                    <a:pt x="20219" y="966206"/>
                  </a:lnTo>
                </a:path>
                <a:path w="6217284" h="966470">
                  <a:moveTo>
                    <a:pt x="0" y="946189"/>
                  </a:moveTo>
                  <a:lnTo>
                    <a:pt x="0" y="20024"/>
                  </a:lnTo>
                </a:path>
              </a:pathLst>
            </a:custGeom>
            <a:ln w="37834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21581" y="5300514"/>
            <a:ext cx="652780" cy="929005"/>
          </a:xfrm>
          <a:prstGeom prst="rect">
            <a:avLst/>
          </a:prstGeom>
          <a:solidFill>
            <a:srgbClr val="444652"/>
          </a:solidFill>
        </p:spPr>
        <p:txBody>
          <a:bodyPr wrap="square" lIns="0" tIns="254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900">
              <a:latin typeface="Times New Roman"/>
              <a:cs typeface="Times New Roman"/>
            </a:endParaRPr>
          </a:p>
          <a:p>
            <a:pPr algn="ctr" marR="8255">
              <a:lnSpc>
                <a:spcPct val="100000"/>
              </a:lnSpc>
            </a:pPr>
            <a:r>
              <a:rPr dirty="0" sz="1900" spc="-50">
                <a:solidFill>
                  <a:srgbClr val="D5E4EE"/>
                </a:solidFill>
                <a:latin typeface="Georgia"/>
                <a:cs typeface="Georgia"/>
              </a:rPr>
              <a:t>4</a:t>
            </a:r>
            <a:endParaRPr sz="19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4331" y="5374640"/>
            <a:ext cx="5526405" cy="557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D5E4EE"/>
                </a:solidFill>
                <a:latin typeface="Georgia"/>
                <a:cs typeface="Georgia"/>
              </a:rPr>
              <a:t>Trip</a:t>
            </a:r>
            <a:r>
              <a:rPr dirty="0" sz="1500" spc="9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00">
                <a:solidFill>
                  <a:srgbClr val="D5E4EE"/>
                </a:solidFill>
                <a:latin typeface="Georgia"/>
                <a:cs typeface="Georgia"/>
              </a:rPr>
              <a:t>&amp;</a:t>
            </a:r>
            <a:r>
              <a:rPr dirty="0" sz="1500" spc="7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00">
                <a:solidFill>
                  <a:srgbClr val="D5E4EE"/>
                </a:solidFill>
                <a:latin typeface="Georgia"/>
                <a:cs typeface="Georgia"/>
              </a:rPr>
              <a:t>Journey</a:t>
            </a:r>
            <a:r>
              <a:rPr dirty="0" sz="1500" spc="7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00" spc="-10">
                <a:solidFill>
                  <a:srgbClr val="D5E4EE"/>
                </a:solidFill>
                <a:latin typeface="Georgia"/>
                <a:cs typeface="Georgia"/>
              </a:rPr>
              <a:t>Report</a:t>
            </a:r>
            <a:endParaRPr sz="1500">
              <a:latin typeface="Georgia"/>
              <a:cs typeface="Georgia"/>
            </a:endParaRPr>
          </a:p>
          <a:p>
            <a:pPr marL="118745">
              <a:lnSpc>
                <a:spcPct val="100000"/>
              </a:lnSpc>
              <a:spcBef>
                <a:spcPts val="885"/>
              </a:spcBef>
            </a:pPr>
            <a:r>
              <a:rPr dirty="0" sz="1250" spc="-95">
                <a:solidFill>
                  <a:srgbClr val="D5E4EE"/>
                </a:solidFill>
                <a:latin typeface="SimSun-ExtB"/>
                <a:cs typeface="SimSun-ExtB"/>
              </a:rPr>
              <a:t>Per-</a:t>
            </a:r>
            <a:r>
              <a:rPr dirty="0" sz="1250" spc="-125">
                <a:solidFill>
                  <a:srgbClr val="D5E4EE"/>
                </a:solidFill>
                <a:latin typeface="SimSun-ExtB"/>
                <a:cs typeface="SimSun-ExtB"/>
              </a:rPr>
              <a:t>ride</a:t>
            </a:r>
            <a:r>
              <a:rPr dirty="0" sz="1250" spc="-28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05">
                <a:solidFill>
                  <a:srgbClr val="D5E4EE"/>
                </a:solidFill>
                <a:latin typeface="SimSun-ExtB"/>
                <a:cs typeface="SimSun-ExtB"/>
              </a:rPr>
              <a:t>metrics,</a:t>
            </a:r>
            <a:r>
              <a:rPr dirty="0" sz="1250" spc="-28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14">
                <a:solidFill>
                  <a:srgbClr val="D5E4EE"/>
                </a:solidFill>
                <a:latin typeface="SimSun-ExtB"/>
                <a:cs typeface="SimSun-ExtB"/>
              </a:rPr>
              <a:t>safety</a:t>
            </a:r>
            <a:r>
              <a:rPr dirty="0" sz="125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10">
                <a:solidFill>
                  <a:srgbClr val="D5E4EE"/>
                </a:solidFill>
                <a:latin typeface="SimSun-ExtB"/>
                <a:cs typeface="SimSun-ExtB"/>
              </a:rPr>
              <a:t>trends,</a:t>
            </a:r>
            <a:r>
              <a:rPr dirty="0" sz="1250" spc="-2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65">
                <a:solidFill>
                  <a:srgbClr val="D5E4EE"/>
                </a:solidFill>
                <a:latin typeface="SimSun-ExtB"/>
                <a:cs typeface="SimSun-ExtB"/>
              </a:rPr>
              <a:t>gamified</a:t>
            </a:r>
            <a:r>
              <a:rPr dirty="0" sz="1250" spc="-3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0">
                <a:solidFill>
                  <a:srgbClr val="D5E4EE"/>
                </a:solidFill>
                <a:latin typeface="SimSun-ExtB"/>
                <a:cs typeface="SimSun-ExtB"/>
              </a:rPr>
              <a:t>streaks.</a:t>
            </a:r>
            <a:endParaRPr sz="1250">
              <a:latin typeface="SimSun-ExtB"/>
              <a:cs typeface="SimSun-ExtB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74331" y="2116582"/>
            <a:ext cx="5526405" cy="557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dirty="0" sz="1500" spc="10">
                <a:solidFill>
                  <a:srgbClr val="D5E4EE"/>
                </a:solidFill>
                <a:latin typeface="Georgia"/>
                <a:cs typeface="Georgia"/>
              </a:rPr>
              <a:t>Tiered</a:t>
            </a:r>
            <a:r>
              <a:rPr dirty="0" sz="1500" spc="32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00" spc="10">
                <a:solidFill>
                  <a:srgbClr val="D5E4EE"/>
                </a:solidFill>
                <a:latin typeface="Georgia"/>
                <a:cs typeface="Georgia"/>
              </a:rPr>
              <a:t>Emergency</a:t>
            </a:r>
            <a:r>
              <a:rPr dirty="0" sz="1500" spc="26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500" spc="-10">
                <a:solidFill>
                  <a:srgbClr val="D5E4EE"/>
                </a:solidFill>
                <a:latin typeface="Georgia"/>
                <a:cs typeface="Georgia"/>
              </a:rPr>
              <a:t>Escalation</a:t>
            </a:r>
            <a:endParaRPr sz="1500">
              <a:latin typeface="Georgia"/>
              <a:cs typeface="Georgia"/>
            </a:endParaRPr>
          </a:p>
          <a:p>
            <a:pPr marL="45720">
              <a:lnSpc>
                <a:spcPct val="100000"/>
              </a:lnSpc>
              <a:spcBef>
                <a:spcPts val="885"/>
              </a:spcBef>
            </a:pPr>
            <a:r>
              <a:rPr dirty="0" sz="1250" spc="-90">
                <a:solidFill>
                  <a:srgbClr val="D5E4EE"/>
                </a:solidFill>
                <a:latin typeface="SimSun-ExtB"/>
                <a:cs typeface="SimSun-ExtB"/>
              </a:rPr>
              <a:t>Right</a:t>
            </a:r>
            <a:r>
              <a:rPr dirty="0" sz="1250" spc="-3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40">
                <a:solidFill>
                  <a:srgbClr val="D5E4EE"/>
                </a:solidFill>
                <a:latin typeface="SimSun-ExtB"/>
                <a:cs typeface="SimSun-ExtB"/>
              </a:rPr>
              <a:t>responder</a:t>
            </a:r>
            <a:r>
              <a:rPr dirty="0" sz="125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14">
                <a:solidFill>
                  <a:srgbClr val="D5E4EE"/>
                </a:solidFill>
                <a:latin typeface="SimSun-ExtB"/>
                <a:cs typeface="SimSun-ExtB"/>
              </a:rPr>
              <a:t>at</a:t>
            </a:r>
            <a:r>
              <a:rPr dirty="0" sz="1250" spc="-34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60">
                <a:solidFill>
                  <a:srgbClr val="D5E4EE"/>
                </a:solidFill>
                <a:latin typeface="SimSun-ExtB"/>
                <a:cs typeface="SimSun-ExtB"/>
              </a:rPr>
              <a:t>the</a:t>
            </a:r>
            <a:r>
              <a:rPr dirty="0" sz="1250" spc="-3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40">
                <a:solidFill>
                  <a:srgbClr val="D5E4EE"/>
                </a:solidFill>
                <a:latin typeface="SimSun-ExtB"/>
                <a:cs typeface="SimSun-ExtB"/>
              </a:rPr>
              <a:t>right</a:t>
            </a:r>
            <a:r>
              <a:rPr dirty="0" sz="1250" spc="-3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90">
                <a:solidFill>
                  <a:srgbClr val="D5E4EE"/>
                </a:solidFill>
                <a:latin typeface="SimSun-ExtB"/>
                <a:cs typeface="SimSun-ExtB"/>
              </a:rPr>
              <a:t>time,</a:t>
            </a:r>
            <a:r>
              <a:rPr dirty="0" sz="1250" spc="-3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65">
                <a:solidFill>
                  <a:srgbClr val="D5E4EE"/>
                </a:solidFill>
                <a:latin typeface="SimSun-ExtB"/>
                <a:cs typeface="SimSun-ExtB"/>
              </a:rPr>
              <a:t>every</a:t>
            </a:r>
            <a:r>
              <a:rPr dirty="0" sz="1250" spc="-3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20">
                <a:solidFill>
                  <a:srgbClr val="D5E4EE"/>
                </a:solidFill>
                <a:latin typeface="SimSun-ExtB"/>
                <a:cs typeface="SimSun-ExtB"/>
              </a:rPr>
              <a:t>time.</a:t>
            </a:r>
            <a:endParaRPr sz="1250">
              <a:latin typeface="SimSun-ExtB"/>
              <a:cs typeface="SimSun-ExtB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0" y="-1"/>
            <a:ext cx="457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31525" y="6378797"/>
            <a:ext cx="1217295" cy="436245"/>
            <a:chOff x="10931525" y="6378797"/>
            <a:chExt cx="1217295" cy="436245"/>
          </a:xfrm>
        </p:grpSpPr>
        <p:sp>
          <p:nvSpPr>
            <p:cNvPr id="3" name="object 3"/>
            <p:cNvSpPr/>
            <p:nvPr/>
          </p:nvSpPr>
          <p:spPr>
            <a:xfrm>
              <a:off x="10937875" y="6385147"/>
              <a:ext cx="1175385" cy="389890"/>
            </a:xfrm>
            <a:custGeom>
              <a:avLst/>
              <a:gdLst/>
              <a:ahLst/>
              <a:cxnLst/>
              <a:rect l="l" t="t" r="r" b="b"/>
              <a:pathLst>
                <a:path w="1175384" h="389890">
                  <a:moveTo>
                    <a:pt x="1175232" y="0"/>
                  </a:moveTo>
                  <a:lnTo>
                    <a:pt x="0" y="0"/>
                  </a:lnTo>
                  <a:lnTo>
                    <a:pt x="0" y="389585"/>
                  </a:lnTo>
                  <a:lnTo>
                    <a:pt x="1175232" y="389585"/>
                  </a:lnTo>
                  <a:lnTo>
                    <a:pt x="1175232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937875" y="6385147"/>
              <a:ext cx="1175385" cy="389890"/>
            </a:xfrm>
            <a:custGeom>
              <a:avLst/>
              <a:gdLst/>
              <a:ahLst/>
              <a:cxnLst/>
              <a:rect l="l" t="t" r="r" b="b"/>
              <a:pathLst>
                <a:path w="1175384" h="389890">
                  <a:moveTo>
                    <a:pt x="0" y="389585"/>
                  </a:moveTo>
                  <a:lnTo>
                    <a:pt x="1175232" y="389585"/>
                  </a:lnTo>
                  <a:lnTo>
                    <a:pt x="1175232" y="0"/>
                  </a:lnTo>
                  <a:lnTo>
                    <a:pt x="0" y="0"/>
                  </a:lnTo>
                  <a:lnTo>
                    <a:pt x="0" y="389585"/>
                  </a:lnTo>
                  <a:close/>
                </a:path>
              </a:pathLst>
            </a:custGeom>
            <a:ln w="12699">
              <a:solidFill>
                <a:srgbClr val="2428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68320">
              <a:lnSpc>
                <a:spcPct val="100000"/>
              </a:lnSpc>
              <a:spcBef>
                <a:spcPts val="100"/>
              </a:spcBef>
            </a:pPr>
            <a:r>
              <a:rPr dirty="0" sz="2400" spc="60"/>
              <a:t>System</a:t>
            </a:r>
            <a:r>
              <a:rPr dirty="0" sz="2400" spc="45"/>
              <a:t> </a:t>
            </a:r>
            <a:r>
              <a:rPr dirty="0" sz="2400" spc="65"/>
              <a:t>Architecture</a:t>
            </a:r>
            <a:r>
              <a:rPr dirty="0" sz="2400" spc="55"/>
              <a:t> </a:t>
            </a:r>
            <a:r>
              <a:rPr dirty="0" sz="2400"/>
              <a:t>&amp;</a:t>
            </a:r>
            <a:r>
              <a:rPr dirty="0" sz="2400" spc="55"/>
              <a:t> </a:t>
            </a:r>
            <a:r>
              <a:rPr dirty="0" sz="2400" spc="-10"/>
              <a:t>Hardware</a:t>
            </a:r>
            <a:endParaRPr sz="24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759" y="2122184"/>
            <a:ext cx="172216" cy="2518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759" y="2894852"/>
            <a:ext cx="172216" cy="25183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759" y="4729494"/>
            <a:ext cx="172216" cy="25183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ESP32S3</a:t>
            </a:r>
            <a:r>
              <a:rPr dirty="0" spc="45"/>
              <a:t> </a:t>
            </a:r>
            <a:r>
              <a:rPr dirty="0"/>
              <a:t>Pro</a:t>
            </a:r>
            <a:r>
              <a:rPr dirty="0" spc="15"/>
              <a:t> </a:t>
            </a:r>
            <a:r>
              <a:rPr dirty="0" spc="-10"/>
              <a:t>Microcontroller</a:t>
            </a: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200" spc="-75">
                <a:latin typeface="SimSun-ExtB"/>
                <a:cs typeface="SimSun-ExtB"/>
              </a:rPr>
              <a:t>Dual-</a:t>
            </a:r>
            <a:r>
              <a:rPr dirty="0" sz="1200" spc="-110">
                <a:latin typeface="SimSun-ExtB"/>
                <a:cs typeface="SimSun-ExtB"/>
              </a:rPr>
              <a:t>core,</a:t>
            </a:r>
            <a:r>
              <a:rPr dirty="0" sz="1200" spc="-330">
                <a:latin typeface="SimSun-ExtB"/>
                <a:cs typeface="SimSun-ExtB"/>
              </a:rPr>
              <a:t> </a:t>
            </a:r>
            <a:r>
              <a:rPr dirty="0" sz="1200" spc="-70">
                <a:latin typeface="SimSun-ExtB"/>
                <a:cs typeface="SimSun-ExtB"/>
              </a:rPr>
              <a:t>Wi-</a:t>
            </a:r>
            <a:r>
              <a:rPr dirty="0" sz="1200" spc="-170">
                <a:latin typeface="SimSun-ExtB"/>
                <a:cs typeface="SimSun-ExtB"/>
              </a:rPr>
              <a:t>Fi</a:t>
            </a:r>
            <a:r>
              <a:rPr dirty="0" sz="1200" spc="-305">
                <a:latin typeface="SimSun-ExtB"/>
                <a:cs typeface="SimSun-ExtB"/>
              </a:rPr>
              <a:t> </a:t>
            </a:r>
            <a:r>
              <a:rPr dirty="0" sz="1200" spc="-10">
                <a:latin typeface="SimSun-ExtB"/>
                <a:cs typeface="SimSun-ExtB"/>
              </a:rPr>
              <a:t>+</a:t>
            </a:r>
            <a:r>
              <a:rPr dirty="0" sz="1200" spc="-295">
                <a:latin typeface="SimSun-ExtB"/>
                <a:cs typeface="SimSun-ExtB"/>
              </a:rPr>
              <a:t> </a:t>
            </a:r>
            <a:r>
              <a:rPr dirty="0" sz="1200" spc="-55">
                <a:latin typeface="SimSun-ExtB"/>
                <a:cs typeface="SimSun-ExtB"/>
              </a:rPr>
              <a:t>BLE,</a:t>
            </a:r>
            <a:r>
              <a:rPr dirty="0" sz="1200" spc="-305">
                <a:latin typeface="SimSun-ExtB"/>
                <a:cs typeface="SimSun-ExtB"/>
              </a:rPr>
              <a:t> </a:t>
            </a:r>
            <a:r>
              <a:rPr dirty="0" sz="1200" spc="-60">
                <a:latin typeface="SimSun-ExtB"/>
                <a:cs typeface="SimSun-ExtB"/>
              </a:rPr>
              <a:t>low-</a:t>
            </a:r>
            <a:r>
              <a:rPr dirty="0" sz="1200">
                <a:latin typeface="SimSun-ExtB"/>
                <a:cs typeface="SimSun-ExtB"/>
              </a:rPr>
              <a:t>power</a:t>
            </a:r>
            <a:r>
              <a:rPr dirty="0" sz="1200" spc="-320">
                <a:latin typeface="SimSun-ExtB"/>
                <a:cs typeface="SimSun-ExtB"/>
              </a:rPr>
              <a:t> </a:t>
            </a:r>
            <a:r>
              <a:rPr dirty="0" sz="1200" spc="-75">
                <a:latin typeface="SimSun-ExtB"/>
                <a:cs typeface="SimSun-ExtB"/>
              </a:rPr>
              <a:t>sleep</a:t>
            </a:r>
            <a:r>
              <a:rPr dirty="0" sz="1200" spc="-320">
                <a:latin typeface="SimSun-ExtB"/>
                <a:cs typeface="SimSun-ExtB"/>
              </a:rPr>
              <a:t> </a:t>
            </a:r>
            <a:r>
              <a:rPr dirty="0" sz="1200" spc="55">
                <a:latin typeface="SimSun-ExtB"/>
                <a:cs typeface="SimSun-ExtB"/>
              </a:rPr>
              <a:t>modes</a:t>
            </a:r>
            <a:endParaRPr sz="1200">
              <a:latin typeface="SimSun-ExtB"/>
              <a:cs typeface="SimSun-ExtB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2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</a:pPr>
            <a:r>
              <a:rPr dirty="0"/>
              <a:t>MPU6050</a:t>
            </a:r>
            <a:r>
              <a:rPr dirty="0" spc="5"/>
              <a:t> </a:t>
            </a:r>
            <a:r>
              <a:rPr dirty="0" spc="95"/>
              <a:t>6-</a:t>
            </a:r>
            <a:r>
              <a:rPr dirty="0"/>
              <a:t>Axis</a:t>
            </a:r>
            <a:r>
              <a:rPr dirty="0" spc="20"/>
              <a:t> </a:t>
            </a:r>
            <a:r>
              <a:rPr dirty="0" spc="-25"/>
              <a:t>IMU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spc="-45">
                <a:latin typeface="SimSun-ExtB"/>
                <a:cs typeface="SimSun-ExtB"/>
              </a:rPr>
              <a:t>Accelerometer</a:t>
            </a:r>
            <a:r>
              <a:rPr dirty="0" sz="1200" spc="-355">
                <a:latin typeface="SimSun-ExtB"/>
                <a:cs typeface="SimSun-ExtB"/>
              </a:rPr>
              <a:t> </a:t>
            </a:r>
            <a:r>
              <a:rPr dirty="0" sz="1200" spc="-10">
                <a:latin typeface="SimSun-ExtB"/>
                <a:cs typeface="SimSun-ExtB"/>
              </a:rPr>
              <a:t>+</a:t>
            </a:r>
            <a:r>
              <a:rPr dirty="0" sz="1200" spc="-310">
                <a:latin typeface="SimSun-ExtB"/>
                <a:cs typeface="SimSun-ExtB"/>
              </a:rPr>
              <a:t> </a:t>
            </a:r>
            <a:r>
              <a:rPr dirty="0" sz="1200" spc="-35">
                <a:latin typeface="SimSun-ExtB"/>
                <a:cs typeface="SimSun-ExtB"/>
              </a:rPr>
              <a:t>gyroscope</a:t>
            </a:r>
            <a:r>
              <a:rPr dirty="0" sz="1200" spc="-340">
                <a:latin typeface="SimSun-ExtB"/>
                <a:cs typeface="SimSun-ExtB"/>
              </a:rPr>
              <a:t> </a:t>
            </a:r>
            <a:r>
              <a:rPr dirty="0" sz="1200" spc="-140">
                <a:latin typeface="SimSun-ExtB"/>
                <a:cs typeface="SimSun-ExtB"/>
              </a:rPr>
              <a:t>for</a:t>
            </a:r>
            <a:r>
              <a:rPr dirty="0" sz="1200" spc="-310">
                <a:latin typeface="SimSun-ExtB"/>
                <a:cs typeface="SimSun-ExtB"/>
              </a:rPr>
              <a:t> </a:t>
            </a:r>
            <a:r>
              <a:rPr dirty="0" sz="1200" spc="-25">
                <a:latin typeface="SimSun-ExtB"/>
                <a:cs typeface="SimSun-ExtB"/>
              </a:rPr>
              <a:t>impact</a:t>
            </a:r>
            <a:r>
              <a:rPr dirty="0" sz="1200" spc="-345">
                <a:latin typeface="SimSun-ExtB"/>
                <a:cs typeface="SimSun-ExtB"/>
              </a:rPr>
              <a:t> </a:t>
            </a:r>
            <a:r>
              <a:rPr dirty="0" sz="1200" spc="125">
                <a:latin typeface="SimSun-ExtB"/>
                <a:cs typeface="SimSun-ExtB"/>
              </a:rPr>
              <a:t>&amp;</a:t>
            </a:r>
            <a:r>
              <a:rPr dirty="0" sz="1200" spc="-325">
                <a:latin typeface="SimSun-ExtB"/>
                <a:cs typeface="SimSun-ExtB"/>
              </a:rPr>
              <a:t> </a:t>
            </a:r>
            <a:r>
              <a:rPr dirty="0" sz="1200" spc="-100">
                <a:latin typeface="SimSun-ExtB"/>
                <a:cs typeface="SimSun-ExtB"/>
              </a:rPr>
              <a:t>lean-</a:t>
            </a:r>
            <a:r>
              <a:rPr dirty="0" sz="1200" spc="-60">
                <a:latin typeface="SimSun-ExtB"/>
                <a:cs typeface="SimSun-ExtB"/>
              </a:rPr>
              <a:t>angle</a:t>
            </a:r>
            <a:r>
              <a:rPr dirty="0" sz="1200" spc="-325">
                <a:latin typeface="SimSun-ExtB"/>
                <a:cs typeface="SimSun-ExtB"/>
              </a:rPr>
              <a:t> </a:t>
            </a:r>
            <a:r>
              <a:rPr dirty="0" sz="1200" spc="-25">
                <a:latin typeface="SimSun-ExtB"/>
                <a:cs typeface="SimSun-ExtB"/>
              </a:rPr>
              <a:t>sensing</a:t>
            </a:r>
            <a:endParaRPr sz="1200">
              <a:latin typeface="SimSun-ExtB"/>
              <a:cs typeface="SimSun-ExtB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2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</a:pPr>
            <a:r>
              <a:rPr dirty="0"/>
              <a:t>NEO-6M</a:t>
            </a:r>
            <a:r>
              <a:rPr dirty="0" spc="185"/>
              <a:t> </a:t>
            </a:r>
            <a:r>
              <a:rPr dirty="0"/>
              <a:t>GPS</a:t>
            </a:r>
            <a:r>
              <a:rPr dirty="0" spc="140"/>
              <a:t> </a:t>
            </a:r>
            <a:r>
              <a:rPr dirty="0" spc="-10"/>
              <a:t>Module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spc="-114">
                <a:latin typeface="SimSun-ExtB"/>
                <a:cs typeface="SimSun-ExtB"/>
              </a:rPr>
              <a:t>±2.5m</a:t>
            </a:r>
            <a:r>
              <a:rPr dirty="0" sz="1200" spc="-320">
                <a:latin typeface="SimSun-ExtB"/>
                <a:cs typeface="SimSun-ExtB"/>
              </a:rPr>
              <a:t> </a:t>
            </a:r>
            <a:r>
              <a:rPr dirty="0" sz="1200" spc="-80">
                <a:latin typeface="SimSun-ExtB"/>
                <a:cs typeface="SimSun-ExtB"/>
              </a:rPr>
              <a:t>accuracy,</a:t>
            </a:r>
            <a:r>
              <a:rPr dirty="0" sz="1200" spc="-330">
                <a:latin typeface="SimSun-ExtB"/>
                <a:cs typeface="SimSun-ExtB"/>
              </a:rPr>
              <a:t> </a:t>
            </a:r>
            <a:r>
              <a:rPr dirty="0" sz="1200" spc="-60">
                <a:latin typeface="SimSun-ExtB"/>
                <a:cs typeface="SimSun-ExtB"/>
              </a:rPr>
              <a:t>cold</a:t>
            </a:r>
            <a:r>
              <a:rPr dirty="0" sz="1200" spc="-345">
                <a:latin typeface="SimSun-ExtB"/>
                <a:cs typeface="SimSun-ExtB"/>
              </a:rPr>
              <a:t> </a:t>
            </a:r>
            <a:r>
              <a:rPr dirty="0" sz="1200" spc="-145">
                <a:latin typeface="SimSun-ExtB"/>
                <a:cs typeface="SimSun-ExtB"/>
              </a:rPr>
              <a:t>start</a:t>
            </a:r>
            <a:r>
              <a:rPr dirty="0" sz="1200" spc="-355">
                <a:latin typeface="SimSun-ExtB"/>
                <a:cs typeface="SimSun-ExtB"/>
              </a:rPr>
              <a:t> </a:t>
            </a:r>
            <a:r>
              <a:rPr dirty="0" sz="1200" spc="-90">
                <a:latin typeface="SimSun-ExtB"/>
                <a:cs typeface="SimSun-ExtB"/>
              </a:rPr>
              <a:t>&lt;30s,</a:t>
            </a:r>
            <a:r>
              <a:rPr dirty="0" sz="1200" spc="-320">
                <a:latin typeface="SimSun-ExtB"/>
                <a:cs typeface="SimSun-ExtB"/>
              </a:rPr>
              <a:t> </a:t>
            </a:r>
            <a:r>
              <a:rPr dirty="0" sz="1200">
                <a:latin typeface="SimSun-ExtB"/>
                <a:cs typeface="SimSun-ExtB"/>
              </a:rPr>
              <a:t>100Hz</a:t>
            </a:r>
            <a:r>
              <a:rPr dirty="0" sz="1200" spc="-320">
                <a:latin typeface="SimSun-ExtB"/>
                <a:cs typeface="SimSun-ExtB"/>
              </a:rPr>
              <a:t> </a:t>
            </a:r>
            <a:r>
              <a:rPr dirty="0" sz="1200" spc="-10">
                <a:latin typeface="SimSun-ExtB"/>
                <a:cs typeface="SimSun-ExtB"/>
              </a:rPr>
              <a:t>sampling</a:t>
            </a:r>
            <a:endParaRPr sz="1200">
              <a:latin typeface="SimSun-ExtB"/>
              <a:cs typeface="SimSun-ExtB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2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</a:pPr>
            <a:r>
              <a:rPr dirty="0"/>
              <a:t>GSM</a:t>
            </a:r>
            <a:r>
              <a:rPr dirty="0" spc="20"/>
              <a:t> </a:t>
            </a:r>
            <a:r>
              <a:rPr dirty="0" spc="-20"/>
              <a:t>SIM800L</a:t>
            </a:r>
            <a:r>
              <a:rPr dirty="0" spc="25"/>
              <a:t> </a:t>
            </a:r>
            <a:r>
              <a:rPr dirty="0" spc="60"/>
              <a:t>/LTE</a:t>
            </a:r>
            <a:r>
              <a:rPr dirty="0" spc="15"/>
              <a:t> </a:t>
            </a:r>
            <a:r>
              <a:rPr dirty="0" spc="-10"/>
              <a:t>Uplink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spc="110">
                <a:latin typeface="SimSun-ExtB"/>
                <a:cs typeface="SimSun-ExtB"/>
              </a:rPr>
              <a:t>SMS</a:t>
            </a:r>
            <a:r>
              <a:rPr dirty="0" sz="1200" spc="-320">
                <a:latin typeface="SimSun-ExtB"/>
                <a:cs typeface="SimSun-ExtB"/>
              </a:rPr>
              <a:t> </a:t>
            </a:r>
            <a:r>
              <a:rPr dirty="0" sz="1200" spc="-10">
                <a:latin typeface="SimSun-ExtB"/>
                <a:cs typeface="SimSun-ExtB"/>
              </a:rPr>
              <a:t>+</a:t>
            </a:r>
            <a:r>
              <a:rPr dirty="0" sz="1200" spc="-315">
                <a:latin typeface="SimSun-ExtB"/>
                <a:cs typeface="SimSun-ExtB"/>
              </a:rPr>
              <a:t> </a:t>
            </a:r>
            <a:r>
              <a:rPr dirty="0" sz="1200" spc="-40">
                <a:latin typeface="SimSun-ExtB"/>
                <a:cs typeface="SimSun-ExtB"/>
              </a:rPr>
              <a:t>data</a:t>
            </a:r>
            <a:r>
              <a:rPr dirty="0" sz="1200" spc="-350">
                <a:latin typeface="SimSun-ExtB"/>
                <a:cs typeface="SimSun-ExtB"/>
              </a:rPr>
              <a:t> </a:t>
            </a:r>
            <a:r>
              <a:rPr dirty="0" sz="1200">
                <a:latin typeface="SimSun-ExtB"/>
                <a:cs typeface="SimSun-ExtB"/>
              </a:rPr>
              <a:t>emergency</a:t>
            </a:r>
            <a:r>
              <a:rPr dirty="0" sz="1200" spc="-325">
                <a:latin typeface="SimSun-ExtB"/>
                <a:cs typeface="SimSun-ExtB"/>
              </a:rPr>
              <a:t> </a:t>
            </a:r>
            <a:r>
              <a:rPr dirty="0" sz="1200" spc="-165">
                <a:latin typeface="SimSun-ExtB"/>
                <a:cs typeface="SimSun-ExtB"/>
              </a:rPr>
              <a:t>alerts,</a:t>
            </a:r>
            <a:r>
              <a:rPr dirty="0" sz="1200" spc="-340">
                <a:latin typeface="SimSun-ExtB"/>
                <a:cs typeface="SimSun-ExtB"/>
              </a:rPr>
              <a:t> </a:t>
            </a:r>
            <a:r>
              <a:rPr dirty="0" sz="1200">
                <a:latin typeface="SimSun-ExtB"/>
                <a:cs typeface="SimSun-ExtB"/>
              </a:rPr>
              <a:t>works</a:t>
            </a:r>
            <a:r>
              <a:rPr dirty="0" sz="1200" spc="-330">
                <a:latin typeface="SimSun-ExtB"/>
                <a:cs typeface="SimSun-ExtB"/>
              </a:rPr>
              <a:t> </a:t>
            </a:r>
            <a:r>
              <a:rPr dirty="0" sz="1200" spc="-50">
                <a:latin typeface="SimSun-ExtB"/>
                <a:cs typeface="SimSun-ExtB"/>
              </a:rPr>
              <a:t>without</a:t>
            </a:r>
            <a:r>
              <a:rPr dirty="0" sz="1200" spc="-345">
                <a:latin typeface="SimSun-ExtB"/>
                <a:cs typeface="SimSun-ExtB"/>
              </a:rPr>
              <a:t> </a:t>
            </a:r>
            <a:r>
              <a:rPr dirty="0" sz="1200" spc="-10">
                <a:latin typeface="SimSun-ExtB"/>
                <a:cs typeface="SimSun-ExtB"/>
              </a:rPr>
              <a:t>smartphone</a:t>
            </a:r>
            <a:endParaRPr sz="1200">
              <a:latin typeface="SimSun-ExtB"/>
              <a:cs typeface="SimSun-ExtB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12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</a:pPr>
            <a:r>
              <a:rPr dirty="0"/>
              <a:t>Li-Ion</a:t>
            </a:r>
            <a:r>
              <a:rPr dirty="0" spc="20"/>
              <a:t> </a:t>
            </a:r>
            <a:r>
              <a:rPr dirty="0" spc="-10"/>
              <a:t>2000mAh</a:t>
            </a:r>
            <a:r>
              <a:rPr dirty="0"/>
              <a:t> </a:t>
            </a:r>
            <a:r>
              <a:rPr dirty="0" spc="-190"/>
              <a:t>+</a:t>
            </a:r>
            <a:r>
              <a:rPr dirty="0" spc="45"/>
              <a:t> </a:t>
            </a:r>
            <a:r>
              <a:rPr dirty="0" spc="-10"/>
              <a:t>IP67</a:t>
            </a:r>
            <a:r>
              <a:rPr dirty="0" spc="15"/>
              <a:t> </a:t>
            </a:r>
            <a:r>
              <a:rPr dirty="0" spc="-10"/>
              <a:t>Housing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>
                <a:latin typeface="SimSun-ExtB"/>
                <a:cs typeface="SimSun-ExtB"/>
              </a:rPr>
              <a:t>Autonomous</a:t>
            </a:r>
            <a:r>
              <a:rPr dirty="0" sz="1200" spc="-204">
                <a:latin typeface="SimSun-ExtB"/>
                <a:cs typeface="SimSun-ExtB"/>
              </a:rPr>
              <a:t> </a:t>
            </a:r>
            <a:r>
              <a:rPr dirty="0" sz="1200" spc="-65">
                <a:latin typeface="SimSun-ExtB"/>
                <a:cs typeface="SimSun-ExtB"/>
              </a:rPr>
              <a:t>operation</a:t>
            </a:r>
            <a:r>
              <a:rPr dirty="0" sz="1200" spc="-229">
                <a:latin typeface="SimSun-ExtB"/>
                <a:cs typeface="SimSun-ExtB"/>
              </a:rPr>
              <a:t> </a:t>
            </a:r>
            <a:r>
              <a:rPr dirty="0" sz="1200" spc="-915">
                <a:latin typeface="SimSun-ExtB"/>
                <a:cs typeface="SimSun-ExtB"/>
              </a:rPr>
              <a:t>·</a:t>
            </a:r>
            <a:r>
              <a:rPr dirty="0" sz="1200" spc="-229">
                <a:latin typeface="SimSun-ExtB"/>
                <a:cs typeface="SimSun-ExtB"/>
              </a:rPr>
              <a:t> </a:t>
            </a:r>
            <a:r>
              <a:rPr dirty="0" sz="1200" spc="-210">
                <a:latin typeface="SimSun-ExtB"/>
                <a:cs typeface="SimSun-ExtB"/>
              </a:rPr>
              <a:t>all-</a:t>
            </a:r>
            <a:r>
              <a:rPr dirty="0" sz="1200" spc="-20">
                <a:latin typeface="SimSun-ExtB"/>
                <a:cs typeface="SimSun-ExtB"/>
              </a:rPr>
              <a:t>weather</a:t>
            </a:r>
            <a:r>
              <a:rPr dirty="0" sz="1200" spc="-260">
                <a:latin typeface="SimSun-ExtB"/>
                <a:cs typeface="SimSun-ExtB"/>
              </a:rPr>
              <a:t> </a:t>
            </a:r>
            <a:r>
              <a:rPr dirty="0" sz="1200" spc="-10">
                <a:latin typeface="SimSun-ExtB"/>
                <a:cs typeface="SimSun-ExtB"/>
              </a:rPr>
              <a:t>rated</a:t>
            </a:r>
            <a:endParaRPr sz="1200">
              <a:latin typeface="SimSun-ExtB"/>
              <a:cs typeface="SimSun-ExtB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759" y="1243598"/>
            <a:ext cx="172216" cy="25183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759" y="3766072"/>
            <a:ext cx="172216" cy="25183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154673" y="1261109"/>
            <a:ext cx="5414645" cy="4810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889C6"/>
                </a:solidFill>
                <a:latin typeface="Georgia"/>
                <a:cs typeface="Georgia"/>
              </a:rPr>
              <a:t>Future</a:t>
            </a:r>
            <a:r>
              <a:rPr dirty="0" sz="2000" spc="290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F889C6"/>
                </a:solidFill>
                <a:latin typeface="Georgia"/>
                <a:cs typeface="Georgia"/>
              </a:rPr>
              <a:t>Hardware</a:t>
            </a:r>
            <a:r>
              <a:rPr dirty="0" sz="2000" spc="32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F889C6"/>
                </a:solidFill>
                <a:latin typeface="Georgia"/>
                <a:cs typeface="Georgia"/>
              </a:rPr>
              <a:t>Enhancements</a:t>
            </a:r>
            <a:endParaRPr sz="2000">
              <a:latin typeface="Georgia"/>
              <a:cs typeface="Georgia"/>
            </a:endParaRPr>
          </a:p>
          <a:p>
            <a:pPr marL="203200">
              <a:lnSpc>
                <a:spcPct val="100000"/>
              </a:lnSpc>
              <a:spcBef>
                <a:spcPts val="1545"/>
              </a:spcBef>
            </a:pPr>
            <a:r>
              <a:rPr dirty="0" sz="1600">
                <a:solidFill>
                  <a:srgbClr val="F889C6"/>
                </a:solidFill>
                <a:latin typeface="Georgia"/>
                <a:cs typeface="Georgia"/>
              </a:rPr>
              <a:t>Edge</a:t>
            </a:r>
            <a:r>
              <a:rPr dirty="0" sz="1600" spc="170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600" spc="-10">
                <a:solidFill>
                  <a:srgbClr val="F889C6"/>
                </a:solidFill>
                <a:latin typeface="Georgia"/>
                <a:cs typeface="Georgia"/>
              </a:rPr>
              <a:t>Hardware</a:t>
            </a:r>
            <a:endParaRPr sz="1600">
              <a:latin typeface="Georgia"/>
              <a:cs typeface="Georgia"/>
            </a:endParaRPr>
          </a:p>
          <a:p>
            <a:pPr marL="203200">
              <a:lnSpc>
                <a:spcPct val="100000"/>
              </a:lnSpc>
              <a:spcBef>
                <a:spcPts val="1030"/>
              </a:spcBef>
            </a:pPr>
            <a:r>
              <a:rPr dirty="0" sz="1200" spc="-20" b="1">
                <a:solidFill>
                  <a:srgbClr val="D5E4EE"/>
                </a:solidFill>
                <a:latin typeface="Yu Gothic UI"/>
                <a:cs typeface="Yu Gothic UI"/>
              </a:rPr>
              <a:t>ESP8266</a:t>
            </a:r>
            <a:r>
              <a:rPr dirty="0" sz="1200" spc="-6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200" spc="-10">
                <a:solidFill>
                  <a:srgbClr val="D5E4EE"/>
                </a:solidFill>
                <a:latin typeface="SimSun-ExtB"/>
                <a:cs typeface="SimSun-ExtB"/>
              </a:rPr>
              <a:t>+</a:t>
            </a:r>
            <a:r>
              <a:rPr dirty="0" sz="120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70">
                <a:solidFill>
                  <a:srgbClr val="D5E4EE"/>
                </a:solidFill>
                <a:latin typeface="SimSun-ExtB"/>
                <a:cs typeface="SimSun-ExtB"/>
              </a:rPr>
              <a:t>MPU6050</a:t>
            </a:r>
            <a:r>
              <a:rPr dirty="0" sz="1200" spc="-33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165">
                <a:solidFill>
                  <a:srgbClr val="D5E4EE"/>
                </a:solidFill>
                <a:latin typeface="SimSun-ExtB"/>
                <a:cs typeface="SimSun-ExtB"/>
              </a:rPr>
              <a:t>(6-</a:t>
            </a:r>
            <a:r>
              <a:rPr dirty="0" sz="1200" spc="-125">
                <a:solidFill>
                  <a:srgbClr val="D5E4EE"/>
                </a:solidFill>
                <a:latin typeface="SimSun-ExtB"/>
                <a:cs typeface="SimSun-ExtB"/>
              </a:rPr>
              <a:t>axis</a:t>
            </a:r>
            <a:r>
              <a:rPr dirty="0" sz="120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25">
                <a:solidFill>
                  <a:srgbClr val="D5E4EE"/>
                </a:solidFill>
                <a:latin typeface="SimSun-ExtB"/>
                <a:cs typeface="SimSun-ExtB"/>
              </a:rPr>
              <a:t>IMU)</a:t>
            </a:r>
            <a:r>
              <a:rPr dirty="0" sz="120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10">
                <a:solidFill>
                  <a:srgbClr val="D5E4EE"/>
                </a:solidFill>
                <a:latin typeface="SimSun-ExtB"/>
                <a:cs typeface="SimSun-ExtB"/>
              </a:rPr>
              <a:t>+</a:t>
            </a:r>
            <a:r>
              <a:rPr dirty="0" sz="1200" spc="-3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>
                <a:solidFill>
                  <a:srgbClr val="D5E4EE"/>
                </a:solidFill>
                <a:latin typeface="SimSun-ExtB"/>
                <a:cs typeface="SimSun-ExtB"/>
              </a:rPr>
              <a:t>NEO-</a:t>
            </a:r>
            <a:r>
              <a:rPr dirty="0" sz="1200" spc="130">
                <a:solidFill>
                  <a:srgbClr val="D5E4EE"/>
                </a:solidFill>
                <a:latin typeface="SimSun-ExtB"/>
                <a:cs typeface="SimSun-ExtB"/>
              </a:rPr>
              <a:t>6M</a:t>
            </a:r>
            <a:r>
              <a:rPr dirty="0" sz="1200" spc="-3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80">
                <a:solidFill>
                  <a:srgbClr val="D5E4EE"/>
                </a:solidFill>
                <a:latin typeface="SimSun-ExtB"/>
                <a:cs typeface="SimSun-ExtB"/>
              </a:rPr>
              <a:t>GPS</a:t>
            </a:r>
            <a:r>
              <a:rPr dirty="0" sz="1200" spc="-3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80">
                <a:solidFill>
                  <a:srgbClr val="D5E4EE"/>
                </a:solidFill>
                <a:latin typeface="SimSun-ExtB"/>
                <a:cs typeface="SimSun-ExtB"/>
              </a:rPr>
              <a:t>@100Hz</a:t>
            </a:r>
            <a:r>
              <a:rPr dirty="0" sz="1200" spc="-31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65">
                <a:solidFill>
                  <a:srgbClr val="D5E4EE"/>
                </a:solidFill>
                <a:latin typeface="SimSun-ExtB"/>
                <a:cs typeface="SimSun-ExtB"/>
              </a:rPr>
              <a:t>sampling.</a:t>
            </a:r>
            <a:r>
              <a:rPr dirty="0" sz="1200" spc="-34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20">
                <a:solidFill>
                  <a:srgbClr val="D5E4EE"/>
                </a:solidFill>
                <a:latin typeface="SimSun-ExtB"/>
                <a:cs typeface="SimSun-ExtB"/>
              </a:rPr>
              <a:t>ESP32-</a:t>
            </a:r>
            <a:r>
              <a:rPr dirty="0" sz="1200" spc="130">
                <a:solidFill>
                  <a:srgbClr val="D5E4EE"/>
                </a:solidFill>
                <a:latin typeface="SimSun-ExtB"/>
                <a:cs typeface="SimSun-ExtB"/>
              </a:rPr>
              <a:t>CAM</a:t>
            </a:r>
            <a:r>
              <a:rPr dirty="0" sz="120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25">
                <a:solidFill>
                  <a:srgbClr val="D5E4EE"/>
                </a:solidFill>
                <a:latin typeface="SimSun-ExtB"/>
                <a:cs typeface="SimSun-ExtB"/>
              </a:rPr>
              <a:t>on</a:t>
            </a:r>
            <a:endParaRPr sz="1200">
              <a:latin typeface="SimSun-ExtB"/>
              <a:cs typeface="SimSun-ExtB"/>
            </a:endParaRPr>
          </a:p>
          <a:p>
            <a:pPr marL="203200">
              <a:lnSpc>
                <a:spcPct val="100000"/>
              </a:lnSpc>
              <a:spcBef>
                <a:spcPts val="25"/>
              </a:spcBef>
            </a:pPr>
            <a:r>
              <a:rPr dirty="0" sz="1200" spc="-30">
                <a:solidFill>
                  <a:srgbClr val="D5E4EE"/>
                </a:solidFill>
                <a:latin typeface="SimSun-ExtB"/>
                <a:cs typeface="SimSun-ExtB"/>
              </a:rPr>
              <a:t>standby</a:t>
            </a:r>
            <a:r>
              <a:rPr dirty="0" sz="1200" spc="-3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140">
                <a:solidFill>
                  <a:srgbClr val="D5E4EE"/>
                </a:solidFill>
                <a:latin typeface="SimSun-ExtB"/>
                <a:cs typeface="SimSun-ExtB"/>
              </a:rPr>
              <a:t>for</a:t>
            </a:r>
            <a:r>
              <a:rPr dirty="0" sz="1200" spc="-3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125">
                <a:solidFill>
                  <a:srgbClr val="D5E4EE"/>
                </a:solidFill>
                <a:latin typeface="SimSun-ExtB"/>
                <a:cs typeface="SimSun-ExtB"/>
              </a:rPr>
              <a:t>visual</a:t>
            </a:r>
            <a:r>
              <a:rPr dirty="0" sz="1200" spc="-3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45">
                <a:solidFill>
                  <a:srgbClr val="D5E4EE"/>
                </a:solidFill>
                <a:latin typeface="SimSun-ExtB"/>
                <a:cs typeface="SimSun-ExtB"/>
              </a:rPr>
              <a:t>evidence</a:t>
            </a:r>
            <a:r>
              <a:rPr dirty="0" sz="120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10">
                <a:solidFill>
                  <a:srgbClr val="D5E4EE"/>
                </a:solidFill>
                <a:latin typeface="SimSun-ExtB"/>
                <a:cs typeface="SimSun-ExtB"/>
              </a:rPr>
              <a:t>capture.</a:t>
            </a:r>
            <a:endParaRPr sz="1200">
              <a:latin typeface="SimSun-ExtB"/>
              <a:cs typeface="SimSun-ExtB"/>
            </a:endParaRPr>
          </a:p>
          <a:p>
            <a:pPr marL="203200">
              <a:lnSpc>
                <a:spcPct val="100000"/>
              </a:lnSpc>
              <a:spcBef>
                <a:spcPts val="455"/>
              </a:spcBef>
            </a:pPr>
            <a:r>
              <a:rPr dirty="0" sz="1600">
                <a:solidFill>
                  <a:srgbClr val="F889C6"/>
                </a:solidFill>
                <a:latin typeface="Georgia"/>
                <a:cs typeface="Georgia"/>
              </a:rPr>
              <a:t>Cloud</a:t>
            </a:r>
            <a:r>
              <a:rPr dirty="0" sz="1600" spc="21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600" spc="-20">
                <a:solidFill>
                  <a:srgbClr val="F889C6"/>
                </a:solidFill>
                <a:latin typeface="Georgia"/>
                <a:cs typeface="Georgia"/>
              </a:rPr>
              <a:t>Stack</a:t>
            </a:r>
            <a:endParaRPr sz="1600">
              <a:latin typeface="Georgia"/>
              <a:cs typeface="Georgia"/>
            </a:endParaRPr>
          </a:p>
          <a:p>
            <a:pPr marL="233679" marR="535940" indent="-30480">
              <a:lnSpc>
                <a:spcPct val="101699"/>
              </a:lnSpc>
              <a:spcBef>
                <a:spcPts val="315"/>
              </a:spcBef>
            </a:pPr>
            <a:r>
              <a:rPr dirty="0" sz="1200" spc="-70">
                <a:solidFill>
                  <a:srgbClr val="D5E4EE"/>
                </a:solidFill>
                <a:latin typeface="SimSun-ExtB"/>
                <a:cs typeface="SimSun-ExtB"/>
              </a:rPr>
              <a:t>Node.js/Express</a:t>
            </a:r>
            <a:r>
              <a:rPr dirty="0" sz="1200" spc="-3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30">
                <a:solidFill>
                  <a:srgbClr val="D5E4EE"/>
                </a:solidFill>
                <a:latin typeface="SimSun-ExtB"/>
                <a:cs typeface="SimSun-ExtB"/>
              </a:rPr>
              <a:t>hosted</a:t>
            </a:r>
            <a:r>
              <a:rPr dirty="0" sz="120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>
                <a:solidFill>
                  <a:srgbClr val="D5E4EE"/>
                </a:solidFill>
                <a:latin typeface="SimSun-ExtB"/>
                <a:cs typeface="SimSun-ExtB"/>
              </a:rPr>
              <a:t>on</a:t>
            </a:r>
            <a:r>
              <a:rPr dirty="0" sz="1200" spc="-2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50">
                <a:solidFill>
                  <a:srgbClr val="D5E4EE"/>
                </a:solidFill>
                <a:latin typeface="SimSun-ExtB"/>
                <a:cs typeface="SimSun-ExtB"/>
              </a:rPr>
              <a:t>Render.</a:t>
            </a:r>
            <a:r>
              <a:rPr dirty="0" sz="1200" spc="-3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80" b="1">
                <a:solidFill>
                  <a:srgbClr val="D5E4EE"/>
                </a:solidFill>
                <a:latin typeface="Yu Gothic UI"/>
                <a:cs typeface="Yu Gothic UI"/>
              </a:rPr>
              <a:t>MongoDB</a:t>
            </a:r>
            <a:r>
              <a:rPr dirty="0" sz="1200" spc="-50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200" spc="-20" b="1">
                <a:solidFill>
                  <a:srgbClr val="D5E4EE"/>
                </a:solidFill>
                <a:latin typeface="Yu Gothic UI"/>
                <a:cs typeface="Yu Gothic UI"/>
              </a:rPr>
              <a:t>Atlas</a:t>
            </a:r>
            <a:r>
              <a:rPr dirty="0" sz="1200" spc="-2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200" spc="-140">
                <a:solidFill>
                  <a:srgbClr val="D5E4EE"/>
                </a:solidFill>
                <a:latin typeface="SimSun-ExtB"/>
                <a:cs typeface="SimSun-ExtB"/>
              </a:rPr>
              <a:t>for</a:t>
            </a:r>
            <a:r>
              <a:rPr dirty="0" sz="1200" spc="-2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70">
                <a:solidFill>
                  <a:srgbClr val="D5E4EE"/>
                </a:solidFill>
                <a:latin typeface="SimSun-ExtB"/>
                <a:cs typeface="SimSun-ExtB"/>
              </a:rPr>
              <a:t>telemetry</a:t>
            </a:r>
            <a:r>
              <a:rPr dirty="0" sz="1200" spc="-33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70">
                <a:solidFill>
                  <a:srgbClr val="D5E4EE"/>
                </a:solidFill>
                <a:latin typeface="SimSun-ExtB"/>
                <a:cs typeface="SimSun-ExtB"/>
              </a:rPr>
              <a:t>storage. </a:t>
            </a:r>
            <a:r>
              <a:rPr dirty="0" sz="1200" spc="-60">
                <a:solidFill>
                  <a:srgbClr val="D5E4EE"/>
                </a:solidFill>
                <a:latin typeface="SimSun-ExtB"/>
                <a:cs typeface="SimSun-ExtB"/>
              </a:rPr>
              <a:t>Cloudinary</a:t>
            </a:r>
            <a:r>
              <a:rPr dirty="0" sz="1200" spc="-35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130">
                <a:solidFill>
                  <a:srgbClr val="D5E4EE"/>
                </a:solidFill>
                <a:latin typeface="SimSun-ExtB"/>
                <a:cs typeface="SimSun-ExtB"/>
              </a:rPr>
              <a:t>CDN</a:t>
            </a:r>
            <a:r>
              <a:rPr dirty="0" sz="1200" spc="-33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140">
                <a:solidFill>
                  <a:srgbClr val="D5E4EE"/>
                </a:solidFill>
                <a:latin typeface="SimSun-ExtB"/>
                <a:cs typeface="SimSun-ExtB"/>
              </a:rPr>
              <a:t>for</a:t>
            </a:r>
            <a:r>
              <a:rPr dirty="0" sz="1200" spc="-3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65">
                <a:solidFill>
                  <a:srgbClr val="D5E4EE"/>
                </a:solidFill>
                <a:latin typeface="SimSun-ExtB"/>
                <a:cs typeface="SimSun-ExtB"/>
              </a:rPr>
              <a:t>crash</a:t>
            </a:r>
            <a:r>
              <a:rPr dirty="0" sz="1200" spc="-3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60">
                <a:solidFill>
                  <a:srgbClr val="D5E4EE"/>
                </a:solidFill>
                <a:latin typeface="SimSun-ExtB"/>
                <a:cs typeface="SimSun-ExtB"/>
              </a:rPr>
              <a:t>footage</a:t>
            </a:r>
            <a:r>
              <a:rPr dirty="0" sz="120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10">
                <a:solidFill>
                  <a:srgbClr val="D5E4EE"/>
                </a:solidFill>
                <a:latin typeface="SimSun-ExtB"/>
                <a:cs typeface="SimSun-ExtB"/>
              </a:rPr>
              <a:t>delivery.</a:t>
            </a:r>
            <a:endParaRPr sz="1200">
              <a:latin typeface="SimSun-ExtB"/>
              <a:cs typeface="SimSun-ExtB"/>
            </a:endParaRPr>
          </a:p>
          <a:p>
            <a:pPr marL="203200">
              <a:lnSpc>
                <a:spcPct val="100000"/>
              </a:lnSpc>
              <a:spcBef>
                <a:spcPts val="434"/>
              </a:spcBef>
            </a:pPr>
            <a:r>
              <a:rPr dirty="0" sz="1600">
                <a:solidFill>
                  <a:srgbClr val="F889C6"/>
                </a:solidFill>
                <a:latin typeface="Georgia"/>
                <a:cs typeface="Georgia"/>
              </a:rPr>
              <a:t>Block</a:t>
            </a:r>
            <a:r>
              <a:rPr dirty="0" sz="1600" spc="14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600" spc="-20">
                <a:solidFill>
                  <a:srgbClr val="F889C6"/>
                </a:solidFill>
                <a:latin typeface="Georgia"/>
                <a:cs typeface="Georgia"/>
              </a:rPr>
              <a:t>Chain</a:t>
            </a:r>
            <a:endParaRPr sz="1600">
              <a:latin typeface="Georgia"/>
              <a:cs typeface="Georgia"/>
            </a:endParaRPr>
          </a:p>
          <a:p>
            <a:pPr marL="203200">
              <a:lnSpc>
                <a:spcPct val="100000"/>
              </a:lnSpc>
              <a:spcBef>
                <a:spcPts val="370"/>
              </a:spcBef>
            </a:pPr>
            <a:r>
              <a:rPr dirty="0" sz="1200" spc="-50">
                <a:solidFill>
                  <a:srgbClr val="D5E4EE"/>
                </a:solidFill>
                <a:latin typeface="SimSun-ExtB"/>
                <a:cs typeface="SimSun-ExtB"/>
              </a:rPr>
              <a:t>Block</a:t>
            </a:r>
            <a:r>
              <a:rPr dirty="0" sz="1200" spc="-34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60">
                <a:solidFill>
                  <a:srgbClr val="D5E4EE"/>
                </a:solidFill>
                <a:latin typeface="SimSun-ExtB"/>
                <a:cs typeface="SimSun-ExtB"/>
              </a:rPr>
              <a:t>chain</a:t>
            </a:r>
            <a:r>
              <a:rPr dirty="0" sz="1200" spc="-31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90">
                <a:solidFill>
                  <a:srgbClr val="D5E4EE"/>
                </a:solidFill>
                <a:latin typeface="SimSun-ExtB"/>
                <a:cs typeface="SimSun-ExtB"/>
              </a:rPr>
              <a:t>Services</a:t>
            </a:r>
            <a:r>
              <a:rPr dirty="0" sz="1200" spc="-3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140">
                <a:solidFill>
                  <a:srgbClr val="D5E4EE"/>
                </a:solidFill>
                <a:latin typeface="SimSun-ExtB"/>
                <a:cs typeface="SimSun-ExtB"/>
              </a:rPr>
              <a:t>for</a:t>
            </a:r>
            <a:r>
              <a:rPr dirty="0" sz="120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60">
                <a:solidFill>
                  <a:srgbClr val="D5E4EE"/>
                </a:solidFill>
                <a:latin typeface="SimSun-ExtB"/>
                <a:cs typeface="SimSun-ExtB"/>
              </a:rPr>
              <a:t>the</a:t>
            </a:r>
            <a:r>
              <a:rPr dirty="0" sz="1200" spc="-31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70">
                <a:solidFill>
                  <a:srgbClr val="D5E4EE"/>
                </a:solidFill>
                <a:latin typeface="SimSun-ExtB"/>
                <a:cs typeface="SimSun-ExtB"/>
              </a:rPr>
              <a:t>telemetry</a:t>
            </a:r>
            <a:r>
              <a:rPr dirty="0" sz="1200" spc="-3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85">
                <a:solidFill>
                  <a:srgbClr val="D5E4EE"/>
                </a:solidFill>
                <a:latin typeface="SimSun-ExtB"/>
                <a:cs typeface="SimSun-ExtB"/>
              </a:rPr>
              <a:t>report</a:t>
            </a:r>
            <a:r>
              <a:rPr dirty="0" sz="1200" spc="-3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>
                <a:solidFill>
                  <a:srgbClr val="D5E4EE"/>
                </a:solidFill>
                <a:latin typeface="SimSun-ExtB"/>
                <a:cs typeface="SimSun-ExtB"/>
              </a:rPr>
              <a:t>on</a:t>
            </a:r>
            <a:r>
              <a:rPr dirty="0" sz="1200" spc="-31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65">
                <a:solidFill>
                  <a:srgbClr val="D5E4EE"/>
                </a:solidFill>
                <a:latin typeface="SimSun-ExtB"/>
                <a:cs typeface="SimSun-ExtB"/>
              </a:rPr>
              <a:t>insurance</a:t>
            </a:r>
            <a:r>
              <a:rPr dirty="0" sz="120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65">
                <a:solidFill>
                  <a:srgbClr val="D5E4EE"/>
                </a:solidFill>
                <a:latin typeface="SimSun-ExtB"/>
                <a:cs typeface="SimSun-ExtB"/>
              </a:rPr>
              <a:t>company</a:t>
            </a:r>
            <a:r>
              <a:rPr dirty="0" sz="1200" spc="-3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10">
                <a:solidFill>
                  <a:srgbClr val="D5E4EE"/>
                </a:solidFill>
                <a:latin typeface="SimSun-ExtB"/>
                <a:cs typeface="SimSun-ExtB"/>
              </a:rPr>
              <a:t>portal.</a:t>
            </a:r>
            <a:endParaRPr sz="1200">
              <a:latin typeface="SimSun-ExtB"/>
              <a:cs typeface="SimSun-ExtB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12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F889C6"/>
                </a:solidFill>
                <a:latin typeface="Georgia"/>
                <a:cs typeface="Georgia"/>
              </a:rPr>
              <a:t>Calibration</a:t>
            </a:r>
            <a:r>
              <a:rPr dirty="0" sz="2000" spc="210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2000" spc="-240">
                <a:solidFill>
                  <a:srgbClr val="F889C6"/>
                </a:solidFill>
                <a:latin typeface="Georgia"/>
                <a:cs typeface="Georgia"/>
              </a:rPr>
              <a:t>+</a:t>
            </a:r>
            <a:r>
              <a:rPr dirty="0" sz="2000" spc="22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F889C6"/>
                </a:solidFill>
                <a:latin typeface="Georgia"/>
                <a:cs typeface="Georgia"/>
              </a:rPr>
              <a:t>Installation</a:t>
            </a:r>
            <a:r>
              <a:rPr dirty="0" sz="2000" spc="229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2000" spc="45">
                <a:solidFill>
                  <a:srgbClr val="F889C6"/>
                </a:solidFill>
                <a:latin typeface="Georgia"/>
                <a:cs typeface="Georgia"/>
              </a:rPr>
              <a:t>Steps</a:t>
            </a:r>
            <a:endParaRPr sz="2000">
              <a:latin typeface="Georgia"/>
              <a:cs typeface="Georgia"/>
            </a:endParaRPr>
          </a:p>
          <a:p>
            <a:pPr marL="164465" indent="-158750">
              <a:lnSpc>
                <a:spcPct val="100000"/>
              </a:lnSpc>
              <a:spcBef>
                <a:spcPts val="1150"/>
              </a:spcBef>
              <a:buSzPct val="71875"/>
              <a:buChar char="•"/>
              <a:tabLst>
                <a:tab pos="164465" algn="l"/>
              </a:tabLst>
            </a:pPr>
            <a:r>
              <a:rPr dirty="0" sz="1600" spc="55">
                <a:solidFill>
                  <a:srgbClr val="D5E4EE"/>
                </a:solidFill>
                <a:latin typeface="SimSun-ExtB"/>
                <a:cs typeface="SimSun-ExtB"/>
              </a:rPr>
              <a:t>Mount</a:t>
            </a:r>
            <a:r>
              <a:rPr dirty="0" sz="1600" spc="-46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145">
                <a:solidFill>
                  <a:srgbClr val="D5E4EE"/>
                </a:solidFill>
                <a:latin typeface="SimSun-ExtB"/>
                <a:cs typeface="SimSun-ExtB"/>
              </a:rPr>
              <a:t>unit</a:t>
            </a:r>
            <a:r>
              <a:rPr dirty="0" sz="1600" spc="-459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60">
                <a:solidFill>
                  <a:srgbClr val="D5E4EE"/>
                </a:solidFill>
                <a:latin typeface="SimSun-ExtB"/>
                <a:cs typeface="SimSun-ExtB"/>
              </a:rPr>
              <a:t>on</a:t>
            </a:r>
            <a:r>
              <a:rPr dirty="0" sz="1600" spc="-46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SimSun-ExtB"/>
                <a:cs typeface="SimSun-ExtB"/>
              </a:rPr>
              <a:t>frame</a:t>
            </a:r>
            <a:endParaRPr sz="1600">
              <a:latin typeface="SimSun-ExtB"/>
              <a:cs typeface="SimSun-ExtB"/>
            </a:endParaRPr>
          </a:p>
          <a:p>
            <a:pPr marL="164465" indent="-158750">
              <a:lnSpc>
                <a:spcPct val="100000"/>
              </a:lnSpc>
              <a:buSzPct val="71875"/>
              <a:buChar char="•"/>
              <a:tabLst>
                <a:tab pos="164465" algn="l"/>
              </a:tabLst>
            </a:pPr>
            <a:r>
              <a:rPr dirty="0" sz="1600" spc="-40">
                <a:solidFill>
                  <a:srgbClr val="D5E4EE"/>
                </a:solidFill>
                <a:latin typeface="SimSun-ExtB"/>
                <a:cs typeface="SimSun-ExtB"/>
              </a:rPr>
              <a:t>Zero</a:t>
            </a:r>
            <a:r>
              <a:rPr dirty="0" sz="1600" spc="-48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60">
                <a:solidFill>
                  <a:srgbClr val="D5E4EE"/>
                </a:solidFill>
                <a:latin typeface="SimSun-ExtB"/>
                <a:cs typeface="SimSun-ExtB"/>
              </a:rPr>
              <a:t>IMU</a:t>
            </a:r>
            <a:r>
              <a:rPr dirty="0" sz="1600" spc="-459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SimSun-ExtB"/>
                <a:cs typeface="SimSun-ExtB"/>
              </a:rPr>
              <a:t>baseline</a:t>
            </a:r>
            <a:endParaRPr sz="1600">
              <a:latin typeface="SimSun-ExtB"/>
              <a:cs typeface="SimSun-ExtB"/>
            </a:endParaRPr>
          </a:p>
          <a:p>
            <a:pPr marL="164465" indent="-158750">
              <a:lnSpc>
                <a:spcPct val="100000"/>
              </a:lnSpc>
              <a:buSzPct val="71875"/>
              <a:buChar char="•"/>
              <a:tabLst>
                <a:tab pos="164465" algn="l"/>
              </a:tabLst>
            </a:pPr>
            <a:r>
              <a:rPr dirty="0" sz="1600" spc="-80">
                <a:solidFill>
                  <a:srgbClr val="D5E4EE"/>
                </a:solidFill>
                <a:latin typeface="SimSun-ExtB"/>
                <a:cs typeface="SimSun-ExtB"/>
              </a:rPr>
              <a:t>Set</a:t>
            </a:r>
            <a:r>
              <a:rPr dirty="0" sz="1600" spc="-48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95">
                <a:solidFill>
                  <a:srgbClr val="D5E4EE"/>
                </a:solidFill>
                <a:latin typeface="SimSun-ExtB"/>
                <a:cs typeface="SimSun-ExtB"/>
              </a:rPr>
              <a:t>lean</a:t>
            </a:r>
            <a:r>
              <a:rPr dirty="0" sz="1600" spc="-4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SimSun-ExtB"/>
                <a:cs typeface="SimSun-ExtB"/>
              </a:rPr>
              <a:t>thresholds</a:t>
            </a:r>
            <a:endParaRPr sz="1600">
              <a:latin typeface="SimSun-ExtB"/>
              <a:cs typeface="SimSun-ExtB"/>
            </a:endParaRPr>
          </a:p>
          <a:p>
            <a:pPr marL="164465" indent="-158750">
              <a:lnSpc>
                <a:spcPct val="100000"/>
              </a:lnSpc>
              <a:buSzPct val="71875"/>
              <a:buChar char="•"/>
              <a:tabLst>
                <a:tab pos="164465" algn="l"/>
              </a:tabLst>
            </a:pPr>
            <a:r>
              <a:rPr dirty="0" sz="1600" spc="80">
                <a:solidFill>
                  <a:srgbClr val="D5E4EE"/>
                </a:solidFill>
                <a:latin typeface="SimSun-ExtB"/>
                <a:cs typeface="SimSun-ExtB"/>
              </a:rPr>
              <a:t>Run</a:t>
            </a:r>
            <a:r>
              <a:rPr dirty="0" sz="1600" spc="-4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30">
                <a:solidFill>
                  <a:srgbClr val="D5E4EE"/>
                </a:solidFill>
                <a:latin typeface="SimSun-ExtB"/>
                <a:cs typeface="SimSun-ExtB"/>
              </a:rPr>
              <a:t>impact</a:t>
            </a:r>
            <a:r>
              <a:rPr dirty="0" sz="1600" spc="-459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SimSun-ExtB"/>
                <a:cs typeface="SimSun-ExtB"/>
              </a:rPr>
              <a:t>check</a:t>
            </a:r>
            <a:endParaRPr sz="1600">
              <a:latin typeface="SimSun-ExtB"/>
              <a:cs typeface="SimSun-ExtB"/>
            </a:endParaRPr>
          </a:p>
          <a:p>
            <a:pPr marL="164465" indent="-158750">
              <a:lnSpc>
                <a:spcPct val="100000"/>
              </a:lnSpc>
              <a:buSzPct val="71875"/>
              <a:buChar char="•"/>
              <a:tabLst>
                <a:tab pos="164465" algn="l"/>
              </a:tabLst>
            </a:pPr>
            <a:r>
              <a:rPr dirty="0" sz="1600" spc="-135">
                <a:solidFill>
                  <a:srgbClr val="D5E4EE"/>
                </a:solidFill>
                <a:latin typeface="SimSun-ExtB"/>
                <a:cs typeface="SimSun-ExtB"/>
              </a:rPr>
              <a:t>Trigger</a:t>
            </a:r>
            <a:r>
              <a:rPr dirty="0" sz="1600" spc="-4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175">
                <a:solidFill>
                  <a:srgbClr val="D5E4EE"/>
                </a:solidFill>
                <a:latin typeface="SimSun-ExtB"/>
                <a:cs typeface="SimSun-ExtB"/>
              </a:rPr>
              <a:t>test</a:t>
            </a:r>
            <a:r>
              <a:rPr dirty="0" sz="1600" spc="-43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20">
                <a:solidFill>
                  <a:srgbClr val="D5E4EE"/>
                </a:solidFill>
                <a:latin typeface="SimSun-ExtB"/>
                <a:cs typeface="SimSun-ExtB"/>
              </a:rPr>
              <a:t>alert</a:t>
            </a:r>
            <a:endParaRPr sz="1600">
              <a:latin typeface="SimSun-ExtB"/>
              <a:cs typeface="SimSun-ExtB"/>
            </a:endParaRPr>
          </a:p>
          <a:p>
            <a:pPr marL="164465" indent="-158750">
              <a:lnSpc>
                <a:spcPct val="100000"/>
              </a:lnSpc>
              <a:buSzPct val="71875"/>
              <a:buChar char="•"/>
              <a:tabLst>
                <a:tab pos="164465" algn="l"/>
              </a:tabLst>
            </a:pPr>
            <a:r>
              <a:rPr dirty="0" sz="1600" spc="-185">
                <a:solidFill>
                  <a:srgbClr val="D5E4EE"/>
                </a:solidFill>
                <a:latin typeface="SimSun-ExtB"/>
                <a:cs typeface="SimSun-ExtB"/>
              </a:rPr>
              <a:t>Verify</a:t>
            </a:r>
            <a:r>
              <a:rPr dirty="0" sz="1600" spc="-43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65">
                <a:solidFill>
                  <a:srgbClr val="D5E4EE"/>
                </a:solidFill>
                <a:latin typeface="SimSun-ExtB"/>
                <a:cs typeface="SimSun-ExtB"/>
              </a:rPr>
              <a:t>cloud</a:t>
            </a:r>
            <a:r>
              <a:rPr dirty="0" sz="1600" spc="-4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SimSun-ExtB"/>
                <a:cs typeface="SimSun-ExtB"/>
              </a:rPr>
              <a:t>receipt</a:t>
            </a:r>
            <a:endParaRPr sz="1600">
              <a:latin typeface="SimSun-ExtB"/>
              <a:cs typeface="SimSun-ExtB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31525" y="6378797"/>
            <a:ext cx="1217295" cy="436245"/>
            <a:chOff x="10931525" y="6378797"/>
            <a:chExt cx="1217295" cy="436245"/>
          </a:xfrm>
        </p:grpSpPr>
        <p:sp>
          <p:nvSpPr>
            <p:cNvPr id="3" name="object 3"/>
            <p:cNvSpPr/>
            <p:nvPr/>
          </p:nvSpPr>
          <p:spPr>
            <a:xfrm>
              <a:off x="10937875" y="6385147"/>
              <a:ext cx="1175385" cy="389890"/>
            </a:xfrm>
            <a:custGeom>
              <a:avLst/>
              <a:gdLst/>
              <a:ahLst/>
              <a:cxnLst/>
              <a:rect l="l" t="t" r="r" b="b"/>
              <a:pathLst>
                <a:path w="1175384" h="389890">
                  <a:moveTo>
                    <a:pt x="1175232" y="0"/>
                  </a:moveTo>
                  <a:lnTo>
                    <a:pt x="0" y="0"/>
                  </a:lnTo>
                  <a:lnTo>
                    <a:pt x="0" y="389585"/>
                  </a:lnTo>
                  <a:lnTo>
                    <a:pt x="1175232" y="389585"/>
                  </a:lnTo>
                  <a:lnTo>
                    <a:pt x="1175232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937875" y="6385147"/>
              <a:ext cx="1175385" cy="389890"/>
            </a:xfrm>
            <a:custGeom>
              <a:avLst/>
              <a:gdLst/>
              <a:ahLst/>
              <a:cxnLst/>
              <a:rect l="l" t="t" r="r" b="b"/>
              <a:pathLst>
                <a:path w="1175384" h="389890">
                  <a:moveTo>
                    <a:pt x="0" y="389585"/>
                  </a:moveTo>
                  <a:lnTo>
                    <a:pt x="1175232" y="389585"/>
                  </a:lnTo>
                  <a:lnTo>
                    <a:pt x="1175232" y="0"/>
                  </a:lnTo>
                  <a:lnTo>
                    <a:pt x="0" y="0"/>
                  </a:lnTo>
                  <a:lnTo>
                    <a:pt x="0" y="389585"/>
                  </a:lnTo>
                  <a:close/>
                </a:path>
              </a:pathLst>
            </a:custGeom>
            <a:ln w="12699">
              <a:solidFill>
                <a:srgbClr val="2428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85596" y="702309"/>
            <a:ext cx="966914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Pillars</a:t>
            </a:r>
            <a:r>
              <a:rPr dirty="0" sz="3200" spc="-5"/>
              <a:t> </a:t>
            </a:r>
            <a:r>
              <a:rPr dirty="0" sz="3200"/>
              <a:t>01</a:t>
            </a:r>
            <a:r>
              <a:rPr dirty="0" sz="3200" spc="25"/>
              <a:t> </a:t>
            </a:r>
            <a:r>
              <a:rPr dirty="0" sz="3200"/>
              <a:t>&amp;</a:t>
            </a:r>
            <a:r>
              <a:rPr dirty="0" sz="3200" spc="40"/>
              <a:t> </a:t>
            </a:r>
            <a:r>
              <a:rPr dirty="0" sz="3200" spc="-10"/>
              <a:t>02:</a:t>
            </a:r>
            <a:r>
              <a:rPr dirty="0" sz="3200" spc="15"/>
              <a:t> </a:t>
            </a:r>
            <a:r>
              <a:rPr dirty="0" sz="3200"/>
              <a:t>Trip</a:t>
            </a:r>
            <a:r>
              <a:rPr dirty="0" sz="3200" spc="40"/>
              <a:t> </a:t>
            </a:r>
            <a:r>
              <a:rPr dirty="0" sz="3200" spc="65"/>
              <a:t>Report</a:t>
            </a:r>
            <a:r>
              <a:rPr dirty="0" sz="3200" spc="40"/>
              <a:t> </a:t>
            </a:r>
            <a:r>
              <a:rPr dirty="0" sz="3200" spc="-375"/>
              <a:t>+</a:t>
            </a:r>
            <a:r>
              <a:rPr dirty="0" sz="3200" spc="55"/>
              <a:t> </a:t>
            </a:r>
            <a:r>
              <a:rPr dirty="0" sz="3200" spc="95"/>
              <a:t>Emergency</a:t>
            </a:r>
            <a:r>
              <a:rPr dirty="0" sz="3200" spc="5"/>
              <a:t> </a:t>
            </a:r>
            <a:r>
              <a:rPr dirty="0" sz="3200" spc="40"/>
              <a:t>Escalation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685596" y="1611248"/>
            <a:ext cx="2785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>
                <a:solidFill>
                  <a:srgbClr val="FF6B35"/>
                </a:solidFill>
                <a:latin typeface="Georgia"/>
                <a:cs typeface="Georgia"/>
              </a:rPr>
              <a:t>Tiered</a:t>
            </a:r>
            <a:r>
              <a:rPr dirty="0" sz="1600" spc="310">
                <a:solidFill>
                  <a:srgbClr val="FF6B35"/>
                </a:solidFill>
                <a:latin typeface="Georgia"/>
                <a:cs typeface="Georgia"/>
              </a:rPr>
              <a:t> </a:t>
            </a:r>
            <a:r>
              <a:rPr dirty="0" sz="1600" spc="10">
                <a:solidFill>
                  <a:srgbClr val="FF6B35"/>
                </a:solidFill>
                <a:latin typeface="Georgia"/>
                <a:cs typeface="Georgia"/>
              </a:rPr>
              <a:t>Emergency</a:t>
            </a:r>
            <a:r>
              <a:rPr dirty="0" sz="1600" spc="280">
                <a:solidFill>
                  <a:srgbClr val="FF6B35"/>
                </a:solidFill>
                <a:latin typeface="Georgia"/>
                <a:cs typeface="Georgia"/>
              </a:rPr>
              <a:t> </a:t>
            </a:r>
            <a:r>
              <a:rPr dirty="0" sz="1600" spc="-10">
                <a:solidFill>
                  <a:srgbClr val="FF6B35"/>
                </a:solidFill>
                <a:latin typeface="Georgia"/>
                <a:cs typeface="Georgia"/>
              </a:rPr>
              <a:t>Escalation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8080" y="2064130"/>
            <a:ext cx="393065" cy="393065"/>
          </a:xfrm>
          <a:custGeom>
            <a:avLst/>
            <a:gdLst/>
            <a:ahLst/>
            <a:cxnLst/>
            <a:rect l="l" t="t" r="r" b="b"/>
            <a:pathLst>
              <a:path w="393065" h="393064">
                <a:moveTo>
                  <a:pt x="366522" y="0"/>
                </a:moveTo>
                <a:lnTo>
                  <a:pt x="26187" y="0"/>
                </a:lnTo>
                <a:lnTo>
                  <a:pt x="15993" y="2051"/>
                </a:lnTo>
                <a:lnTo>
                  <a:pt x="7669" y="7651"/>
                </a:lnTo>
                <a:lnTo>
                  <a:pt x="2057" y="15966"/>
                </a:lnTo>
                <a:lnTo>
                  <a:pt x="0" y="26162"/>
                </a:lnTo>
                <a:lnTo>
                  <a:pt x="0" y="366522"/>
                </a:lnTo>
                <a:lnTo>
                  <a:pt x="2057" y="376717"/>
                </a:lnTo>
                <a:lnTo>
                  <a:pt x="7669" y="385032"/>
                </a:lnTo>
                <a:lnTo>
                  <a:pt x="15993" y="390632"/>
                </a:lnTo>
                <a:lnTo>
                  <a:pt x="26187" y="392684"/>
                </a:lnTo>
                <a:lnTo>
                  <a:pt x="366522" y="392684"/>
                </a:lnTo>
                <a:lnTo>
                  <a:pt x="376716" y="390632"/>
                </a:lnTo>
                <a:lnTo>
                  <a:pt x="385040" y="385032"/>
                </a:lnTo>
                <a:lnTo>
                  <a:pt x="390651" y="376717"/>
                </a:lnTo>
                <a:lnTo>
                  <a:pt x="392709" y="366522"/>
                </a:lnTo>
                <a:lnTo>
                  <a:pt x="392709" y="26162"/>
                </a:lnTo>
                <a:lnTo>
                  <a:pt x="390651" y="15966"/>
                </a:lnTo>
                <a:lnTo>
                  <a:pt x="385040" y="7651"/>
                </a:lnTo>
                <a:lnTo>
                  <a:pt x="376716" y="2051"/>
                </a:lnTo>
                <a:lnTo>
                  <a:pt x="366522" y="0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36472" y="2088261"/>
            <a:ext cx="113664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75">
                <a:solidFill>
                  <a:srgbClr val="D5E4EE"/>
                </a:solidFill>
                <a:latin typeface="Georgia"/>
                <a:cs typeface="Georgia"/>
              </a:rPr>
              <a:t>1</a:t>
            </a:r>
            <a:endParaRPr sz="19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0883" y="2099563"/>
            <a:ext cx="3532504" cy="672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Tier</a:t>
            </a:r>
            <a:r>
              <a:rPr dirty="0" sz="1600" spc="7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0</a:t>
            </a:r>
            <a:r>
              <a:rPr dirty="0" sz="1600" spc="9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—</a:t>
            </a:r>
            <a:r>
              <a:rPr dirty="0" sz="1600" spc="9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30s</a:t>
            </a:r>
            <a:r>
              <a:rPr dirty="0" sz="1600" spc="7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Local</a:t>
            </a:r>
            <a:r>
              <a:rPr dirty="0" sz="1600" spc="9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Georgia"/>
                <a:cs typeface="Georgia"/>
              </a:rPr>
              <a:t>Override</a:t>
            </a:r>
            <a:endParaRPr sz="1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1350" spc="-90">
                <a:solidFill>
                  <a:srgbClr val="D5E4EE"/>
                </a:solidFill>
                <a:latin typeface="SimSun-ExtB"/>
                <a:cs typeface="SimSun-ExtB"/>
              </a:rPr>
              <a:t>Rider</a:t>
            </a:r>
            <a:r>
              <a:rPr dirty="0" sz="1350" spc="-36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>
                <a:solidFill>
                  <a:srgbClr val="D5E4EE"/>
                </a:solidFill>
                <a:latin typeface="SimSun-ExtB"/>
                <a:cs typeface="SimSun-ExtB"/>
              </a:rPr>
              <a:t>can</a:t>
            </a:r>
            <a:r>
              <a:rPr dirty="0" sz="1350" spc="-37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75">
                <a:solidFill>
                  <a:srgbClr val="D5E4EE"/>
                </a:solidFill>
                <a:latin typeface="SimSun-ExtB"/>
                <a:cs typeface="SimSun-ExtB"/>
              </a:rPr>
              <a:t>cancel</a:t>
            </a:r>
            <a:r>
              <a:rPr dirty="0" sz="1350" spc="-38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165">
                <a:solidFill>
                  <a:srgbClr val="D5E4EE"/>
                </a:solidFill>
                <a:latin typeface="SimSun-ExtB"/>
                <a:cs typeface="SimSun-ExtB"/>
              </a:rPr>
              <a:t>alert</a:t>
            </a:r>
            <a:r>
              <a:rPr dirty="0" sz="1350" spc="-36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315">
                <a:solidFill>
                  <a:srgbClr val="D5E4EE"/>
                </a:solidFill>
                <a:latin typeface="SimSun-ExtB"/>
                <a:cs typeface="SimSun-ExtB"/>
              </a:rPr>
              <a:t>if</a:t>
            </a:r>
            <a:r>
              <a:rPr dirty="0" sz="1350" spc="-3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60">
                <a:solidFill>
                  <a:srgbClr val="D5E4EE"/>
                </a:solidFill>
                <a:latin typeface="SimSun-ExtB"/>
                <a:cs typeface="SimSun-ExtB"/>
              </a:rPr>
              <a:t>conscious</a:t>
            </a:r>
            <a:r>
              <a:rPr dirty="0" sz="1350" spc="-38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>
                <a:solidFill>
                  <a:srgbClr val="D5E4EE"/>
                </a:solidFill>
                <a:latin typeface="SimSun-ExtB"/>
                <a:cs typeface="SimSun-ExtB"/>
              </a:rPr>
              <a:t>and</a:t>
            </a:r>
            <a:r>
              <a:rPr dirty="0" sz="1350" spc="-35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70">
                <a:solidFill>
                  <a:srgbClr val="D5E4EE"/>
                </a:solidFill>
                <a:latin typeface="SimSun-ExtB"/>
                <a:cs typeface="SimSun-ExtB"/>
              </a:rPr>
              <a:t>uninjured.</a:t>
            </a:r>
            <a:endParaRPr sz="1350">
              <a:latin typeface="SimSun-ExtB"/>
              <a:cs typeface="SimSun-ExtB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8080" y="3100577"/>
            <a:ext cx="393065" cy="393065"/>
          </a:xfrm>
          <a:custGeom>
            <a:avLst/>
            <a:gdLst/>
            <a:ahLst/>
            <a:cxnLst/>
            <a:rect l="l" t="t" r="r" b="b"/>
            <a:pathLst>
              <a:path w="393065" h="393064">
                <a:moveTo>
                  <a:pt x="366522" y="0"/>
                </a:moveTo>
                <a:lnTo>
                  <a:pt x="26187" y="0"/>
                </a:lnTo>
                <a:lnTo>
                  <a:pt x="15993" y="2051"/>
                </a:lnTo>
                <a:lnTo>
                  <a:pt x="7669" y="7651"/>
                </a:lnTo>
                <a:lnTo>
                  <a:pt x="2057" y="15966"/>
                </a:lnTo>
                <a:lnTo>
                  <a:pt x="0" y="26162"/>
                </a:lnTo>
                <a:lnTo>
                  <a:pt x="0" y="366522"/>
                </a:lnTo>
                <a:lnTo>
                  <a:pt x="2057" y="376717"/>
                </a:lnTo>
                <a:lnTo>
                  <a:pt x="7669" y="385032"/>
                </a:lnTo>
                <a:lnTo>
                  <a:pt x="15993" y="390632"/>
                </a:lnTo>
                <a:lnTo>
                  <a:pt x="26187" y="392684"/>
                </a:lnTo>
                <a:lnTo>
                  <a:pt x="366522" y="392684"/>
                </a:lnTo>
                <a:lnTo>
                  <a:pt x="376716" y="390632"/>
                </a:lnTo>
                <a:lnTo>
                  <a:pt x="385040" y="385032"/>
                </a:lnTo>
                <a:lnTo>
                  <a:pt x="390651" y="376717"/>
                </a:lnTo>
                <a:lnTo>
                  <a:pt x="392709" y="366522"/>
                </a:lnTo>
                <a:lnTo>
                  <a:pt x="392709" y="26162"/>
                </a:lnTo>
                <a:lnTo>
                  <a:pt x="390651" y="15966"/>
                </a:lnTo>
                <a:lnTo>
                  <a:pt x="385040" y="7651"/>
                </a:lnTo>
                <a:lnTo>
                  <a:pt x="376716" y="2051"/>
                </a:lnTo>
                <a:lnTo>
                  <a:pt x="366522" y="0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16660" y="3124961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0">
                <a:solidFill>
                  <a:srgbClr val="D5E4EE"/>
                </a:solidFill>
                <a:latin typeface="Georgia"/>
                <a:cs typeface="Georgia"/>
              </a:rPr>
              <a:t>2</a:t>
            </a:r>
            <a:endParaRPr sz="19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0883" y="3136137"/>
            <a:ext cx="4165600" cy="9283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Tier</a:t>
            </a:r>
            <a:r>
              <a:rPr dirty="0" sz="1600" spc="-3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1</a:t>
            </a:r>
            <a:r>
              <a:rPr dirty="0" sz="1600" spc="2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—</a:t>
            </a:r>
            <a:r>
              <a:rPr dirty="0" sz="1600" spc="1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-40">
                <a:solidFill>
                  <a:srgbClr val="D5E4EE"/>
                </a:solidFill>
                <a:latin typeface="Georgia"/>
                <a:cs typeface="Georgia"/>
              </a:rPr>
              <a:t>≥30s:</a:t>
            </a: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 Family</a:t>
            </a:r>
            <a:r>
              <a:rPr dirty="0" sz="1600" spc="2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-190">
                <a:solidFill>
                  <a:srgbClr val="D5E4EE"/>
                </a:solidFill>
                <a:latin typeface="Georgia"/>
                <a:cs typeface="Georgia"/>
              </a:rPr>
              <a:t>+</a:t>
            </a:r>
            <a:r>
              <a:rPr dirty="0" sz="1600" spc="3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Georgia"/>
                <a:cs typeface="Georgia"/>
              </a:rPr>
              <a:t>Ambulance</a:t>
            </a:r>
            <a:endParaRPr sz="1600">
              <a:latin typeface="Georgia"/>
              <a:cs typeface="Georgia"/>
            </a:endParaRPr>
          </a:p>
          <a:p>
            <a:pPr marL="12700" marR="5080">
              <a:lnSpc>
                <a:spcPct val="126699"/>
              </a:lnSpc>
              <a:spcBef>
                <a:spcPts val="1085"/>
              </a:spcBef>
            </a:pPr>
            <a:r>
              <a:rPr dirty="0" sz="1350" spc="-35">
                <a:solidFill>
                  <a:srgbClr val="D5E4EE"/>
                </a:solidFill>
                <a:latin typeface="SimSun-ExtB"/>
                <a:cs typeface="SimSun-ExtB"/>
              </a:rPr>
              <a:t>Automatic</a:t>
            </a:r>
            <a:r>
              <a:rPr dirty="0" sz="135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140">
                <a:solidFill>
                  <a:srgbClr val="D5E4EE"/>
                </a:solidFill>
                <a:latin typeface="SimSun-ExtB"/>
                <a:cs typeface="SimSun-ExtB"/>
              </a:rPr>
              <a:t>notification</a:t>
            </a:r>
            <a:r>
              <a:rPr dirty="0" sz="1350" spc="-35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80">
                <a:solidFill>
                  <a:srgbClr val="D5E4EE"/>
                </a:solidFill>
                <a:latin typeface="SimSun-ExtB"/>
                <a:cs typeface="SimSun-ExtB"/>
              </a:rPr>
              <a:t>dispatched.</a:t>
            </a:r>
            <a:r>
              <a:rPr dirty="0" sz="1350" spc="-36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245">
                <a:solidFill>
                  <a:srgbClr val="D5E4EE"/>
                </a:solidFill>
                <a:latin typeface="SimSun-ExtB"/>
                <a:cs typeface="SimSun-ExtB"/>
              </a:rPr>
              <a:t>Still</a:t>
            </a:r>
            <a:r>
              <a:rPr dirty="0" sz="1350" spc="-3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100">
                <a:solidFill>
                  <a:srgbClr val="D5E4EE"/>
                </a:solidFill>
                <a:latin typeface="SimSun-ExtB"/>
                <a:cs typeface="SimSun-ExtB"/>
              </a:rPr>
              <a:t>cancellable</a:t>
            </a:r>
            <a:r>
              <a:rPr dirty="0" sz="1350" spc="-36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315">
                <a:solidFill>
                  <a:srgbClr val="D5E4EE"/>
                </a:solidFill>
                <a:latin typeface="SimSun-ExtB"/>
                <a:cs typeface="SimSun-ExtB"/>
              </a:rPr>
              <a:t>if</a:t>
            </a:r>
            <a:r>
              <a:rPr dirty="0" sz="135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30">
                <a:solidFill>
                  <a:srgbClr val="D5E4EE"/>
                </a:solidFill>
                <a:latin typeface="SimSun-ExtB"/>
                <a:cs typeface="SimSun-ExtB"/>
              </a:rPr>
              <a:t>bike </a:t>
            </a:r>
            <a:r>
              <a:rPr dirty="0" sz="1350" spc="-10">
                <a:solidFill>
                  <a:srgbClr val="D5E4EE"/>
                </a:solidFill>
                <a:latin typeface="SimSun-ExtB"/>
                <a:cs typeface="SimSun-ExtB"/>
              </a:rPr>
              <a:t>righted.</a:t>
            </a:r>
            <a:endParaRPr sz="1350">
              <a:latin typeface="SimSun-ExtB"/>
              <a:cs typeface="SimSun-ExtB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8080" y="4398771"/>
            <a:ext cx="393065" cy="393065"/>
          </a:xfrm>
          <a:custGeom>
            <a:avLst/>
            <a:gdLst/>
            <a:ahLst/>
            <a:cxnLst/>
            <a:rect l="l" t="t" r="r" b="b"/>
            <a:pathLst>
              <a:path w="393065" h="393064">
                <a:moveTo>
                  <a:pt x="366522" y="0"/>
                </a:moveTo>
                <a:lnTo>
                  <a:pt x="26187" y="0"/>
                </a:lnTo>
                <a:lnTo>
                  <a:pt x="15993" y="2051"/>
                </a:lnTo>
                <a:lnTo>
                  <a:pt x="7669" y="7651"/>
                </a:lnTo>
                <a:lnTo>
                  <a:pt x="2057" y="15966"/>
                </a:lnTo>
                <a:lnTo>
                  <a:pt x="0" y="26161"/>
                </a:lnTo>
                <a:lnTo>
                  <a:pt x="0" y="366521"/>
                </a:lnTo>
                <a:lnTo>
                  <a:pt x="2057" y="376717"/>
                </a:lnTo>
                <a:lnTo>
                  <a:pt x="7669" y="385032"/>
                </a:lnTo>
                <a:lnTo>
                  <a:pt x="15993" y="390632"/>
                </a:lnTo>
                <a:lnTo>
                  <a:pt x="26187" y="392683"/>
                </a:lnTo>
                <a:lnTo>
                  <a:pt x="366522" y="392683"/>
                </a:lnTo>
                <a:lnTo>
                  <a:pt x="376716" y="390632"/>
                </a:lnTo>
                <a:lnTo>
                  <a:pt x="385040" y="385032"/>
                </a:lnTo>
                <a:lnTo>
                  <a:pt x="390651" y="376717"/>
                </a:lnTo>
                <a:lnTo>
                  <a:pt x="392709" y="366521"/>
                </a:lnTo>
                <a:lnTo>
                  <a:pt x="392709" y="26161"/>
                </a:lnTo>
                <a:lnTo>
                  <a:pt x="390651" y="15966"/>
                </a:lnTo>
                <a:lnTo>
                  <a:pt x="385040" y="7651"/>
                </a:lnTo>
                <a:lnTo>
                  <a:pt x="376716" y="2051"/>
                </a:lnTo>
                <a:lnTo>
                  <a:pt x="366522" y="0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13612" y="4423409"/>
            <a:ext cx="16002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0">
                <a:solidFill>
                  <a:srgbClr val="D5E4EE"/>
                </a:solidFill>
                <a:latin typeface="Georgia"/>
                <a:cs typeface="Georgia"/>
              </a:rPr>
              <a:t>3</a:t>
            </a:r>
            <a:endParaRPr sz="19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0883" y="4434585"/>
            <a:ext cx="4614545" cy="672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Tier</a:t>
            </a:r>
            <a:r>
              <a:rPr dirty="0" sz="1600" spc="5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2</a:t>
            </a:r>
            <a:r>
              <a:rPr dirty="0" sz="1600" spc="8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—</a:t>
            </a:r>
            <a:r>
              <a:rPr dirty="0" sz="1600" spc="7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-30">
                <a:solidFill>
                  <a:srgbClr val="D5E4EE"/>
                </a:solidFill>
                <a:latin typeface="Georgia"/>
                <a:cs typeface="Georgia"/>
              </a:rPr>
              <a:t>≥30min:</a:t>
            </a:r>
            <a:r>
              <a:rPr dirty="0" sz="1600" spc="6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Police</a:t>
            </a:r>
            <a:r>
              <a:rPr dirty="0" sz="1600" spc="7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Georgia"/>
                <a:cs typeface="Georgia"/>
              </a:rPr>
              <a:t>Dispatch</a:t>
            </a:r>
            <a:endParaRPr sz="1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1350" spc="-35">
                <a:solidFill>
                  <a:srgbClr val="D5E4EE"/>
                </a:solidFill>
                <a:latin typeface="SimSun-ExtB"/>
                <a:cs typeface="SimSun-ExtB"/>
              </a:rPr>
              <a:t>Continuous</a:t>
            </a:r>
            <a:r>
              <a:rPr dirty="0" sz="1350" spc="-3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90">
                <a:solidFill>
                  <a:srgbClr val="D5E4EE"/>
                </a:solidFill>
                <a:latin typeface="SimSun-ExtB"/>
                <a:cs typeface="SimSun-ExtB"/>
              </a:rPr>
              <a:t>GPS</a:t>
            </a:r>
            <a:r>
              <a:rPr dirty="0" sz="1350" spc="-37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105">
                <a:solidFill>
                  <a:srgbClr val="D5E4EE"/>
                </a:solidFill>
                <a:latin typeface="SimSun-ExtB"/>
                <a:cs typeface="SimSun-ExtB"/>
              </a:rPr>
              <a:t>tracking</a:t>
            </a:r>
            <a:r>
              <a:rPr dirty="0" sz="1350" spc="-3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150">
                <a:solidFill>
                  <a:srgbClr val="D5E4EE"/>
                </a:solidFill>
                <a:latin typeface="SimSun-ExtB"/>
                <a:cs typeface="SimSun-ExtB"/>
              </a:rPr>
              <a:t>active.</a:t>
            </a:r>
            <a:r>
              <a:rPr dirty="0" sz="1350" spc="-38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90">
                <a:solidFill>
                  <a:srgbClr val="D5E4EE"/>
                </a:solidFill>
                <a:latin typeface="SimSun-ExtB"/>
                <a:cs typeface="SimSun-ExtB"/>
              </a:rPr>
              <a:t>Hospital</a:t>
            </a:r>
            <a:r>
              <a:rPr dirty="0" sz="1350" spc="-36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25">
                <a:solidFill>
                  <a:srgbClr val="D5E4EE"/>
                </a:solidFill>
                <a:latin typeface="SimSun-ExtB"/>
                <a:cs typeface="SimSun-ExtB"/>
              </a:rPr>
              <a:t>lookup</a:t>
            </a:r>
            <a:r>
              <a:rPr dirty="0" sz="1350" spc="-3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10">
                <a:solidFill>
                  <a:srgbClr val="D5E4EE"/>
                </a:solidFill>
                <a:latin typeface="SimSun-ExtB"/>
                <a:cs typeface="SimSun-ExtB"/>
              </a:rPr>
              <a:t>+</a:t>
            </a:r>
            <a:r>
              <a:rPr dirty="0" sz="1350" spc="-36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100">
                <a:solidFill>
                  <a:srgbClr val="D5E4EE"/>
                </a:solidFill>
                <a:latin typeface="SimSun-ExtB"/>
                <a:cs typeface="SimSun-ExtB"/>
              </a:rPr>
              <a:t>SOS</a:t>
            </a:r>
            <a:r>
              <a:rPr dirty="0" sz="1350" spc="-34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30">
                <a:solidFill>
                  <a:srgbClr val="D5E4EE"/>
                </a:solidFill>
                <a:latin typeface="SimSun-ExtB"/>
                <a:cs typeface="SimSun-ExtB"/>
              </a:rPr>
              <a:t>enabled.</a:t>
            </a:r>
            <a:endParaRPr sz="1350">
              <a:latin typeface="SimSun-ExtB"/>
              <a:cs typeface="SimSun-ExtB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88555" y="5463794"/>
            <a:ext cx="2603500" cy="662940"/>
            <a:chOff x="688555" y="5463794"/>
            <a:chExt cx="2603500" cy="662940"/>
          </a:xfrm>
        </p:grpSpPr>
        <p:sp>
          <p:nvSpPr>
            <p:cNvPr id="17" name="object 17"/>
            <p:cNvSpPr/>
            <p:nvPr/>
          </p:nvSpPr>
          <p:spPr>
            <a:xfrm>
              <a:off x="698080" y="5473319"/>
              <a:ext cx="2584450" cy="643890"/>
            </a:xfrm>
            <a:custGeom>
              <a:avLst/>
              <a:gdLst/>
              <a:ahLst/>
              <a:cxnLst/>
              <a:rect l="l" t="t" r="r" b="b"/>
              <a:pathLst>
                <a:path w="2584450" h="643889">
                  <a:moveTo>
                    <a:pt x="2558072" y="0"/>
                  </a:moveTo>
                  <a:lnTo>
                    <a:pt x="26187" y="0"/>
                  </a:lnTo>
                  <a:lnTo>
                    <a:pt x="15993" y="2051"/>
                  </a:lnTo>
                  <a:lnTo>
                    <a:pt x="7669" y="7651"/>
                  </a:lnTo>
                  <a:lnTo>
                    <a:pt x="2057" y="15966"/>
                  </a:lnTo>
                  <a:lnTo>
                    <a:pt x="0" y="26161"/>
                  </a:lnTo>
                  <a:lnTo>
                    <a:pt x="0" y="617626"/>
                  </a:lnTo>
                  <a:lnTo>
                    <a:pt x="2057" y="627820"/>
                  </a:lnTo>
                  <a:lnTo>
                    <a:pt x="7669" y="636144"/>
                  </a:lnTo>
                  <a:lnTo>
                    <a:pt x="15993" y="641756"/>
                  </a:lnTo>
                  <a:lnTo>
                    <a:pt x="26187" y="643813"/>
                  </a:lnTo>
                  <a:lnTo>
                    <a:pt x="2558072" y="643813"/>
                  </a:lnTo>
                  <a:lnTo>
                    <a:pt x="2568267" y="641756"/>
                  </a:lnTo>
                  <a:lnTo>
                    <a:pt x="2576582" y="636144"/>
                  </a:lnTo>
                  <a:lnTo>
                    <a:pt x="2582182" y="627820"/>
                  </a:lnTo>
                  <a:lnTo>
                    <a:pt x="2584234" y="617626"/>
                  </a:lnTo>
                  <a:lnTo>
                    <a:pt x="2584234" y="26161"/>
                  </a:lnTo>
                  <a:lnTo>
                    <a:pt x="2582182" y="15966"/>
                  </a:lnTo>
                  <a:lnTo>
                    <a:pt x="2576582" y="7651"/>
                  </a:lnTo>
                  <a:lnTo>
                    <a:pt x="2568267" y="2051"/>
                  </a:lnTo>
                  <a:lnTo>
                    <a:pt x="2558072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98080" y="5473319"/>
              <a:ext cx="2584450" cy="643890"/>
            </a:xfrm>
            <a:custGeom>
              <a:avLst/>
              <a:gdLst/>
              <a:ahLst/>
              <a:cxnLst/>
              <a:rect l="l" t="t" r="r" b="b"/>
              <a:pathLst>
                <a:path w="2584450" h="643889">
                  <a:moveTo>
                    <a:pt x="0" y="26161"/>
                  </a:moveTo>
                  <a:lnTo>
                    <a:pt x="2057" y="15966"/>
                  </a:lnTo>
                  <a:lnTo>
                    <a:pt x="7669" y="7651"/>
                  </a:lnTo>
                  <a:lnTo>
                    <a:pt x="15993" y="2051"/>
                  </a:lnTo>
                  <a:lnTo>
                    <a:pt x="26187" y="0"/>
                  </a:lnTo>
                  <a:lnTo>
                    <a:pt x="2558072" y="0"/>
                  </a:lnTo>
                  <a:lnTo>
                    <a:pt x="2568267" y="2051"/>
                  </a:lnTo>
                  <a:lnTo>
                    <a:pt x="2576582" y="7651"/>
                  </a:lnTo>
                  <a:lnTo>
                    <a:pt x="2582182" y="15966"/>
                  </a:lnTo>
                  <a:lnTo>
                    <a:pt x="2584234" y="26161"/>
                  </a:lnTo>
                  <a:lnTo>
                    <a:pt x="2584234" y="617626"/>
                  </a:lnTo>
                  <a:lnTo>
                    <a:pt x="2582182" y="627820"/>
                  </a:lnTo>
                  <a:lnTo>
                    <a:pt x="2576582" y="636144"/>
                  </a:lnTo>
                  <a:lnTo>
                    <a:pt x="2568267" y="641756"/>
                  </a:lnTo>
                  <a:lnTo>
                    <a:pt x="2558072" y="643813"/>
                  </a:lnTo>
                  <a:lnTo>
                    <a:pt x="26187" y="643813"/>
                  </a:lnTo>
                  <a:lnTo>
                    <a:pt x="15993" y="641756"/>
                  </a:lnTo>
                  <a:lnTo>
                    <a:pt x="7669" y="636144"/>
                  </a:lnTo>
                  <a:lnTo>
                    <a:pt x="2057" y="627820"/>
                  </a:lnTo>
                  <a:lnTo>
                    <a:pt x="0" y="617626"/>
                  </a:lnTo>
                  <a:lnTo>
                    <a:pt x="0" y="26161"/>
                  </a:lnTo>
                  <a:close/>
                </a:path>
              </a:pathLst>
            </a:custGeom>
            <a:ln w="19050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79144" y="5643168"/>
            <a:ext cx="19240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Safety</a:t>
            </a:r>
            <a:r>
              <a:rPr dirty="0" sz="1600" spc="17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60">
                <a:solidFill>
                  <a:srgbClr val="D5E4EE"/>
                </a:solidFill>
                <a:latin typeface="Georgia"/>
                <a:cs typeface="Georgia"/>
              </a:rPr>
              <a:t>Score</a:t>
            </a:r>
            <a:r>
              <a:rPr dirty="0" sz="1600" spc="13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Georgia"/>
                <a:cs typeface="Georgia"/>
              </a:rPr>
              <a:t>Trends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425571" y="5463794"/>
            <a:ext cx="2603500" cy="662940"/>
            <a:chOff x="3425571" y="5463794"/>
            <a:chExt cx="2603500" cy="662940"/>
          </a:xfrm>
        </p:grpSpPr>
        <p:sp>
          <p:nvSpPr>
            <p:cNvPr id="21" name="object 21"/>
            <p:cNvSpPr/>
            <p:nvPr/>
          </p:nvSpPr>
          <p:spPr>
            <a:xfrm>
              <a:off x="3435096" y="5473319"/>
              <a:ext cx="2584450" cy="643890"/>
            </a:xfrm>
            <a:custGeom>
              <a:avLst/>
              <a:gdLst/>
              <a:ahLst/>
              <a:cxnLst/>
              <a:rect l="l" t="t" r="r" b="b"/>
              <a:pathLst>
                <a:path w="2584450" h="643889">
                  <a:moveTo>
                    <a:pt x="2558161" y="0"/>
                  </a:moveTo>
                  <a:lnTo>
                    <a:pt x="26162" y="0"/>
                  </a:lnTo>
                  <a:lnTo>
                    <a:pt x="15966" y="2051"/>
                  </a:lnTo>
                  <a:lnTo>
                    <a:pt x="7651" y="7651"/>
                  </a:lnTo>
                  <a:lnTo>
                    <a:pt x="2051" y="15966"/>
                  </a:lnTo>
                  <a:lnTo>
                    <a:pt x="0" y="26161"/>
                  </a:lnTo>
                  <a:lnTo>
                    <a:pt x="0" y="617626"/>
                  </a:lnTo>
                  <a:lnTo>
                    <a:pt x="2051" y="627820"/>
                  </a:lnTo>
                  <a:lnTo>
                    <a:pt x="7651" y="636144"/>
                  </a:lnTo>
                  <a:lnTo>
                    <a:pt x="15966" y="641756"/>
                  </a:lnTo>
                  <a:lnTo>
                    <a:pt x="26162" y="643813"/>
                  </a:lnTo>
                  <a:lnTo>
                    <a:pt x="2558161" y="643813"/>
                  </a:lnTo>
                  <a:lnTo>
                    <a:pt x="2568356" y="641756"/>
                  </a:lnTo>
                  <a:lnTo>
                    <a:pt x="2576671" y="636144"/>
                  </a:lnTo>
                  <a:lnTo>
                    <a:pt x="2582271" y="627820"/>
                  </a:lnTo>
                  <a:lnTo>
                    <a:pt x="2584323" y="617626"/>
                  </a:lnTo>
                  <a:lnTo>
                    <a:pt x="2584323" y="26161"/>
                  </a:lnTo>
                  <a:lnTo>
                    <a:pt x="2582271" y="15966"/>
                  </a:lnTo>
                  <a:lnTo>
                    <a:pt x="2576671" y="7651"/>
                  </a:lnTo>
                  <a:lnTo>
                    <a:pt x="2568356" y="2051"/>
                  </a:lnTo>
                  <a:lnTo>
                    <a:pt x="2558161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435096" y="5473319"/>
              <a:ext cx="2584450" cy="643890"/>
            </a:xfrm>
            <a:custGeom>
              <a:avLst/>
              <a:gdLst/>
              <a:ahLst/>
              <a:cxnLst/>
              <a:rect l="l" t="t" r="r" b="b"/>
              <a:pathLst>
                <a:path w="2584450" h="643889">
                  <a:moveTo>
                    <a:pt x="0" y="26161"/>
                  </a:moveTo>
                  <a:lnTo>
                    <a:pt x="2051" y="15966"/>
                  </a:lnTo>
                  <a:lnTo>
                    <a:pt x="7651" y="7651"/>
                  </a:lnTo>
                  <a:lnTo>
                    <a:pt x="15966" y="2051"/>
                  </a:lnTo>
                  <a:lnTo>
                    <a:pt x="26162" y="0"/>
                  </a:lnTo>
                  <a:lnTo>
                    <a:pt x="2558161" y="0"/>
                  </a:lnTo>
                  <a:lnTo>
                    <a:pt x="2568356" y="2051"/>
                  </a:lnTo>
                  <a:lnTo>
                    <a:pt x="2576671" y="7651"/>
                  </a:lnTo>
                  <a:lnTo>
                    <a:pt x="2582271" y="15966"/>
                  </a:lnTo>
                  <a:lnTo>
                    <a:pt x="2584323" y="26161"/>
                  </a:lnTo>
                  <a:lnTo>
                    <a:pt x="2584323" y="617626"/>
                  </a:lnTo>
                  <a:lnTo>
                    <a:pt x="2582271" y="627820"/>
                  </a:lnTo>
                  <a:lnTo>
                    <a:pt x="2576671" y="636144"/>
                  </a:lnTo>
                  <a:lnTo>
                    <a:pt x="2568356" y="641756"/>
                  </a:lnTo>
                  <a:lnTo>
                    <a:pt x="2558161" y="643813"/>
                  </a:lnTo>
                  <a:lnTo>
                    <a:pt x="26162" y="643813"/>
                  </a:lnTo>
                  <a:lnTo>
                    <a:pt x="15966" y="641756"/>
                  </a:lnTo>
                  <a:lnTo>
                    <a:pt x="7651" y="636144"/>
                  </a:lnTo>
                  <a:lnTo>
                    <a:pt x="2051" y="627820"/>
                  </a:lnTo>
                  <a:lnTo>
                    <a:pt x="0" y="617626"/>
                  </a:lnTo>
                  <a:lnTo>
                    <a:pt x="0" y="26161"/>
                  </a:lnTo>
                  <a:close/>
                </a:path>
              </a:pathLst>
            </a:custGeom>
            <a:ln w="19050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616578" y="5643168"/>
            <a:ext cx="163131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Gamified</a:t>
            </a:r>
            <a:r>
              <a:rPr dirty="0" sz="1600" spc="15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Georgia"/>
                <a:cs typeface="Georgia"/>
              </a:rPr>
              <a:t>Streaks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62675" y="5463794"/>
            <a:ext cx="2603500" cy="662940"/>
            <a:chOff x="6162675" y="5463794"/>
            <a:chExt cx="2603500" cy="662940"/>
          </a:xfrm>
        </p:grpSpPr>
        <p:sp>
          <p:nvSpPr>
            <p:cNvPr id="25" name="object 25"/>
            <p:cNvSpPr/>
            <p:nvPr/>
          </p:nvSpPr>
          <p:spPr>
            <a:xfrm>
              <a:off x="6172200" y="5473319"/>
              <a:ext cx="2584450" cy="643890"/>
            </a:xfrm>
            <a:custGeom>
              <a:avLst/>
              <a:gdLst/>
              <a:ahLst/>
              <a:cxnLst/>
              <a:rect l="l" t="t" r="r" b="b"/>
              <a:pathLst>
                <a:path w="2584450" h="643889">
                  <a:moveTo>
                    <a:pt x="2558160" y="0"/>
                  </a:moveTo>
                  <a:lnTo>
                    <a:pt x="26162" y="0"/>
                  </a:lnTo>
                  <a:lnTo>
                    <a:pt x="15966" y="2051"/>
                  </a:lnTo>
                  <a:lnTo>
                    <a:pt x="7651" y="7651"/>
                  </a:lnTo>
                  <a:lnTo>
                    <a:pt x="2051" y="15966"/>
                  </a:lnTo>
                  <a:lnTo>
                    <a:pt x="0" y="26161"/>
                  </a:lnTo>
                  <a:lnTo>
                    <a:pt x="0" y="617626"/>
                  </a:lnTo>
                  <a:lnTo>
                    <a:pt x="2051" y="627820"/>
                  </a:lnTo>
                  <a:lnTo>
                    <a:pt x="7651" y="636144"/>
                  </a:lnTo>
                  <a:lnTo>
                    <a:pt x="15966" y="641756"/>
                  </a:lnTo>
                  <a:lnTo>
                    <a:pt x="26162" y="643813"/>
                  </a:lnTo>
                  <a:lnTo>
                    <a:pt x="2558160" y="643813"/>
                  </a:lnTo>
                  <a:lnTo>
                    <a:pt x="2568356" y="641756"/>
                  </a:lnTo>
                  <a:lnTo>
                    <a:pt x="2576671" y="636144"/>
                  </a:lnTo>
                  <a:lnTo>
                    <a:pt x="2582271" y="627820"/>
                  </a:lnTo>
                  <a:lnTo>
                    <a:pt x="2584323" y="617626"/>
                  </a:lnTo>
                  <a:lnTo>
                    <a:pt x="2584323" y="26161"/>
                  </a:lnTo>
                  <a:lnTo>
                    <a:pt x="2582271" y="15966"/>
                  </a:lnTo>
                  <a:lnTo>
                    <a:pt x="2576671" y="7651"/>
                  </a:lnTo>
                  <a:lnTo>
                    <a:pt x="2568356" y="2051"/>
                  </a:lnTo>
                  <a:lnTo>
                    <a:pt x="2558160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172200" y="5473319"/>
              <a:ext cx="2584450" cy="643890"/>
            </a:xfrm>
            <a:custGeom>
              <a:avLst/>
              <a:gdLst/>
              <a:ahLst/>
              <a:cxnLst/>
              <a:rect l="l" t="t" r="r" b="b"/>
              <a:pathLst>
                <a:path w="2584450" h="643889">
                  <a:moveTo>
                    <a:pt x="0" y="26161"/>
                  </a:moveTo>
                  <a:lnTo>
                    <a:pt x="2051" y="15966"/>
                  </a:lnTo>
                  <a:lnTo>
                    <a:pt x="7651" y="7651"/>
                  </a:lnTo>
                  <a:lnTo>
                    <a:pt x="15966" y="2051"/>
                  </a:lnTo>
                  <a:lnTo>
                    <a:pt x="26162" y="0"/>
                  </a:lnTo>
                  <a:lnTo>
                    <a:pt x="2558160" y="0"/>
                  </a:lnTo>
                  <a:lnTo>
                    <a:pt x="2568356" y="2051"/>
                  </a:lnTo>
                  <a:lnTo>
                    <a:pt x="2576671" y="7651"/>
                  </a:lnTo>
                  <a:lnTo>
                    <a:pt x="2582271" y="15966"/>
                  </a:lnTo>
                  <a:lnTo>
                    <a:pt x="2584323" y="26161"/>
                  </a:lnTo>
                  <a:lnTo>
                    <a:pt x="2584323" y="617626"/>
                  </a:lnTo>
                  <a:lnTo>
                    <a:pt x="2582271" y="627820"/>
                  </a:lnTo>
                  <a:lnTo>
                    <a:pt x="2576671" y="636144"/>
                  </a:lnTo>
                  <a:lnTo>
                    <a:pt x="2568356" y="641756"/>
                  </a:lnTo>
                  <a:lnTo>
                    <a:pt x="2558160" y="643813"/>
                  </a:lnTo>
                  <a:lnTo>
                    <a:pt x="26162" y="643813"/>
                  </a:lnTo>
                  <a:lnTo>
                    <a:pt x="15966" y="641756"/>
                  </a:lnTo>
                  <a:lnTo>
                    <a:pt x="7651" y="636144"/>
                  </a:lnTo>
                  <a:lnTo>
                    <a:pt x="2051" y="627820"/>
                  </a:lnTo>
                  <a:lnTo>
                    <a:pt x="0" y="617626"/>
                  </a:lnTo>
                  <a:lnTo>
                    <a:pt x="0" y="26161"/>
                  </a:lnTo>
                  <a:close/>
                </a:path>
              </a:pathLst>
            </a:custGeom>
            <a:ln w="19050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353936" y="5643168"/>
            <a:ext cx="13360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Route</a:t>
            </a:r>
            <a:r>
              <a:rPr dirty="0" sz="1600" spc="15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Georgia"/>
                <a:cs typeface="Georgia"/>
              </a:rPr>
              <a:t>History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899652" y="5463794"/>
            <a:ext cx="2603500" cy="662940"/>
            <a:chOff x="8899652" y="5463794"/>
            <a:chExt cx="2603500" cy="662940"/>
          </a:xfrm>
        </p:grpSpPr>
        <p:sp>
          <p:nvSpPr>
            <p:cNvPr id="29" name="object 29"/>
            <p:cNvSpPr/>
            <p:nvPr/>
          </p:nvSpPr>
          <p:spPr>
            <a:xfrm>
              <a:off x="8909177" y="5473319"/>
              <a:ext cx="2584450" cy="643890"/>
            </a:xfrm>
            <a:custGeom>
              <a:avLst/>
              <a:gdLst/>
              <a:ahLst/>
              <a:cxnLst/>
              <a:rect l="l" t="t" r="r" b="b"/>
              <a:pathLst>
                <a:path w="2584450" h="643889">
                  <a:moveTo>
                    <a:pt x="2558288" y="0"/>
                  </a:moveTo>
                  <a:lnTo>
                    <a:pt x="26289" y="0"/>
                  </a:lnTo>
                  <a:lnTo>
                    <a:pt x="16073" y="2051"/>
                  </a:lnTo>
                  <a:lnTo>
                    <a:pt x="7715" y="7651"/>
                  </a:lnTo>
                  <a:lnTo>
                    <a:pt x="2071" y="15966"/>
                  </a:lnTo>
                  <a:lnTo>
                    <a:pt x="0" y="26161"/>
                  </a:lnTo>
                  <a:lnTo>
                    <a:pt x="0" y="617626"/>
                  </a:lnTo>
                  <a:lnTo>
                    <a:pt x="2071" y="627820"/>
                  </a:lnTo>
                  <a:lnTo>
                    <a:pt x="7715" y="636144"/>
                  </a:lnTo>
                  <a:lnTo>
                    <a:pt x="16073" y="641756"/>
                  </a:lnTo>
                  <a:lnTo>
                    <a:pt x="26289" y="643813"/>
                  </a:lnTo>
                  <a:lnTo>
                    <a:pt x="2558288" y="643813"/>
                  </a:lnTo>
                  <a:lnTo>
                    <a:pt x="2568483" y="641756"/>
                  </a:lnTo>
                  <a:lnTo>
                    <a:pt x="2576798" y="636144"/>
                  </a:lnTo>
                  <a:lnTo>
                    <a:pt x="2582398" y="627820"/>
                  </a:lnTo>
                  <a:lnTo>
                    <a:pt x="2584450" y="617626"/>
                  </a:lnTo>
                  <a:lnTo>
                    <a:pt x="2584450" y="26161"/>
                  </a:lnTo>
                  <a:lnTo>
                    <a:pt x="2582398" y="15966"/>
                  </a:lnTo>
                  <a:lnTo>
                    <a:pt x="2576798" y="7651"/>
                  </a:lnTo>
                  <a:lnTo>
                    <a:pt x="2568483" y="2051"/>
                  </a:lnTo>
                  <a:lnTo>
                    <a:pt x="2558288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909177" y="5473319"/>
              <a:ext cx="2584450" cy="643890"/>
            </a:xfrm>
            <a:custGeom>
              <a:avLst/>
              <a:gdLst/>
              <a:ahLst/>
              <a:cxnLst/>
              <a:rect l="l" t="t" r="r" b="b"/>
              <a:pathLst>
                <a:path w="2584450" h="643889">
                  <a:moveTo>
                    <a:pt x="0" y="26161"/>
                  </a:moveTo>
                  <a:lnTo>
                    <a:pt x="2071" y="15966"/>
                  </a:lnTo>
                  <a:lnTo>
                    <a:pt x="7715" y="7651"/>
                  </a:lnTo>
                  <a:lnTo>
                    <a:pt x="16073" y="2051"/>
                  </a:lnTo>
                  <a:lnTo>
                    <a:pt x="26289" y="0"/>
                  </a:lnTo>
                  <a:lnTo>
                    <a:pt x="2558288" y="0"/>
                  </a:lnTo>
                  <a:lnTo>
                    <a:pt x="2568483" y="2051"/>
                  </a:lnTo>
                  <a:lnTo>
                    <a:pt x="2576798" y="7651"/>
                  </a:lnTo>
                  <a:lnTo>
                    <a:pt x="2582398" y="15966"/>
                  </a:lnTo>
                  <a:lnTo>
                    <a:pt x="2584450" y="26161"/>
                  </a:lnTo>
                  <a:lnTo>
                    <a:pt x="2584450" y="617626"/>
                  </a:lnTo>
                  <a:lnTo>
                    <a:pt x="2582398" y="627820"/>
                  </a:lnTo>
                  <a:lnTo>
                    <a:pt x="2576798" y="636144"/>
                  </a:lnTo>
                  <a:lnTo>
                    <a:pt x="2568483" y="641756"/>
                  </a:lnTo>
                  <a:lnTo>
                    <a:pt x="2558288" y="643813"/>
                  </a:lnTo>
                  <a:lnTo>
                    <a:pt x="26289" y="643813"/>
                  </a:lnTo>
                  <a:lnTo>
                    <a:pt x="16073" y="641756"/>
                  </a:lnTo>
                  <a:lnTo>
                    <a:pt x="7715" y="636144"/>
                  </a:lnTo>
                  <a:lnTo>
                    <a:pt x="2071" y="627820"/>
                  </a:lnTo>
                  <a:lnTo>
                    <a:pt x="0" y="617626"/>
                  </a:lnTo>
                  <a:lnTo>
                    <a:pt x="0" y="26161"/>
                  </a:lnTo>
                  <a:close/>
                </a:path>
              </a:pathLst>
            </a:custGeom>
            <a:ln w="19050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9091421" y="5643168"/>
            <a:ext cx="12877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D5E4EE"/>
                </a:solidFill>
                <a:latin typeface="Georgia"/>
                <a:cs typeface="Georgia"/>
              </a:rPr>
              <a:t>Idle</a:t>
            </a:r>
            <a:r>
              <a:rPr dirty="0" sz="1600" spc="2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Georgia"/>
                <a:cs typeface="Georgia"/>
              </a:rPr>
              <a:t>Analytics</a:t>
            </a:r>
            <a:endParaRPr sz="1600">
              <a:latin typeface="Georgia"/>
              <a:cs typeface="Georgia"/>
            </a:endParaRPr>
          </a:p>
        </p:txBody>
      </p:sp>
      <p:pic>
        <p:nvPicPr>
          <p:cNvPr id="32" name="object 3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5747" y="1494282"/>
            <a:ext cx="3058286" cy="1890268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6353936" y="3606800"/>
            <a:ext cx="2234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BBD3"/>
                </a:solidFill>
                <a:latin typeface="Georgia"/>
                <a:cs typeface="Georgia"/>
              </a:rPr>
              <a:t>Insurance</a:t>
            </a:r>
            <a:r>
              <a:rPr dirty="0" sz="1800" spc="325">
                <a:solidFill>
                  <a:srgbClr val="00BBD3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00BBD3"/>
                </a:solidFill>
                <a:latin typeface="Georgia"/>
                <a:cs typeface="Georgia"/>
              </a:rPr>
              <a:t>Telemetry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53936" y="4070426"/>
            <a:ext cx="4568825" cy="97028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725"/>
              </a:spcBef>
              <a:buChar char="•"/>
              <a:tabLst>
                <a:tab pos="327660" algn="l"/>
              </a:tabLst>
            </a:pPr>
            <a:r>
              <a:rPr dirty="0" sz="1550" spc="-145">
                <a:solidFill>
                  <a:srgbClr val="D5E4EE"/>
                </a:solidFill>
                <a:latin typeface="SimSun-ExtB"/>
                <a:cs typeface="SimSun-ExtB"/>
              </a:rPr>
              <a:t>Rolling</a:t>
            </a:r>
            <a:r>
              <a:rPr dirty="0" sz="1550" spc="-4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55">
                <a:solidFill>
                  <a:srgbClr val="D5E4EE"/>
                </a:solidFill>
                <a:latin typeface="SimSun-ExtB"/>
                <a:cs typeface="SimSun-ExtB"/>
              </a:rPr>
              <a:t>30s</a:t>
            </a:r>
            <a:r>
              <a:rPr dirty="0" sz="1550" spc="-4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35">
                <a:solidFill>
                  <a:srgbClr val="D5E4EE"/>
                </a:solidFill>
                <a:latin typeface="SimSun-ExtB"/>
                <a:cs typeface="SimSun-ExtB"/>
              </a:rPr>
              <a:t>buffer</a:t>
            </a:r>
            <a:r>
              <a:rPr dirty="0" sz="1550" spc="-4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120">
                <a:solidFill>
                  <a:srgbClr val="D5E4EE"/>
                </a:solidFill>
                <a:latin typeface="SimSun-ExtB"/>
                <a:cs typeface="SimSun-ExtB"/>
              </a:rPr>
              <a:t>@10Hz</a:t>
            </a:r>
            <a:r>
              <a:rPr dirty="0" sz="1550" spc="-3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330">
                <a:solidFill>
                  <a:srgbClr val="D5E4EE"/>
                </a:solidFill>
                <a:latin typeface="SimSun-ExtB"/>
                <a:cs typeface="SimSun-ExtB"/>
              </a:rPr>
              <a:t>—</a:t>
            </a:r>
            <a:r>
              <a:rPr dirty="0" sz="1550" spc="-44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30">
                <a:solidFill>
                  <a:srgbClr val="D5E4EE"/>
                </a:solidFill>
                <a:latin typeface="SimSun-ExtB"/>
                <a:cs typeface="SimSun-ExtB"/>
              </a:rPr>
              <a:t>freezes</a:t>
            </a:r>
            <a:r>
              <a:rPr dirty="0" sz="1550" spc="-4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60">
                <a:solidFill>
                  <a:srgbClr val="D5E4EE"/>
                </a:solidFill>
                <a:latin typeface="SimSun-ExtB"/>
                <a:cs typeface="SimSun-ExtB"/>
              </a:rPr>
              <a:t>on</a:t>
            </a:r>
            <a:r>
              <a:rPr dirty="0" sz="1550" spc="-4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75">
                <a:solidFill>
                  <a:srgbClr val="D5E4EE"/>
                </a:solidFill>
                <a:latin typeface="SimSun-ExtB"/>
                <a:cs typeface="SimSun-ExtB"/>
              </a:rPr>
              <a:t>crash</a:t>
            </a:r>
            <a:r>
              <a:rPr dirty="0" sz="1550" spc="-44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0">
                <a:solidFill>
                  <a:srgbClr val="D5E4EE"/>
                </a:solidFill>
                <a:latin typeface="SimSun-ExtB"/>
                <a:cs typeface="SimSun-ExtB"/>
              </a:rPr>
              <a:t>impact</a:t>
            </a:r>
            <a:endParaRPr sz="1550">
              <a:latin typeface="SimSun-ExtB"/>
              <a:cs typeface="SimSun-ExtB"/>
            </a:endParaRPr>
          </a:p>
          <a:p>
            <a:pPr marL="327660" indent="-314960">
              <a:lnSpc>
                <a:spcPct val="100000"/>
              </a:lnSpc>
              <a:spcBef>
                <a:spcPts val="620"/>
              </a:spcBef>
              <a:buChar char="•"/>
              <a:tabLst>
                <a:tab pos="327660" algn="l"/>
              </a:tabLst>
            </a:pPr>
            <a:r>
              <a:rPr dirty="0" sz="1550" spc="-80">
                <a:solidFill>
                  <a:srgbClr val="D5E4EE"/>
                </a:solidFill>
                <a:latin typeface="SimSun-ExtB"/>
                <a:cs typeface="SimSun-ExtB"/>
              </a:rPr>
              <a:t>Auto-</a:t>
            </a:r>
            <a:r>
              <a:rPr dirty="0" sz="1550" spc="-70">
                <a:solidFill>
                  <a:srgbClr val="D5E4EE"/>
                </a:solidFill>
                <a:latin typeface="SimSun-ExtB"/>
                <a:cs typeface="SimSun-ExtB"/>
              </a:rPr>
              <a:t>generates</a:t>
            </a:r>
            <a:r>
              <a:rPr dirty="0" sz="1550" spc="-38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10">
                <a:solidFill>
                  <a:srgbClr val="D5E4EE"/>
                </a:solidFill>
                <a:latin typeface="SimSun-ExtB"/>
                <a:cs typeface="SimSun-ExtB"/>
              </a:rPr>
              <a:t>structured</a:t>
            </a:r>
            <a:r>
              <a:rPr dirty="0" sz="1550" spc="-38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90">
                <a:solidFill>
                  <a:srgbClr val="D5E4EE"/>
                </a:solidFill>
                <a:latin typeface="SimSun-ExtB"/>
                <a:cs typeface="SimSun-ExtB"/>
              </a:rPr>
              <a:t>claims</a:t>
            </a:r>
            <a:r>
              <a:rPr dirty="0" sz="1550" spc="-36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0">
                <a:solidFill>
                  <a:srgbClr val="D5E4EE"/>
                </a:solidFill>
                <a:latin typeface="SimSun-ExtB"/>
                <a:cs typeface="SimSun-ExtB"/>
              </a:rPr>
              <a:t>report</a:t>
            </a:r>
            <a:endParaRPr sz="1550">
              <a:latin typeface="SimSun-ExtB"/>
              <a:cs typeface="SimSun-ExtB"/>
            </a:endParaRPr>
          </a:p>
          <a:p>
            <a:pPr marL="327660" indent="-314960">
              <a:lnSpc>
                <a:spcPct val="100000"/>
              </a:lnSpc>
              <a:spcBef>
                <a:spcPts val="615"/>
              </a:spcBef>
              <a:buChar char="•"/>
              <a:tabLst>
                <a:tab pos="327660" algn="l"/>
              </a:tabLst>
            </a:pPr>
            <a:r>
              <a:rPr dirty="0" sz="1550" spc="-114">
                <a:solidFill>
                  <a:srgbClr val="D5E4EE"/>
                </a:solidFill>
                <a:latin typeface="SimSun-ExtB"/>
                <a:cs typeface="SimSun-ExtB"/>
              </a:rPr>
              <a:t>Risk</a:t>
            </a:r>
            <a:r>
              <a:rPr dirty="0" sz="1550" spc="-4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50">
                <a:solidFill>
                  <a:srgbClr val="D5E4EE"/>
                </a:solidFill>
                <a:latin typeface="SimSun-ExtB"/>
                <a:cs typeface="SimSun-ExtB"/>
              </a:rPr>
              <a:t>Score</a:t>
            </a:r>
            <a:r>
              <a:rPr dirty="0" sz="1550" spc="-4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0">
                <a:solidFill>
                  <a:srgbClr val="D5E4EE"/>
                </a:solidFill>
                <a:latin typeface="SimSun-ExtB"/>
                <a:cs typeface="SimSun-ExtB"/>
              </a:rPr>
              <a:t>+</a:t>
            </a:r>
            <a:r>
              <a:rPr dirty="0" sz="1550" spc="-4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95">
                <a:solidFill>
                  <a:srgbClr val="D5E4EE"/>
                </a:solidFill>
                <a:latin typeface="SimSun-ExtB"/>
                <a:cs typeface="SimSun-ExtB"/>
              </a:rPr>
              <a:t>fraud</a:t>
            </a:r>
            <a:r>
              <a:rPr dirty="0" sz="1550" spc="-45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0">
                <a:solidFill>
                  <a:srgbClr val="D5E4EE"/>
                </a:solidFill>
                <a:latin typeface="SimSun-ExtB"/>
                <a:cs typeface="SimSun-ExtB"/>
              </a:rPr>
              <a:t>evidence</a:t>
            </a:r>
            <a:endParaRPr sz="1550">
              <a:latin typeface="SimSun-ExtB"/>
              <a:cs typeface="SimSun-ExtB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31525" y="6378797"/>
            <a:ext cx="1217295" cy="436245"/>
            <a:chOff x="10931525" y="6378797"/>
            <a:chExt cx="1217295" cy="436245"/>
          </a:xfrm>
        </p:grpSpPr>
        <p:sp>
          <p:nvSpPr>
            <p:cNvPr id="3" name="object 3"/>
            <p:cNvSpPr/>
            <p:nvPr/>
          </p:nvSpPr>
          <p:spPr>
            <a:xfrm>
              <a:off x="10937875" y="6385147"/>
              <a:ext cx="1175385" cy="389890"/>
            </a:xfrm>
            <a:custGeom>
              <a:avLst/>
              <a:gdLst/>
              <a:ahLst/>
              <a:cxnLst/>
              <a:rect l="l" t="t" r="r" b="b"/>
              <a:pathLst>
                <a:path w="1175384" h="389890">
                  <a:moveTo>
                    <a:pt x="1175232" y="0"/>
                  </a:moveTo>
                  <a:lnTo>
                    <a:pt x="0" y="0"/>
                  </a:lnTo>
                  <a:lnTo>
                    <a:pt x="0" y="389585"/>
                  </a:lnTo>
                  <a:lnTo>
                    <a:pt x="1175232" y="389585"/>
                  </a:lnTo>
                  <a:lnTo>
                    <a:pt x="1175232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937875" y="6385147"/>
              <a:ext cx="1175385" cy="389890"/>
            </a:xfrm>
            <a:custGeom>
              <a:avLst/>
              <a:gdLst/>
              <a:ahLst/>
              <a:cxnLst/>
              <a:rect l="l" t="t" r="r" b="b"/>
              <a:pathLst>
                <a:path w="1175384" h="389890">
                  <a:moveTo>
                    <a:pt x="0" y="389585"/>
                  </a:moveTo>
                  <a:lnTo>
                    <a:pt x="1175232" y="389585"/>
                  </a:lnTo>
                  <a:lnTo>
                    <a:pt x="1175232" y="0"/>
                  </a:lnTo>
                  <a:lnTo>
                    <a:pt x="0" y="0"/>
                  </a:lnTo>
                  <a:lnTo>
                    <a:pt x="0" y="389585"/>
                  </a:lnTo>
                  <a:close/>
                </a:path>
              </a:pathLst>
            </a:custGeom>
            <a:ln w="12699">
              <a:solidFill>
                <a:srgbClr val="2428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85596" y="875538"/>
            <a:ext cx="7984490" cy="5816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650"/>
              <a:t>Pillars</a:t>
            </a:r>
            <a:r>
              <a:rPr dirty="0" sz="3650" spc="-20"/>
              <a:t> </a:t>
            </a:r>
            <a:r>
              <a:rPr dirty="0" sz="3650"/>
              <a:t>03</a:t>
            </a:r>
            <a:r>
              <a:rPr dirty="0" sz="3650" spc="35"/>
              <a:t> </a:t>
            </a:r>
            <a:r>
              <a:rPr dirty="0" sz="3650"/>
              <a:t>&amp;</a:t>
            </a:r>
            <a:r>
              <a:rPr dirty="0" sz="3650" spc="40"/>
              <a:t> </a:t>
            </a:r>
            <a:r>
              <a:rPr dirty="0" sz="3650" spc="-20"/>
              <a:t>04:</a:t>
            </a:r>
            <a:r>
              <a:rPr dirty="0" sz="3650" spc="15"/>
              <a:t> </a:t>
            </a:r>
            <a:r>
              <a:rPr dirty="0" sz="3650" spc="65"/>
              <a:t>Insurance</a:t>
            </a:r>
            <a:r>
              <a:rPr dirty="0" sz="3650" spc="20"/>
              <a:t> </a:t>
            </a:r>
            <a:r>
              <a:rPr dirty="0" sz="3650" spc="-425"/>
              <a:t>+</a:t>
            </a:r>
            <a:r>
              <a:rPr dirty="0" sz="3650" spc="85"/>
              <a:t> </a:t>
            </a:r>
            <a:r>
              <a:rPr dirty="0" sz="3650" spc="-10"/>
              <a:t>Guardian</a:t>
            </a:r>
            <a:endParaRPr sz="3650"/>
          </a:p>
        </p:txBody>
      </p:sp>
      <p:pic>
        <p:nvPicPr>
          <p:cNvPr id="6" name="object 6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705" y="2022729"/>
            <a:ext cx="3058287" cy="18902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10259" y="4126229"/>
            <a:ext cx="2218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BBD3"/>
                </a:solidFill>
                <a:latin typeface="Georgia"/>
                <a:cs typeface="Georgia"/>
              </a:rPr>
              <a:t>Guardian</a:t>
            </a:r>
            <a:r>
              <a:rPr dirty="0" sz="1800" spc="240">
                <a:solidFill>
                  <a:srgbClr val="00BBD3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00BBD3"/>
                </a:solidFill>
                <a:latin typeface="Georgia"/>
                <a:cs typeface="Georgia"/>
              </a:rPr>
              <a:t>Dashboard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4590156"/>
            <a:ext cx="4321175" cy="97028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720"/>
              </a:spcBef>
              <a:buChar char="•"/>
              <a:tabLst>
                <a:tab pos="327660" algn="l"/>
              </a:tabLst>
            </a:pPr>
            <a:r>
              <a:rPr dirty="0" sz="1550" spc="-55">
                <a:solidFill>
                  <a:srgbClr val="D5E4EE"/>
                </a:solidFill>
                <a:latin typeface="SimSun-ExtB"/>
                <a:cs typeface="SimSun-ExtB"/>
              </a:rPr>
              <a:t>Consent-</a:t>
            </a:r>
            <a:r>
              <a:rPr dirty="0" sz="1550">
                <a:solidFill>
                  <a:srgbClr val="D5E4EE"/>
                </a:solidFill>
                <a:latin typeface="SimSun-ExtB"/>
                <a:cs typeface="SimSun-ExtB"/>
              </a:rPr>
              <a:t>based</a:t>
            </a:r>
            <a:r>
              <a:rPr dirty="0" sz="1550" spc="-3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215">
                <a:solidFill>
                  <a:srgbClr val="D5E4EE"/>
                </a:solidFill>
                <a:latin typeface="SimSun-ExtB"/>
                <a:cs typeface="SimSun-ExtB"/>
              </a:rPr>
              <a:t>live</a:t>
            </a:r>
            <a:r>
              <a:rPr dirty="0" sz="1550" spc="-4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75">
                <a:solidFill>
                  <a:srgbClr val="D5E4EE"/>
                </a:solidFill>
                <a:latin typeface="SimSun-ExtB"/>
                <a:cs typeface="SimSun-ExtB"/>
              </a:rPr>
              <a:t>speed,</a:t>
            </a:r>
            <a:r>
              <a:rPr dirty="0" sz="1550" spc="-4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25">
                <a:solidFill>
                  <a:srgbClr val="D5E4EE"/>
                </a:solidFill>
                <a:latin typeface="SimSun-ExtB"/>
                <a:cs typeface="SimSun-ExtB"/>
              </a:rPr>
              <a:t>location</a:t>
            </a:r>
            <a:r>
              <a:rPr dirty="0" sz="1550" spc="-4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160">
                <a:solidFill>
                  <a:srgbClr val="D5E4EE"/>
                </a:solidFill>
                <a:latin typeface="SimSun-ExtB"/>
                <a:cs typeface="SimSun-ExtB"/>
              </a:rPr>
              <a:t>&amp;</a:t>
            </a:r>
            <a:r>
              <a:rPr dirty="0" sz="1550" spc="-4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210">
                <a:solidFill>
                  <a:srgbClr val="D5E4EE"/>
                </a:solidFill>
                <a:latin typeface="SimSun-ExtB"/>
                <a:cs typeface="SimSun-ExtB"/>
              </a:rPr>
              <a:t>trip</a:t>
            </a:r>
            <a:r>
              <a:rPr dirty="0" sz="1550" spc="-4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05">
                <a:solidFill>
                  <a:srgbClr val="D5E4EE"/>
                </a:solidFill>
                <a:latin typeface="SimSun-ExtB"/>
                <a:cs typeface="SimSun-ExtB"/>
              </a:rPr>
              <a:t>history</a:t>
            </a:r>
            <a:endParaRPr sz="1550">
              <a:latin typeface="SimSun-ExtB"/>
              <a:cs typeface="SimSun-ExtB"/>
            </a:endParaRPr>
          </a:p>
          <a:p>
            <a:pPr marL="327660" indent="-314960">
              <a:lnSpc>
                <a:spcPct val="100000"/>
              </a:lnSpc>
              <a:spcBef>
                <a:spcPts val="625"/>
              </a:spcBef>
              <a:buChar char="•"/>
              <a:tabLst>
                <a:tab pos="327660" algn="l"/>
              </a:tabLst>
            </a:pPr>
            <a:r>
              <a:rPr dirty="0" sz="1550" spc="-25">
                <a:solidFill>
                  <a:srgbClr val="D5E4EE"/>
                </a:solidFill>
                <a:latin typeface="SimSun-ExtB"/>
                <a:cs typeface="SimSun-ExtB"/>
              </a:rPr>
              <a:t>Geofence</a:t>
            </a:r>
            <a:r>
              <a:rPr dirty="0" sz="1550" spc="-409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0">
                <a:solidFill>
                  <a:srgbClr val="D5E4EE"/>
                </a:solidFill>
                <a:latin typeface="SimSun-ExtB"/>
                <a:cs typeface="SimSun-ExtB"/>
              </a:rPr>
              <a:t>+</a:t>
            </a:r>
            <a:r>
              <a:rPr dirty="0" sz="1550" spc="-4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>
                <a:solidFill>
                  <a:srgbClr val="D5E4EE"/>
                </a:solidFill>
                <a:latin typeface="SimSun-ExtB"/>
                <a:cs typeface="SimSun-ExtB"/>
              </a:rPr>
              <a:t>speed</a:t>
            </a:r>
            <a:r>
              <a:rPr dirty="0" sz="1550" spc="-4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95">
                <a:solidFill>
                  <a:srgbClr val="D5E4EE"/>
                </a:solidFill>
                <a:latin typeface="SimSun-ExtB"/>
                <a:cs typeface="SimSun-ExtB"/>
              </a:rPr>
              <a:t>threshold</a:t>
            </a:r>
            <a:r>
              <a:rPr dirty="0" sz="1550" spc="-4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0">
                <a:solidFill>
                  <a:srgbClr val="D5E4EE"/>
                </a:solidFill>
                <a:latin typeface="SimSun-ExtB"/>
                <a:cs typeface="SimSun-ExtB"/>
              </a:rPr>
              <a:t>alerts</a:t>
            </a:r>
            <a:endParaRPr sz="1550">
              <a:latin typeface="SimSun-ExtB"/>
              <a:cs typeface="SimSun-ExtB"/>
            </a:endParaRPr>
          </a:p>
          <a:p>
            <a:pPr marL="327660" indent="-314960">
              <a:lnSpc>
                <a:spcPct val="100000"/>
              </a:lnSpc>
              <a:spcBef>
                <a:spcPts val="615"/>
              </a:spcBef>
              <a:buChar char="•"/>
              <a:tabLst>
                <a:tab pos="327660" algn="l"/>
              </a:tabLst>
            </a:pPr>
            <a:r>
              <a:rPr dirty="0" sz="1550" spc="-20">
                <a:solidFill>
                  <a:srgbClr val="D5E4EE"/>
                </a:solidFill>
                <a:latin typeface="SimSun-ExtB"/>
                <a:cs typeface="SimSun-ExtB"/>
              </a:rPr>
              <a:t>Curfew</a:t>
            </a:r>
            <a:r>
              <a:rPr dirty="0" sz="1550" spc="-4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210">
                <a:solidFill>
                  <a:srgbClr val="D5E4EE"/>
                </a:solidFill>
                <a:latin typeface="SimSun-ExtB"/>
                <a:cs typeface="SimSun-ExtB"/>
              </a:rPr>
              <a:t>alerts,</a:t>
            </a:r>
            <a:r>
              <a:rPr dirty="0" sz="1550" spc="-3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65">
                <a:solidFill>
                  <a:srgbClr val="D5E4EE"/>
                </a:solidFill>
                <a:latin typeface="SimSun-ExtB"/>
                <a:cs typeface="SimSun-ExtB"/>
              </a:rPr>
              <a:t>theft</a:t>
            </a:r>
            <a:r>
              <a:rPr dirty="0" sz="1550" spc="-4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220">
                <a:solidFill>
                  <a:srgbClr val="D5E4EE"/>
                </a:solidFill>
                <a:latin typeface="SimSun-ExtB"/>
                <a:cs typeface="SimSun-ExtB"/>
              </a:rPr>
              <a:t>alert,</a:t>
            </a:r>
            <a:r>
              <a:rPr dirty="0" sz="1550" spc="-3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30">
                <a:solidFill>
                  <a:srgbClr val="D5E4EE"/>
                </a:solidFill>
                <a:latin typeface="SimSun-ExtB"/>
                <a:cs typeface="SimSun-ExtB"/>
              </a:rPr>
              <a:t>multi-</a:t>
            </a:r>
            <a:r>
              <a:rPr dirty="0" sz="1550" spc="-60">
                <a:solidFill>
                  <a:srgbClr val="D5E4EE"/>
                </a:solidFill>
                <a:latin typeface="SimSun-ExtB"/>
                <a:cs typeface="SimSun-ExtB"/>
              </a:rPr>
              <a:t>guardian</a:t>
            </a:r>
            <a:r>
              <a:rPr dirty="0" sz="1550" spc="-409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140">
                <a:solidFill>
                  <a:srgbClr val="D5E4EE"/>
                </a:solidFill>
                <a:latin typeface="SimSun-ExtB"/>
                <a:cs typeface="SimSun-ExtB"/>
              </a:rPr>
              <a:t>mode</a:t>
            </a:r>
            <a:endParaRPr sz="1550">
              <a:latin typeface="SimSun-ExtB"/>
              <a:cs typeface="SimSun-ExtB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11036" y="4129278"/>
            <a:ext cx="21158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889C6"/>
                </a:solidFill>
                <a:latin typeface="Georgia"/>
                <a:cs typeface="Georgia"/>
              </a:rPr>
              <a:t>Trip</a:t>
            </a:r>
            <a:r>
              <a:rPr dirty="0" sz="1600" spc="60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600">
                <a:solidFill>
                  <a:srgbClr val="F889C6"/>
                </a:solidFill>
                <a:latin typeface="Georgia"/>
                <a:cs typeface="Georgia"/>
              </a:rPr>
              <a:t>&amp;</a:t>
            </a:r>
            <a:r>
              <a:rPr dirty="0" sz="1600" spc="6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600">
                <a:solidFill>
                  <a:srgbClr val="F889C6"/>
                </a:solidFill>
                <a:latin typeface="Georgia"/>
                <a:cs typeface="Georgia"/>
              </a:rPr>
              <a:t>Journey</a:t>
            </a:r>
            <a:r>
              <a:rPr dirty="0" sz="1600" spc="7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600" spc="-10">
                <a:solidFill>
                  <a:srgbClr val="F889C6"/>
                </a:solidFill>
                <a:latin typeface="Georgia"/>
                <a:cs typeface="Georgia"/>
              </a:rPr>
              <a:t>Report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1036" y="4659020"/>
            <a:ext cx="4980305" cy="546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6699"/>
              </a:lnSpc>
              <a:spcBef>
                <a:spcPts val="95"/>
              </a:spcBef>
            </a:pPr>
            <a:r>
              <a:rPr dirty="0" sz="1350" spc="-105">
                <a:solidFill>
                  <a:srgbClr val="D5E4EE"/>
                </a:solidFill>
                <a:latin typeface="SimSun-ExtB"/>
                <a:cs typeface="SimSun-ExtB"/>
              </a:rPr>
              <a:t>Per-</a:t>
            </a:r>
            <a:r>
              <a:rPr dirty="0" sz="1350" spc="-185">
                <a:solidFill>
                  <a:srgbClr val="D5E4EE"/>
                </a:solidFill>
                <a:latin typeface="SimSun-ExtB"/>
                <a:cs typeface="SimSun-ExtB"/>
              </a:rPr>
              <a:t>trip</a:t>
            </a:r>
            <a:r>
              <a:rPr dirty="0" sz="1350" spc="-34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120">
                <a:solidFill>
                  <a:srgbClr val="D5E4EE"/>
                </a:solidFill>
                <a:latin typeface="SimSun-ExtB"/>
                <a:cs typeface="SimSun-ExtB"/>
              </a:rPr>
              <a:t>logging:</a:t>
            </a:r>
            <a:r>
              <a:rPr dirty="0" sz="1350" spc="-36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105">
                <a:solidFill>
                  <a:srgbClr val="D5E4EE"/>
                </a:solidFill>
                <a:latin typeface="SimSun-ExtB"/>
                <a:cs typeface="SimSun-ExtB"/>
              </a:rPr>
              <a:t>duration,</a:t>
            </a:r>
            <a:r>
              <a:rPr dirty="0" sz="1350" spc="-3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110">
                <a:solidFill>
                  <a:srgbClr val="D5E4EE"/>
                </a:solidFill>
                <a:latin typeface="SimSun-ExtB"/>
                <a:cs typeface="SimSun-ExtB"/>
              </a:rPr>
              <a:t>distance,</a:t>
            </a:r>
            <a:r>
              <a:rPr dirty="0" sz="1350" spc="-36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60">
                <a:solidFill>
                  <a:srgbClr val="D5E4EE"/>
                </a:solidFill>
                <a:latin typeface="SimSun-ExtB"/>
                <a:cs typeface="SimSun-ExtB"/>
              </a:rPr>
              <a:t>speed,</a:t>
            </a:r>
            <a:r>
              <a:rPr dirty="0" sz="1350" spc="-35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85">
                <a:solidFill>
                  <a:srgbClr val="D5E4EE"/>
                </a:solidFill>
                <a:latin typeface="SimSun-ExtB"/>
                <a:cs typeface="SimSun-ExtB"/>
              </a:rPr>
              <a:t>harsh-</a:t>
            </a:r>
            <a:r>
              <a:rPr dirty="0" sz="1350" spc="-70">
                <a:solidFill>
                  <a:srgbClr val="D5E4EE"/>
                </a:solidFill>
                <a:latin typeface="SimSun-ExtB"/>
                <a:cs typeface="SimSun-ExtB"/>
              </a:rPr>
              <a:t>braking</a:t>
            </a:r>
            <a:r>
              <a:rPr dirty="0" sz="1350" spc="-36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100">
                <a:solidFill>
                  <a:srgbClr val="D5E4EE"/>
                </a:solidFill>
                <a:latin typeface="SimSun-ExtB"/>
                <a:cs typeface="SimSun-ExtB"/>
              </a:rPr>
              <a:t>events,</a:t>
            </a:r>
            <a:r>
              <a:rPr dirty="0" sz="1350" spc="-3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95">
                <a:solidFill>
                  <a:srgbClr val="D5E4EE"/>
                </a:solidFill>
                <a:latin typeface="SimSun-ExtB"/>
                <a:cs typeface="SimSun-ExtB"/>
              </a:rPr>
              <a:t>idle </a:t>
            </a:r>
            <a:r>
              <a:rPr dirty="0" sz="1350" spc="-100">
                <a:solidFill>
                  <a:srgbClr val="D5E4EE"/>
                </a:solidFill>
                <a:latin typeface="SimSun-ExtB"/>
                <a:cs typeface="SimSun-ExtB"/>
              </a:rPr>
              <a:t>time.</a:t>
            </a:r>
            <a:r>
              <a:rPr dirty="0" sz="1350" spc="-36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120">
                <a:solidFill>
                  <a:srgbClr val="D5E4EE"/>
                </a:solidFill>
                <a:latin typeface="SimSun-ExtB"/>
                <a:cs typeface="SimSun-ExtB"/>
              </a:rPr>
              <a:t>Daily</a:t>
            </a:r>
            <a:r>
              <a:rPr dirty="0" sz="1350" spc="-3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210">
                <a:solidFill>
                  <a:srgbClr val="D5E4EE"/>
                </a:solidFill>
                <a:latin typeface="SimSun-ExtB"/>
                <a:cs typeface="SimSun-ExtB"/>
              </a:rPr>
              <a:t>/</a:t>
            </a:r>
            <a:r>
              <a:rPr dirty="0" sz="1350" spc="-38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25">
                <a:solidFill>
                  <a:srgbClr val="D5E4EE"/>
                </a:solidFill>
                <a:latin typeface="SimSun-ExtB"/>
                <a:cs typeface="SimSun-ExtB"/>
              </a:rPr>
              <a:t>weekly</a:t>
            </a:r>
            <a:r>
              <a:rPr dirty="0" sz="1350" spc="-37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210">
                <a:solidFill>
                  <a:srgbClr val="D5E4EE"/>
                </a:solidFill>
                <a:latin typeface="SimSun-ExtB"/>
                <a:cs typeface="SimSun-ExtB"/>
              </a:rPr>
              <a:t>/</a:t>
            </a:r>
            <a:r>
              <a:rPr dirty="0" sz="1350" spc="-38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>
                <a:solidFill>
                  <a:srgbClr val="D5E4EE"/>
                </a:solidFill>
                <a:latin typeface="SimSun-ExtB"/>
                <a:cs typeface="SimSun-ExtB"/>
              </a:rPr>
              <a:t>monthly</a:t>
            </a:r>
            <a:r>
              <a:rPr dirty="0" sz="1350" spc="-36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350" spc="-10">
                <a:solidFill>
                  <a:srgbClr val="D5E4EE"/>
                </a:solidFill>
                <a:latin typeface="SimSun-ExtB"/>
                <a:cs typeface="SimSun-ExtB"/>
              </a:rPr>
              <a:t>rollups.</a:t>
            </a:r>
            <a:endParaRPr sz="1350">
              <a:latin typeface="SimSun-ExtB"/>
              <a:cs typeface="SimSun-ExtB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3102" y="2022729"/>
            <a:ext cx="3058286" cy="18832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8080" y="556513"/>
            <a:ext cx="981075" cy="208279"/>
          </a:xfrm>
          <a:custGeom>
            <a:avLst/>
            <a:gdLst/>
            <a:ahLst/>
            <a:cxnLst/>
            <a:rect l="l" t="t" r="r" b="b"/>
            <a:pathLst>
              <a:path w="981075" h="208279">
                <a:moveTo>
                  <a:pt x="973366" y="0"/>
                </a:moveTo>
                <a:lnTo>
                  <a:pt x="7378" y="0"/>
                </a:lnTo>
                <a:lnTo>
                  <a:pt x="0" y="7365"/>
                </a:lnTo>
                <a:lnTo>
                  <a:pt x="0" y="16510"/>
                </a:lnTo>
                <a:lnTo>
                  <a:pt x="0" y="200913"/>
                </a:lnTo>
                <a:lnTo>
                  <a:pt x="7378" y="208280"/>
                </a:lnTo>
                <a:lnTo>
                  <a:pt x="973366" y="208280"/>
                </a:lnTo>
                <a:lnTo>
                  <a:pt x="980732" y="200913"/>
                </a:lnTo>
                <a:lnTo>
                  <a:pt x="980732" y="7365"/>
                </a:lnTo>
                <a:lnTo>
                  <a:pt x="973366" y="0"/>
                </a:lnTo>
                <a:close/>
              </a:path>
            </a:pathLst>
          </a:custGeom>
          <a:solidFill>
            <a:srgbClr val="4804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7892" y="568198"/>
            <a:ext cx="836294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55">
                <a:solidFill>
                  <a:srgbClr val="D5E4EE"/>
                </a:solidFill>
                <a:latin typeface="SimSun-ExtB"/>
                <a:cs typeface="SimSun-ExtB"/>
              </a:rPr>
              <a:t>CRASH</a:t>
            </a:r>
            <a:r>
              <a:rPr dirty="0" sz="850" spc="-2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SimSun-ExtB"/>
                <a:cs typeface="SimSun-ExtB"/>
              </a:rPr>
              <a:t>LIFECYCLE</a:t>
            </a:r>
            <a:endParaRPr sz="850">
              <a:latin typeface="SimSun-ExtB"/>
              <a:cs typeface="SimSun-ExtB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85596" y="770381"/>
            <a:ext cx="6027420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50"/>
              <a:t>How</a:t>
            </a:r>
            <a:r>
              <a:rPr dirty="0" sz="2500" spc="75"/>
              <a:t> </a:t>
            </a:r>
            <a:r>
              <a:rPr dirty="0" sz="2500"/>
              <a:t>a</a:t>
            </a:r>
            <a:r>
              <a:rPr dirty="0" sz="2500" spc="75"/>
              <a:t> </a:t>
            </a:r>
            <a:r>
              <a:rPr dirty="0" sz="2500" spc="55"/>
              <a:t>Crash</a:t>
            </a:r>
            <a:r>
              <a:rPr dirty="0" sz="2500" spc="105"/>
              <a:t> </a:t>
            </a:r>
            <a:r>
              <a:rPr dirty="0" sz="2500" spc="55"/>
              <a:t>Moves</a:t>
            </a:r>
            <a:r>
              <a:rPr dirty="0" sz="2500" spc="85"/>
              <a:t> </a:t>
            </a:r>
            <a:r>
              <a:rPr dirty="0" sz="2500" spc="50"/>
              <a:t>Through</a:t>
            </a:r>
            <a:r>
              <a:rPr dirty="0" sz="2500" spc="100"/>
              <a:t> </a:t>
            </a:r>
            <a:r>
              <a:rPr dirty="0" sz="2500" spc="90"/>
              <a:t>the</a:t>
            </a:r>
            <a:r>
              <a:rPr dirty="0" sz="2500" spc="50"/>
              <a:t> </a:t>
            </a:r>
            <a:r>
              <a:rPr dirty="0" sz="2500" spc="60"/>
              <a:t>System</a:t>
            </a:r>
            <a:endParaRPr sz="2500"/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080" y="1347190"/>
            <a:ext cx="10795508" cy="466318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90290" y="4536185"/>
            <a:ext cx="970280" cy="55372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 indent="15240">
              <a:lnSpc>
                <a:spcPct val="103499"/>
              </a:lnSpc>
              <a:spcBef>
                <a:spcPts val="30"/>
              </a:spcBef>
            </a:pPr>
            <a:r>
              <a:rPr dirty="0" sz="1700" spc="-10">
                <a:solidFill>
                  <a:srgbClr val="D5E4EE"/>
                </a:solidFill>
                <a:latin typeface="Georgia"/>
                <a:cs typeface="Georgia"/>
              </a:rPr>
              <a:t>Evidence </a:t>
            </a:r>
            <a:r>
              <a:rPr dirty="0" sz="1700" spc="40">
                <a:solidFill>
                  <a:srgbClr val="D5E4EE"/>
                </a:solidFill>
                <a:latin typeface="Georgia"/>
                <a:cs typeface="Georgia"/>
              </a:rPr>
              <a:t>Captured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5235" y="5130165"/>
            <a:ext cx="16795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90">
                <a:solidFill>
                  <a:srgbClr val="D5E4EE"/>
                </a:solidFill>
                <a:latin typeface="SimSun-ExtB"/>
                <a:cs typeface="SimSun-ExtB"/>
              </a:rPr>
              <a:t>Last</a:t>
            </a:r>
            <a:r>
              <a:rPr dirty="0" sz="1200" spc="-3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10">
                <a:solidFill>
                  <a:srgbClr val="D5E4EE"/>
                </a:solidFill>
                <a:latin typeface="SimSun-ExtB"/>
                <a:cs typeface="SimSun-ExtB"/>
              </a:rPr>
              <a:t>30</a:t>
            </a:r>
            <a:r>
              <a:rPr dirty="0" sz="1200" spc="-3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20">
                <a:solidFill>
                  <a:srgbClr val="D5E4EE"/>
                </a:solidFill>
                <a:latin typeface="SimSun-ExtB"/>
                <a:cs typeface="SimSun-ExtB"/>
              </a:rPr>
              <a:t>seconds</a:t>
            </a:r>
            <a:r>
              <a:rPr dirty="0" sz="1200" spc="-36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50">
                <a:solidFill>
                  <a:srgbClr val="D5E4EE"/>
                </a:solidFill>
                <a:latin typeface="SimSun-ExtB"/>
                <a:cs typeface="SimSun-ExtB"/>
              </a:rPr>
              <a:t>telemetry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0955" y="5273421"/>
            <a:ext cx="1586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25">
                <a:solidFill>
                  <a:srgbClr val="D5E4EE"/>
                </a:solidFill>
                <a:latin typeface="SimSun-ExtB"/>
                <a:cs typeface="SimSun-ExtB"/>
              </a:rPr>
              <a:t>details</a:t>
            </a:r>
            <a:r>
              <a:rPr dirty="0" sz="1200" spc="-3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55">
                <a:solidFill>
                  <a:srgbClr val="D5E4EE"/>
                </a:solidFill>
                <a:latin typeface="SimSun-ExtB"/>
                <a:cs typeface="SimSun-ExtB"/>
              </a:rPr>
              <a:t>capture</a:t>
            </a:r>
            <a:r>
              <a:rPr dirty="0" sz="1200" spc="-3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>
                <a:solidFill>
                  <a:srgbClr val="D5E4EE"/>
                </a:solidFill>
                <a:latin typeface="SimSun-ExtB"/>
                <a:cs typeface="SimSun-ExtB"/>
              </a:rPr>
              <a:t>and</a:t>
            </a:r>
            <a:r>
              <a:rPr dirty="0" sz="1200" spc="-2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20">
                <a:solidFill>
                  <a:srgbClr val="D5E4EE"/>
                </a:solidFill>
                <a:latin typeface="SimSun-ExtB"/>
                <a:cs typeface="SimSun-ExtB"/>
              </a:rPr>
              <a:t>send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94964" y="5419725"/>
            <a:ext cx="14579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80">
                <a:solidFill>
                  <a:srgbClr val="D5E4EE"/>
                </a:solidFill>
                <a:latin typeface="SimSun-ExtB"/>
                <a:cs typeface="SimSun-ExtB"/>
              </a:rPr>
              <a:t>to</a:t>
            </a:r>
            <a:r>
              <a:rPr dirty="0" sz="1200" spc="-34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60">
                <a:solidFill>
                  <a:srgbClr val="D5E4EE"/>
                </a:solidFill>
                <a:latin typeface="SimSun-ExtB"/>
                <a:cs typeface="SimSun-ExtB"/>
              </a:rPr>
              <a:t>the</a:t>
            </a:r>
            <a:r>
              <a:rPr dirty="0" sz="1200" spc="-3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105">
                <a:solidFill>
                  <a:srgbClr val="D5E4EE"/>
                </a:solidFill>
                <a:latin typeface="SimSun-ExtB"/>
                <a:cs typeface="SimSun-ExtB"/>
              </a:rPr>
              <a:t>insurer</a:t>
            </a:r>
            <a:r>
              <a:rPr dirty="0" sz="1200" spc="-35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00" spc="-10">
                <a:solidFill>
                  <a:srgbClr val="D5E4EE"/>
                </a:solidFill>
                <a:latin typeface="SimSun-ExtB"/>
                <a:cs typeface="SimSun-ExtB"/>
              </a:rPr>
              <a:t>backend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86218" y="4810759"/>
            <a:ext cx="12122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F889C6"/>
                </a:solidFill>
                <a:latin typeface="Georgia"/>
                <a:cs typeface="Georgia"/>
              </a:rPr>
              <a:t>Tier</a:t>
            </a:r>
            <a:r>
              <a:rPr dirty="0" sz="1700" spc="4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700">
                <a:solidFill>
                  <a:srgbClr val="F889C6"/>
                </a:solidFill>
                <a:latin typeface="Georgia"/>
                <a:cs typeface="Georgia"/>
              </a:rPr>
              <a:t>1</a:t>
            </a:r>
            <a:r>
              <a:rPr dirty="0" sz="1700" spc="6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700" spc="-229">
                <a:solidFill>
                  <a:srgbClr val="F889C6"/>
                </a:solidFill>
                <a:latin typeface="Georgia"/>
                <a:cs typeface="Georgia"/>
              </a:rPr>
              <a:t>@</a:t>
            </a:r>
            <a:r>
              <a:rPr dirty="0" sz="1700" spc="4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700" spc="-25">
                <a:solidFill>
                  <a:srgbClr val="F889C6"/>
                </a:solidFill>
                <a:latin typeface="Georgia"/>
                <a:cs typeface="Georgia"/>
              </a:rPr>
              <a:t>30s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97242" y="5119496"/>
            <a:ext cx="158940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60">
                <a:solidFill>
                  <a:srgbClr val="D5E4EE"/>
                </a:solidFill>
                <a:latin typeface="SimSun-ExtB"/>
                <a:cs typeface="SimSun-ExtB"/>
              </a:rPr>
              <a:t>Family</a:t>
            </a:r>
            <a:r>
              <a:rPr dirty="0" sz="1450" spc="-4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150">
                <a:solidFill>
                  <a:srgbClr val="D5E4EE"/>
                </a:solidFill>
                <a:latin typeface="SimSun-ExtB"/>
                <a:cs typeface="SimSun-ExtB"/>
              </a:rPr>
              <a:t>&amp;</a:t>
            </a:r>
            <a:r>
              <a:rPr dirty="0" sz="1450" spc="-4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10">
                <a:solidFill>
                  <a:srgbClr val="D5E4EE"/>
                </a:solidFill>
                <a:latin typeface="SimSun-ExtB"/>
                <a:cs typeface="SimSun-ExtB"/>
              </a:rPr>
              <a:t>ambulance</a:t>
            </a:r>
            <a:endParaRPr sz="1450">
              <a:latin typeface="SimSun-ExtB"/>
              <a:cs typeface="SimSun-ExtB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97242" y="5296280"/>
            <a:ext cx="159067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70">
                <a:solidFill>
                  <a:srgbClr val="D5E4EE"/>
                </a:solidFill>
                <a:latin typeface="SimSun-ExtB"/>
                <a:cs typeface="SimSun-ExtB"/>
              </a:rPr>
              <a:t>notified,</a:t>
            </a:r>
            <a:r>
              <a:rPr dirty="0" sz="1450" spc="-38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95">
                <a:solidFill>
                  <a:srgbClr val="D5E4EE"/>
                </a:solidFill>
                <a:latin typeface="SimSun-ExtB"/>
                <a:cs typeface="SimSun-ExtB"/>
              </a:rPr>
              <a:t>cancellable</a:t>
            </a:r>
            <a:endParaRPr sz="1450">
              <a:latin typeface="SimSun-ExtB"/>
              <a:cs typeface="SimSun-ExtB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0863" y="1687195"/>
            <a:ext cx="1875789" cy="188150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391160" marR="549910" indent="141605">
              <a:lnSpc>
                <a:spcPct val="103499"/>
              </a:lnSpc>
              <a:spcBef>
                <a:spcPts val="30"/>
              </a:spcBef>
            </a:pPr>
            <a:r>
              <a:rPr dirty="0" sz="1700" spc="-20">
                <a:solidFill>
                  <a:srgbClr val="D5E4EE"/>
                </a:solidFill>
                <a:latin typeface="Georgia"/>
                <a:cs typeface="Georgia"/>
              </a:rPr>
              <a:t>Crash </a:t>
            </a:r>
            <a:r>
              <a:rPr dirty="0" sz="1700" spc="60">
                <a:solidFill>
                  <a:srgbClr val="D5E4EE"/>
                </a:solidFill>
                <a:latin typeface="Georgia"/>
                <a:cs typeface="Georgia"/>
              </a:rPr>
              <a:t>Detected</a:t>
            </a:r>
            <a:endParaRPr sz="1700">
              <a:latin typeface="Georgia"/>
              <a:cs typeface="Georgia"/>
            </a:endParaRPr>
          </a:p>
          <a:p>
            <a:pPr algn="ctr" marL="220979" marR="247015">
              <a:lnSpc>
                <a:spcPts val="1540"/>
              </a:lnSpc>
              <a:spcBef>
                <a:spcPts val="1250"/>
              </a:spcBef>
            </a:pPr>
            <a:r>
              <a:rPr dirty="0" sz="1450" spc="-240">
                <a:solidFill>
                  <a:srgbClr val="D5E4EE"/>
                </a:solidFill>
                <a:latin typeface="SimSun-ExtB"/>
                <a:cs typeface="SimSun-ExtB"/>
              </a:rPr>
              <a:t>&gt;if</a:t>
            </a:r>
            <a:r>
              <a:rPr dirty="0" sz="1450" spc="-4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75">
                <a:solidFill>
                  <a:srgbClr val="D5E4EE"/>
                </a:solidFill>
                <a:latin typeface="SimSun-ExtB"/>
                <a:cs typeface="SimSun-ExtB"/>
              </a:rPr>
              <a:t>the</a:t>
            </a:r>
            <a:r>
              <a:rPr dirty="0" sz="1450" spc="-4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65">
                <a:solidFill>
                  <a:srgbClr val="D5E4EE"/>
                </a:solidFill>
                <a:latin typeface="SimSun-ExtB"/>
                <a:cs typeface="SimSun-ExtB"/>
              </a:rPr>
              <a:t>speed,</a:t>
            </a:r>
            <a:r>
              <a:rPr dirty="0" sz="1450" spc="-409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70">
                <a:solidFill>
                  <a:srgbClr val="D5E4EE"/>
                </a:solidFill>
                <a:latin typeface="SimSun-ExtB"/>
                <a:cs typeface="SimSun-ExtB"/>
              </a:rPr>
              <a:t>lean </a:t>
            </a:r>
            <a:r>
              <a:rPr dirty="0" sz="1450" spc="-65">
                <a:solidFill>
                  <a:srgbClr val="D5E4EE"/>
                </a:solidFill>
                <a:latin typeface="SimSun-ExtB"/>
                <a:cs typeface="SimSun-ExtB"/>
              </a:rPr>
              <a:t>angle</a:t>
            </a:r>
            <a:r>
              <a:rPr dirty="0" sz="1450" spc="-43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50">
                <a:solidFill>
                  <a:srgbClr val="D5E4EE"/>
                </a:solidFill>
                <a:latin typeface="SimSun-ExtB"/>
                <a:cs typeface="SimSun-ExtB"/>
              </a:rPr>
              <a:t>and</a:t>
            </a:r>
            <a:r>
              <a:rPr dirty="0" sz="1450" spc="-43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25">
                <a:solidFill>
                  <a:srgbClr val="D5E4EE"/>
                </a:solidFill>
                <a:latin typeface="SimSun-ExtB"/>
                <a:cs typeface="SimSun-ExtB"/>
              </a:rPr>
              <a:t>the</a:t>
            </a:r>
            <a:endParaRPr sz="1450">
              <a:latin typeface="SimSun-ExtB"/>
              <a:cs typeface="SimSun-ExtB"/>
            </a:endParaRPr>
          </a:p>
          <a:p>
            <a:pPr algn="ctr">
              <a:lnSpc>
                <a:spcPts val="1400"/>
              </a:lnSpc>
            </a:pPr>
            <a:r>
              <a:rPr dirty="0" sz="1450" spc="-75">
                <a:solidFill>
                  <a:srgbClr val="D5E4EE"/>
                </a:solidFill>
                <a:latin typeface="SimSun-ExtB"/>
                <a:cs typeface="SimSun-ExtB"/>
              </a:rPr>
              <a:t>Gyroscropic</a:t>
            </a:r>
            <a:r>
              <a:rPr dirty="0" sz="1450" spc="-4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90">
                <a:solidFill>
                  <a:srgbClr val="D5E4EE"/>
                </a:solidFill>
                <a:latin typeface="SimSun-ExtB"/>
                <a:cs typeface="SimSun-ExtB"/>
              </a:rPr>
              <a:t>values</a:t>
            </a:r>
            <a:r>
              <a:rPr dirty="0" sz="1450" spc="-38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20">
                <a:solidFill>
                  <a:srgbClr val="D5E4EE"/>
                </a:solidFill>
                <a:latin typeface="SimSun-ExtB"/>
                <a:cs typeface="SimSun-ExtB"/>
              </a:rPr>
              <a:t>goes</a:t>
            </a:r>
            <a:endParaRPr sz="1450">
              <a:latin typeface="SimSun-ExtB"/>
              <a:cs typeface="SimSun-ExtB"/>
            </a:endParaRPr>
          </a:p>
          <a:p>
            <a:pPr algn="ctr" marL="218440" marR="246379" indent="36830">
              <a:lnSpc>
                <a:spcPct val="88700"/>
              </a:lnSpc>
              <a:spcBef>
                <a:spcPts val="95"/>
              </a:spcBef>
            </a:pPr>
            <a:r>
              <a:rPr dirty="0" sz="1450" spc="-50">
                <a:solidFill>
                  <a:srgbClr val="D5E4EE"/>
                </a:solidFill>
                <a:latin typeface="SimSun-ExtB"/>
                <a:cs typeface="SimSun-ExtB"/>
              </a:rPr>
              <a:t>worst</a:t>
            </a:r>
            <a:r>
              <a:rPr dirty="0" sz="1450" spc="-43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35">
                <a:solidFill>
                  <a:srgbClr val="D5E4EE"/>
                </a:solidFill>
                <a:latin typeface="SimSun-ExtB"/>
                <a:cs typeface="SimSun-ExtB"/>
              </a:rPr>
              <a:t>then</a:t>
            </a:r>
            <a:r>
              <a:rPr dirty="0" sz="1450" spc="-4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25">
                <a:solidFill>
                  <a:srgbClr val="D5E4EE"/>
                </a:solidFill>
                <a:latin typeface="SimSun-ExtB"/>
                <a:cs typeface="SimSun-ExtB"/>
              </a:rPr>
              <a:t>the </a:t>
            </a:r>
            <a:r>
              <a:rPr dirty="0" sz="1450" spc="-125">
                <a:solidFill>
                  <a:srgbClr val="D5E4EE"/>
                </a:solidFill>
                <a:latin typeface="SimSun-ExtB"/>
                <a:cs typeface="SimSun-ExtB"/>
              </a:rPr>
              <a:t>variable</a:t>
            </a:r>
            <a:r>
              <a:rPr dirty="0" sz="1450" spc="-38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80">
                <a:solidFill>
                  <a:srgbClr val="D5E4EE"/>
                </a:solidFill>
                <a:latin typeface="SimSun-ExtB"/>
                <a:cs typeface="SimSun-ExtB"/>
              </a:rPr>
              <a:t>threshold </a:t>
            </a:r>
            <a:r>
              <a:rPr dirty="0" sz="1450" spc="-165">
                <a:solidFill>
                  <a:srgbClr val="D5E4EE"/>
                </a:solidFill>
                <a:latin typeface="SimSun-ExtB"/>
                <a:cs typeface="SimSun-ExtB"/>
              </a:rPr>
              <a:t>for</a:t>
            </a:r>
            <a:r>
              <a:rPr dirty="0" sz="1450" spc="-4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10">
                <a:solidFill>
                  <a:srgbClr val="D5E4EE"/>
                </a:solidFill>
                <a:latin typeface="SimSun-ExtB"/>
                <a:cs typeface="SimSun-ExtB"/>
              </a:rPr>
              <a:t>10</a:t>
            </a:r>
            <a:r>
              <a:rPr dirty="0" sz="1450" spc="-43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10">
                <a:solidFill>
                  <a:srgbClr val="D5E4EE"/>
                </a:solidFill>
                <a:latin typeface="SimSun-ExtB"/>
                <a:cs typeface="SimSun-ExtB"/>
              </a:rPr>
              <a:t>seconds.</a:t>
            </a:r>
            <a:endParaRPr sz="1450">
              <a:latin typeface="SimSun-ExtB"/>
              <a:cs typeface="SimSun-ExtB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16542" y="1664825"/>
            <a:ext cx="1534795" cy="104330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1700">
                <a:solidFill>
                  <a:srgbClr val="D5E4EE"/>
                </a:solidFill>
                <a:latin typeface="Georgia"/>
                <a:cs typeface="Georgia"/>
              </a:rPr>
              <a:t>Tier</a:t>
            </a:r>
            <a:r>
              <a:rPr dirty="0" sz="1700" spc="7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700">
                <a:solidFill>
                  <a:srgbClr val="D5E4EE"/>
                </a:solidFill>
                <a:latin typeface="Georgia"/>
                <a:cs typeface="Georgia"/>
              </a:rPr>
              <a:t>2</a:t>
            </a:r>
            <a:r>
              <a:rPr dirty="0" sz="1700" spc="7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700" spc="-229">
                <a:solidFill>
                  <a:srgbClr val="D5E4EE"/>
                </a:solidFill>
                <a:latin typeface="Georgia"/>
                <a:cs typeface="Georgia"/>
              </a:rPr>
              <a:t>@</a:t>
            </a:r>
            <a:r>
              <a:rPr dirty="0" sz="1700" spc="8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700" spc="-10">
                <a:solidFill>
                  <a:srgbClr val="D5E4EE"/>
                </a:solidFill>
                <a:latin typeface="Georgia"/>
                <a:cs typeface="Georgia"/>
              </a:rPr>
              <a:t>30min</a:t>
            </a:r>
            <a:endParaRPr sz="1700">
              <a:latin typeface="Georgia"/>
              <a:cs typeface="Georgia"/>
            </a:endParaRPr>
          </a:p>
          <a:p>
            <a:pPr algn="ctr" marL="155575" marR="147320" indent="-635">
              <a:lnSpc>
                <a:spcPct val="89000"/>
              </a:lnSpc>
              <a:spcBef>
                <a:spcPts val="715"/>
              </a:spcBef>
            </a:pPr>
            <a:r>
              <a:rPr dirty="0" sz="1450" spc="-114">
                <a:solidFill>
                  <a:srgbClr val="D5E4EE"/>
                </a:solidFill>
                <a:latin typeface="SimSun-ExtB"/>
                <a:cs typeface="SimSun-ExtB"/>
              </a:rPr>
              <a:t>Police</a:t>
            </a:r>
            <a:r>
              <a:rPr dirty="0" sz="1450" spc="-4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10">
                <a:solidFill>
                  <a:srgbClr val="D5E4EE"/>
                </a:solidFill>
                <a:latin typeface="SimSun-ExtB"/>
                <a:cs typeface="SimSun-ExtB"/>
              </a:rPr>
              <a:t>added, </a:t>
            </a:r>
            <a:r>
              <a:rPr dirty="0" sz="1450" spc="-50">
                <a:solidFill>
                  <a:srgbClr val="D5E4EE"/>
                </a:solidFill>
                <a:latin typeface="SimSun-ExtB"/>
                <a:cs typeface="SimSun-ExtB"/>
              </a:rPr>
              <a:t>continuous</a:t>
            </a:r>
            <a:r>
              <a:rPr dirty="0" sz="1450" spc="-3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75">
                <a:solidFill>
                  <a:srgbClr val="D5E4EE"/>
                </a:solidFill>
                <a:latin typeface="SimSun-ExtB"/>
                <a:cs typeface="SimSun-ExtB"/>
              </a:rPr>
              <a:t>GPS </a:t>
            </a:r>
            <a:r>
              <a:rPr dirty="0" sz="1450" spc="-10">
                <a:solidFill>
                  <a:srgbClr val="D5E4EE"/>
                </a:solidFill>
                <a:latin typeface="SimSun-ExtB"/>
                <a:cs typeface="SimSun-ExtB"/>
              </a:rPr>
              <a:t>tracking</a:t>
            </a:r>
            <a:endParaRPr sz="1450">
              <a:latin typeface="SimSun-ExtB"/>
              <a:cs typeface="SimSun-ExtB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54522" y="1742058"/>
            <a:ext cx="140843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solidFill>
                  <a:srgbClr val="F889C6"/>
                </a:solidFill>
                <a:latin typeface="Georgia"/>
                <a:cs typeface="Georgia"/>
              </a:rPr>
              <a:t>Backend</a:t>
            </a:r>
            <a:r>
              <a:rPr dirty="0" sz="1700" spc="24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700" spc="-20">
                <a:solidFill>
                  <a:srgbClr val="F889C6"/>
                </a:solidFill>
                <a:latin typeface="Georgia"/>
                <a:cs typeface="Georgia"/>
              </a:rPr>
              <a:t>Logs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95315" y="2050795"/>
            <a:ext cx="92900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0">
                <a:solidFill>
                  <a:srgbClr val="D5E4EE"/>
                </a:solidFill>
                <a:latin typeface="SimSun-ExtB"/>
                <a:cs typeface="SimSun-ExtB"/>
              </a:rPr>
              <a:t>PostgreSQL</a:t>
            </a:r>
            <a:endParaRPr sz="1450">
              <a:latin typeface="SimSun-ExtB"/>
              <a:cs typeface="SimSun-ExtB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80430" y="2227275"/>
            <a:ext cx="139382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80">
                <a:solidFill>
                  <a:srgbClr val="D5E4EE"/>
                </a:solidFill>
                <a:latin typeface="SimSun-ExtB"/>
                <a:cs typeface="SimSun-ExtB"/>
              </a:rPr>
              <a:t>records</a:t>
            </a:r>
            <a:r>
              <a:rPr dirty="0" sz="1450" spc="-409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450" spc="-65">
                <a:solidFill>
                  <a:srgbClr val="D5E4EE"/>
                </a:solidFill>
                <a:latin typeface="SimSun-ExtB"/>
                <a:cs typeface="SimSun-ExtB"/>
              </a:rPr>
              <a:t>telemetry</a:t>
            </a:r>
            <a:endParaRPr sz="1450">
              <a:latin typeface="SimSun-ExtB"/>
              <a:cs typeface="SimSun-ExtB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5596" y="6103416"/>
            <a:ext cx="900112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solidFill>
                  <a:srgbClr val="D5E4EE"/>
                </a:solidFill>
                <a:latin typeface="SimSun-ExtB"/>
                <a:cs typeface="SimSun-ExtB"/>
              </a:rPr>
              <a:t>Every</a:t>
            </a:r>
            <a:r>
              <a:rPr dirty="0" sz="1050" spc="-28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>
                <a:solidFill>
                  <a:srgbClr val="D5E4EE"/>
                </a:solidFill>
                <a:latin typeface="SimSun-ExtB"/>
                <a:cs typeface="SimSun-ExtB"/>
              </a:rPr>
              <a:t>second</a:t>
            </a:r>
            <a:r>
              <a:rPr dirty="0" sz="1050" spc="-27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185">
                <a:solidFill>
                  <a:srgbClr val="D5E4EE"/>
                </a:solidFill>
                <a:latin typeface="SimSun-ExtB"/>
                <a:cs typeface="SimSun-ExtB"/>
              </a:rPr>
              <a:t>is</a:t>
            </a:r>
            <a:r>
              <a:rPr dirty="0" sz="1050" spc="-25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60">
                <a:solidFill>
                  <a:srgbClr val="D5E4EE"/>
                </a:solidFill>
                <a:latin typeface="SimSun-ExtB"/>
                <a:cs typeface="SimSun-ExtB"/>
              </a:rPr>
              <a:t>engineered:</a:t>
            </a:r>
            <a:r>
              <a:rPr dirty="0" sz="1050" spc="-2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>
                <a:solidFill>
                  <a:srgbClr val="D5E4EE"/>
                </a:solidFill>
                <a:latin typeface="SimSun-ExtB"/>
                <a:cs typeface="SimSun-ExtB"/>
              </a:rPr>
              <a:t>from</a:t>
            </a:r>
            <a:r>
              <a:rPr dirty="0" sz="1050" spc="-26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>
                <a:solidFill>
                  <a:srgbClr val="D5E4EE"/>
                </a:solidFill>
                <a:latin typeface="SimSun-ExtB"/>
                <a:cs typeface="SimSun-ExtB"/>
              </a:rPr>
              <a:t>raw</a:t>
            </a:r>
            <a:r>
              <a:rPr dirty="0" sz="1050" spc="-28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45">
                <a:solidFill>
                  <a:srgbClr val="D5E4EE"/>
                </a:solidFill>
                <a:latin typeface="SimSun-ExtB"/>
                <a:cs typeface="SimSun-ExtB"/>
              </a:rPr>
              <a:t>sensor</a:t>
            </a:r>
            <a:r>
              <a:rPr dirty="0" sz="1050" spc="-27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65">
                <a:solidFill>
                  <a:srgbClr val="D5E4EE"/>
                </a:solidFill>
                <a:latin typeface="SimSun-ExtB"/>
                <a:cs typeface="SimSun-ExtB"/>
              </a:rPr>
              <a:t>threshold</a:t>
            </a:r>
            <a:r>
              <a:rPr dirty="0" sz="1050" spc="-2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70">
                <a:solidFill>
                  <a:srgbClr val="D5E4EE"/>
                </a:solidFill>
                <a:latin typeface="SimSun-ExtB"/>
                <a:cs typeface="SimSun-ExtB"/>
              </a:rPr>
              <a:t>to</a:t>
            </a:r>
            <a:r>
              <a:rPr dirty="0" sz="1050" spc="-27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85">
                <a:solidFill>
                  <a:srgbClr val="D5E4EE"/>
                </a:solidFill>
                <a:latin typeface="SimSun-ExtB"/>
                <a:cs typeface="SimSun-ExtB"/>
              </a:rPr>
              <a:t>multi-</a:t>
            </a:r>
            <a:r>
              <a:rPr dirty="0" sz="1050" spc="-10">
                <a:solidFill>
                  <a:srgbClr val="D5E4EE"/>
                </a:solidFill>
                <a:latin typeface="SimSun-ExtB"/>
                <a:cs typeface="SimSun-ExtB"/>
              </a:rPr>
              <a:t>agency</a:t>
            </a:r>
            <a:r>
              <a:rPr dirty="0" sz="1050" spc="-2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75">
                <a:solidFill>
                  <a:srgbClr val="D5E4EE"/>
                </a:solidFill>
                <a:latin typeface="SimSun-ExtB"/>
                <a:cs typeface="SimSun-ExtB"/>
              </a:rPr>
              <a:t>coordination,</a:t>
            </a:r>
            <a:r>
              <a:rPr dirty="0" sz="1050" spc="-2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50">
                <a:solidFill>
                  <a:srgbClr val="D5E4EE"/>
                </a:solidFill>
                <a:latin typeface="SimSun-ExtB"/>
                <a:cs typeface="SimSun-ExtB"/>
              </a:rPr>
              <a:t>the</a:t>
            </a:r>
            <a:r>
              <a:rPr dirty="0" sz="1050" spc="-27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10">
                <a:solidFill>
                  <a:srgbClr val="D5E4EE"/>
                </a:solidFill>
                <a:latin typeface="SimSun-ExtB"/>
                <a:cs typeface="SimSun-ExtB"/>
              </a:rPr>
              <a:t>system</a:t>
            </a:r>
            <a:r>
              <a:rPr dirty="0" sz="1050" spc="-2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45">
                <a:solidFill>
                  <a:srgbClr val="D5E4EE"/>
                </a:solidFill>
                <a:latin typeface="SimSun-ExtB"/>
                <a:cs typeface="SimSun-ExtB"/>
              </a:rPr>
              <a:t>operates</a:t>
            </a:r>
            <a:r>
              <a:rPr dirty="0" sz="1050" spc="-2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>
                <a:solidFill>
                  <a:srgbClr val="D5E4EE"/>
                </a:solidFill>
                <a:latin typeface="SimSun-ExtB"/>
                <a:cs typeface="SimSun-ExtB"/>
              </a:rPr>
              <a:t>autonomously</a:t>
            </a:r>
            <a:r>
              <a:rPr dirty="0" sz="1050" spc="-2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50">
                <a:solidFill>
                  <a:srgbClr val="D5E4EE"/>
                </a:solidFill>
                <a:latin typeface="SimSun-ExtB"/>
                <a:cs typeface="SimSun-ExtB"/>
              </a:rPr>
              <a:t>with</a:t>
            </a:r>
            <a:r>
              <a:rPr dirty="0" sz="1050" spc="-27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60">
                <a:solidFill>
                  <a:srgbClr val="D5E4EE"/>
                </a:solidFill>
                <a:latin typeface="SimSun-ExtB"/>
                <a:cs typeface="SimSun-ExtB"/>
              </a:rPr>
              <a:t>zero</a:t>
            </a:r>
            <a:r>
              <a:rPr dirty="0" sz="1050" spc="-25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>
                <a:solidFill>
                  <a:srgbClr val="D5E4EE"/>
                </a:solidFill>
                <a:latin typeface="SimSun-ExtB"/>
                <a:cs typeface="SimSun-ExtB"/>
              </a:rPr>
              <a:t>manual</a:t>
            </a:r>
            <a:r>
              <a:rPr dirty="0" sz="1050" spc="-27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85">
                <a:solidFill>
                  <a:srgbClr val="D5E4EE"/>
                </a:solidFill>
                <a:latin typeface="SimSun-ExtB"/>
                <a:cs typeface="SimSun-ExtB"/>
              </a:rPr>
              <a:t>intervention</a:t>
            </a:r>
            <a:r>
              <a:rPr dirty="0" sz="1050" spc="-3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10">
                <a:solidFill>
                  <a:srgbClr val="D5E4EE"/>
                </a:solidFill>
                <a:latin typeface="SimSun-ExtB"/>
                <a:cs typeface="SimSun-ExtB"/>
              </a:rPr>
              <a:t>required.</a:t>
            </a:r>
            <a:endParaRPr sz="1050">
              <a:latin typeface="SimSun-ExtB"/>
              <a:cs typeface="SimSun-ExtB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931525" y="6378797"/>
            <a:ext cx="1188085" cy="402590"/>
            <a:chOff x="10931525" y="6378797"/>
            <a:chExt cx="1188085" cy="402590"/>
          </a:xfrm>
        </p:grpSpPr>
        <p:sp>
          <p:nvSpPr>
            <p:cNvPr id="20" name="object 20"/>
            <p:cNvSpPr/>
            <p:nvPr/>
          </p:nvSpPr>
          <p:spPr>
            <a:xfrm>
              <a:off x="10937875" y="6385147"/>
              <a:ext cx="1175385" cy="389890"/>
            </a:xfrm>
            <a:custGeom>
              <a:avLst/>
              <a:gdLst/>
              <a:ahLst/>
              <a:cxnLst/>
              <a:rect l="l" t="t" r="r" b="b"/>
              <a:pathLst>
                <a:path w="1175384" h="389890">
                  <a:moveTo>
                    <a:pt x="1175232" y="0"/>
                  </a:moveTo>
                  <a:lnTo>
                    <a:pt x="0" y="0"/>
                  </a:lnTo>
                  <a:lnTo>
                    <a:pt x="0" y="389585"/>
                  </a:lnTo>
                  <a:lnTo>
                    <a:pt x="1175232" y="389585"/>
                  </a:lnTo>
                  <a:lnTo>
                    <a:pt x="1175232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937875" y="6385147"/>
              <a:ext cx="1175385" cy="389890"/>
            </a:xfrm>
            <a:custGeom>
              <a:avLst/>
              <a:gdLst/>
              <a:ahLst/>
              <a:cxnLst/>
              <a:rect l="l" t="t" r="r" b="b"/>
              <a:pathLst>
                <a:path w="1175384" h="389890">
                  <a:moveTo>
                    <a:pt x="0" y="389585"/>
                  </a:moveTo>
                  <a:lnTo>
                    <a:pt x="1175232" y="389585"/>
                  </a:lnTo>
                  <a:lnTo>
                    <a:pt x="1175232" y="0"/>
                  </a:lnTo>
                  <a:lnTo>
                    <a:pt x="0" y="0"/>
                  </a:lnTo>
                  <a:lnTo>
                    <a:pt x="0" y="389585"/>
                  </a:lnTo>
                  <a:close/>
                </a:path>
              </a:pathLst>
            </a:custGeom>
            <a:ln w="12699">
              <a:solidFill>
                <a:srgbClr val="2428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48543" y="6268050"/>
            <a:ext cx="1200150" cy="547370"/>
            <a:chOff x="10948543" y="6268050"/>
            <a:chExt cx="1200150" cy="547370"/>
          </a:xfrm>
        </p:grpSpPr>
        <p:sp>
          <p:nvSpPr>
            <p:cNvPr id="3" name="object 3"/>
            <p:cNvSpPr/>
            <p:nvPr/>
          </p:nvSpPr>
          <p:spPr>
            <a:xfrm>
              <a:off x="10954893" y="6274400"/>
              <a:ext cx="1175385" cy="532130"/>
            </a:xfrm>
            <a:custGeom>
              <a:avLst/>
              <a:gdLst/>
              <a:ahLst/>
              <a:cxnLst/>
              <a:rect l="l" t="t" r="r" b="b"/>
              <a:pathLst>
                <a:path w="1175384" h="532129">
                  <a:moveTo>
                    <a:pt x="1175232" y="0"/>
                  </a:moveTo>
                  <a:lnTo>
                    <a:pt x="0" y="0"/>
                  </a:lnTo>
                  <a:lnTo>
                    <a:pt x="0" y="532129"/>
                  </a:lnTo>
                  <a:lnTo>
                    <a:pt x="1175232" y="532129"/>
                  </a:lnTo>
                  <a:lnTo>
                    <a:pt x="1175232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954893" y="6274400"/>
              <a:ext cx="1175385" cy="532130"/>
            </a:xfrm>
            <a:custGeom>
              <a:avLst/>
              <a:gdLst/>
              <a:ahLst/>
              <a:cxnLst/>
              <a:rect l="l" t="t" r="r" b="b"/>
              <a:pathLst>
                <a:path w="1175384" h="532129">
                  <a:moveTo>
                    <a:pt x="0" y="532129"/>
                  </a:moveTo>
                  <a:lnTo>
                    <a:pt x="1175232" y="532129"/>
                  </a:lnTo>
                  <a:lnTo>
                    <a:pt x="1175232" y="0"/>
                  </a:lnTo>
                  <a:lnTo>
                    <a:pt x="0" y="0"/>
                  </a:lnTo>
                  <a:lnTo>
                    <a:pt x="0" y="532129"/>
                  </a:lnTo>
                  <a:close/>
                </a:path>
              </a:pathLst>
            </a:custGeom>
            <a:ln w="12699">
              <a:solidFill>
                <a:srgbClr val="2428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673223" y="429260"/>
            <a:ext cx="5450840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>
                <a:solidFill>
                  <a:srgbClr val="F889C6"/>
                </a:solidFill>
                <a:latin typeface="Georgia"/>
                <a:cs typeface="Georgia"/>
              </a:rPr>
              <a:t>Validated</a:t>
            </a:r>
            <a:r>
              <a:rPr dirty="0" sz="2950" spc="17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2950">
                <a:solidFill>
                  <a:srgbClr val="F889C6"/>
                </a:solidFill>
                <a:latin typeface="Georgia"/>
                <a:cs typeface="Georgia"/>
              </a:rPr>
              <a:t>in</a:t>
            </a:r>
            <a:r>
              <a:rPr dirty="0" sz="2950" spc="200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2950" spc="80">
                <a:solidFill>
                  <a:srgbClr val="F889C6"/>
                </a:solidFill>
                <a:latin typeface="Georgia"/>
                <a:cs typeface="Georgia"/>
              </a:rPr>
              <a:t>Controlled</a:t>
            </a:r>
            <a:r>
              <a:rPr dirty="0" sz="2950" spc="15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2950" spc="65">
                <a:solidFill>
                  <a:srgbClr val="F889C6"/>
                </a:solidFill>
                <a:latin typeface="Georgia"/>
                <a:cs typeface="Georgia"/>
              </a:rPr>
              <a:t>Testing</a:t>
            </a:r>
            <a:endParaRPr sz="2950">
              <a:latin typeface="Georgia"/>
              <a:cs typeface="Georgi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268092" y="1653286"/>
            <a:ext cx="1490980" cy="6508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100" spc="-10">
                <a:solidFill>
                  <a:srgbClr val="D5E4EE"/>
                </a:solidFill>
              </a:rPr>
              <a:t>92.6%</a:t>
            </a:r>
            <a:endParaRPr sz="4100"/>
          </a:p>
        </p:txBody>
      </p:sp>
      <p:sp>
        <p:nvSpPr>
          <p:cNvPr id="7" name="object 7"/>
          <p:cNvSpPr txBox="1"/>
          <p:nvPr/>
        </p:nvSpPr>
        <p:spPr>
          <a:xfrm>
            <a:off x="2156586" y="2859405"/>
            <a:ext cx="171323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10">
                <a:solidFill>
                  <a:srgbClr val="D5E4EE"/>
                </a:solidFill>
                <a:latin typeface="Georgia"/>
                <a:cs typeface="Georgia"/>
              </a:rPr>
              <a:t>Detection</a:t>
            </a:r>
            <a:r>
              <a:rPr dirty="0" sz="1450" spc="37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450" spc="-10">
                <a:solidFill>
                  <a:srgbClr val="D5E4EE"/>
                </a:solidFill>
                <a:latin typeface="Georgia"/>
                <a:cs typeface="Georgia"/>
              </a:rPr>
              <a:t>Accuracy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47442" y="3362909"/>
            <a:ext cx="173164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75">
                <a:solidFill>
                  <a:srgbClr val="D5E4EE"/>
                </a:solidFill>
                <a:latin typeface="SimSun-ExtB"/>
                <a:cs typeface="SimSun-ExtB"/>
              </a:rPr>
              <a:t>Across</a:t>
            </a:r>
            <a:r>
              <a:rPr dirty="0" sz="125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0">
                <a:solidFill>
                  <a:srgbClr val="D5E4EE"/>
                </a:solidFill>
                <a:latin typeface="SimSun-ExtB"/>
                <a:cs typeface="SimSun-ExtB"/>
              </a:rPr>
              <a:t>60</a:t>
            </a:r>
            <a:r>
              <a:rPr dirty="0" sz="1250" spc="-3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40">
                <a:solidFill>
                  <a:srgbClr val="D5E4EE"/>
                </a:solidFill>
                <a:latin typeface="SimSun-ExtB"/>
                <a:cs typeface="SimSun-ExtB"/>
              </a:rPr>
              <a:t>Simulated</a:t>
            </a:r>
            <a:r>
              <a:rPr dirty="0" sz="1250" spc="-3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70">
                <a:solidFill>
                  <a:srgbClr val="D5E4EE"/>
                </a:solidFill>
                <a:latin typeface="SimSun-ExtB"/>
                <a:cs typeface="SimSun-ExtB"/>
              </a:rPr>
              <a:t>trials</a:t>
            </a:r>
            <a:endParaRPr sz="1250">
              <a:latin typeface="SimSun-ExtB"/>
              <a:cs typeface="SimSun-ExtB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0945" y="4417263"/>
            <a:ext cx="2066289" cy="137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100" spc="-50">
                <a:solidFill>
                  <a:srgbClr val="D5E4EE"/>
                </a:solidFill>
                <a:latin typeface="Georgia"/>
                <a:cs typeface="Georgia"/>
              </a:rPr>
              <a:t>3</a:t>
            </a:r>
            <a:endParaRPr sz="4100">
              <a:latin typeface="Georgia"/>
              <a:cs typeface="Georgia"/>
            </a:endParaRPr>
          </a:p>
          <a:p>
            <a:pPr algn="ctr" marR="41275">
              <a:lnSpc>
                <a:spcPct val="100000"/>
              </a:lnSpc>
              <a:spcBef>
                <a:spcPts val="1555"/>
              </a:spcBef>
            </a:pPr>
            <a:r>
              <a:rPr dirty="0" sz="1450">
                <a:solidFill>
                  <a:srgbClr val="D5E4EE"/>
                </a:solidFill>
                <a:latin typeface="Georgia"/>
                <a:cs typeface="Georgia"/>
              </a:rPr>
              <a:t>False</a:t>
            </a:r>
            <a:r>
              <a:rPr dirty="0" sz="1450" spc="10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450" spc="-10">
                <a:solidFill>
                  <a:srgbClr val="D5E4EE"/>
                </a:solidFill>
                <a:latin typeface="Georgia"/>
                <a:cs typeface="Georgia"/>
              </a:rPr>
              <a:t>Alerts</a:t>
            </a:r>
            <a:endParaRPr sz="14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dirty="0" sz="1250" spc="-35">
                <a:solidFill>
                  <a:srgbClr val="D5E4EE"/>
                </a:solidFill>
                <a:latin typeface="SimSun-ExtB"/>
                <a:cs typeface="SimSun-ExtB"/>
              </a:rPr>
              <a:t>Zero</a:t>
            </a:r>
            <a:r>
              <a:rPr dirty="0" sz="125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45">
                <a:solidFill>
                  <a:srgbClr val="D5E4EE"/>
                </a:solidFill>
                <a:latin typeface="SimSun-ExtB"/>
                <a:cs typeface="SimSun-ExtB"/>
              </a:rPr>
              <a:t>false</a:t>
            </a:r>
            <a:r>
              <a:rPr dirty="0" sz="125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70">
                <a:solidFill>
                  <a:srgbClr val="D5E4EE"/>
                </a:solidFill>
                <a:latin typeface="SimSun-ExtB"/>
                <a:cs typeface="SimSun-ExtB"/>
              </a:rPr>
              <a:t>dispatches</a:t>
            </a:r>
            <a:r>
              <a:rPr dirty="0" sz="1250" spc="-3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0">
                <a:solidFill>
                  <a:srgbClr val="D5E4EE"/>
                </a:solidFill>
                <a:latin typeface="SimSun-ExtB"/>
                <a:cs typeface="SimSun-ExtB"/>
              </a:rPr>
              <a:t>recorded</a:t>
            </a:r>
            <a:endParaRPr sz="1250">
              <a:latin typeface="SimSun-ExtB"/>
              <a:cs typeface="SimSun-ExtB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29831" y="4396181"/>
            <a:ext cx="2611120" cy="137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5"/>
              </a:spcBef>
            </a:pPr>
            <a:r>
              <a:rPr dirty="0" sz="4100" spc="-10">
                <a:solidFill>
                  <a:srgbClr val="D5E4EE"/>
                </a:solidFill>
                <a:latin typeface="Georgia"/>
                <a:cs typeface="Georgia"/>
              </a:rPr>
              <a:t>378ms</a:t>
            </a:r>
            <a:endParaRPr sz="4100">
              <a:latin typeface="Georgia"/>
              <a:cs typeface="Georgia"/>
            </a:endParaRPr>
          </a:p>
          <a:p>
            <a:pPr algn="ctr" marL="1905">
              <a:lnSpc>
                <a:spcPct val="100000"/>
              </a:lnSpc>
              <a:spcBef>
                <a:spcPts val="1555"/>
              </a:spcBef>
            </a:pPr>
            <a:r>
              <a:rPr dirty="0" sz="1450">
                <a:solidFill>
                  <a:srgbClr val="D5E4EE"/>
                </a:solidFill>
                <a:latin typeface="Georgia"/>
                <a:cs typeface="Georgia"/>
              </a:rPr>
              <a:t>Mean</a:t>
            </a:r>
            <a:r>
              <a:rPr dirty="0" sz="1450" spc="6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450" spc="55">
                <a:solidFill>
                  <a:srgbClr val="D5E4EE"/>
                </a:solidFill>
                <a:latin typeface="Georgia"/>
                <a:cs typeface="Georgia"/>
              </a:rPr>
              <a:t>Crash-</a:t>
            </a:r>
            <a:r>
              <a:rPr dirty="0" sz="1450" spc="90">
                <a:solidFill>
                  <a:srgbClr val="D5E4EE"/>
                </a:solidFill>
                <a:latin typeface="Georgia"/>
                <a:cs typeface="Georgia"/>
              </a:rPr>
              <a:t>to-</a:t>
            </a:r>
            <a:r>
              <a:rPr dirty="0" sz="1450">
                <a:solidFill>
                  <a:srgbClr val="D5E4EE"/>
                </a:solidFill>
                <a:latin typeface="Georgia"/>
                <a:cs typeface="Georgia"/>
              </a:rPr>
              <a:t>DB</a:t>
            </a:r>
            <a:r>
              <a:rPr dirty="0" sz="1450" spc="6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450" spc="-10">
                <a:solidFill>
                  <a:srgbClr val="D5E4EE"/>
                </a:solidFill>
                <a:latin typeface="Georgia"/>
                <a:cs typeface="Georgia"/>
              </a:rPr>
              <a:t>Latency</a:t>
            </a:r>
            <a:endParaRPr sz="14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dirty="0" sz="1250" spc="-45">
                <a:solidFill>
                  <a:srgbClr val="D5E4EE"/>
                </a:solidFill>
                <a:latin typeface="SimSun-ExtB"/>
                <a:cs typeface="SimSun-ExtB"/>
              </a:rPr>
              <a:t>Crash</a:t>
            </a:r>
            <a:r>
              <a:rPr dirty="0" sz="1250" spc="-3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55">
                <a:solidFill>
                  <a:srgbClr val="D5E4EE"/>
                </a:solidFill>
                <a:latin typeface="SimSun-ExtB"/>
                <a:cs typeface="SimSun-ExtB"/>
              </a:rPr>
              <a:t>detected</a:t>
            </a:r>
            <a:r>
              <a:rPr dirty="0" sz="1250" spc="-31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90">
                <a:solidFill>
                  <a:srgbClr val="D5E4EE"/>
                </a:solidFill>
                <a:latin typeface="SimSun-ExtB"/>
                <a:cs typeface="SimSun-ExtB"/>
              </a:rPr>
              <a:t>to</a:t>
            </a:r>
            <a:r>
              <a:rPr dirty="0" sz="1250" spc="-33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95">
                <a:solidFill>
                  <a:srgbClr val="D5E4EE"/>
                </a:solidFill>
                <a:latin typeface="SimSun-ExtB"/>
                <a:cs typeface="SimSun-ExtB"/>
              </a:rPr>
              <a:t>MongoDB</a:t>
            </a:r>
            <a:r>
              <a:rPr dirty="0" sz="125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25">
                <a:solidFill>
                  <a:srgbClr val="D5E4EE"/>
                </a:solidFill>
                <a:latin typeface="SimSun-ExtB"/>
                <a:cs typeface="SimSun-ExtB"/>
              </a:rPr>
              <a:t>Atlas</a:t>
            </a:r>
            <a:r>
              <a:rPr dirty="0" sz="1250" spc="-33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45">
                <a:solidFill>
                  <a:srgbClr val="D5E4EE"/>
                </a:solidFill>
                <a:latin typeface="SimSun-ExtB"/>
                <a:cs typeface="SimSun-ExtB"/>
              </a:rPr>
              <a:t>write</a:t>
            </a:r>
            <a:endParaRPr sz="1250">
              <a:latin typeface="SimSun-ExtB"/>
              <a:cs typeface="SimSun-ExtB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710" y="6517030"/>
            <a:ext cx="352869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F889C6"/>
                </a:solidFill>
                <a:latin typeface="Georgia"/>
                <a:cs typeface="Georgia"/>
              </a:rPr>
              <a:t>Validation</a:t>
            </a:r>
            <a:r>
              <a:rPr dirty="0" sz="1450" spc="170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450">
                <a:solidFill>
                  <a:srgbClr val="F889C6"/>
                </a:solidFill>
                <a:latin typeface="Georgia"/>
                <a:cs typeface="Georgia"/>
              </a:rPr>
              <a:t>Results</a:t>
            </a:r>
            <a:r>
              <a:rPr dirty="0" sz="1450" spc="170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450">
                <a:solidFill>
                  <a:srgbClr val="F889C6"/>
                </a:solidFill>
                <a:latin typeface="Georgia"/>
                <a:cs typeface="Georgia"/>
              </a:rPr>
              <a:t>—</a:t>
            </a:r>
            <a:r>
              <a:rPr dirty="0" sz="1450" spc="15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450">
                <a:solidFill>
                  <a:srgbClr val="F889C6"/>
                </a:solidFill>
                <a:latin typeface="Georgia"/>
                <a:cs typeface="Georgia"/>
              </a:rPr>
              <a:t>60</a:t>
            </a:r>
            <a:r>
              <a:rPr dirty="0" sz="1450" spc="14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450">
                <a:solidFill>
                  <a:srgbClr val="F889C6"/>
                </a:solidFill>
                <a:latin typeface="Georgia"/>
                <a:cs typeface="Georgia"/>
              </a:rPr>
              <a:t>Controlled</a:t>
            </a:r>
            <a:r>
              <a:rPr dirty="0" sz="1450" spc="12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450" spc="-10">
                <a:solidFill>
                  <a:srgbClr val="F889C6"/>
                </a:solidFill>
                <a:latin typeface="Georgia"/>
                <a:cs typeface="Georgia"/>
              </a:rPr>
              <a:t>Trials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42506" y="1653286"/>
            <a:ext cx="1713230" cy="144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100" spc="-10">
                <a:solidFill>
                  <a:srgbClr val="D5E4EE"/>
                </a:solidFill>
                <a:latin typeface="Georgia"/>
                <a:cs typeface="Georgia"/>
              </a:rPr>
              <a:t>71.1%</a:t>
            </a:r>
            <a:endParaRPr sz="4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4480"/>
              </a:spcBef>
            </a:pPr>
            <a:r>
              <a:rPr dirty="0" sz="1450" spc="10">
                <a:solidFill>
                  <a:srgbClr val="D5E4EE"/>
                </a:solidFill>
                <a:latin typeface="Georgia"/>
                <a:cs typeface="Georgia"/>
              </a:rPr>
              <a:t>Detection</a:t>
            </a:r>
            <a:r>
              <a:rPr dirty="0" sz="1450" spc="37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450" spc="-10">
                <a:solidFill>
                  <a:srgbClr val="D5E4EE"/>
                </a:solidFill>
                <a:latin typeface="Georgia"/>
                <a:cs typeface="Georgia"/>
              </a:rPr>
              <a:t>Accuracy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21169" y="3346195"/>
            <a:ext cx="175450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70">
                <a:solidFill>
                  <a:srgbClr val="D5E4EE"/>
                </a:solidFill>
                <a:latin typeface="SimSun-ExtB"/>
                <a:cs typeface="SimSun-ExtB"/>
              </a:rPr>
              <a:t>Across</a:t>
            </a:r>
            <a:r>
              <a:rPr dirty="0" sz="1250" spc="-33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0">
                <a:solidFill>
                  <a:srgbClr val="D5E4EE"/>
                </a:solidFill>
                <a:latin typeface="SimSun-ExtB"/>
                <a:cs typeface="SimSun-ExtB"/>
              </a:rPr>
              <a:t>18</a:t>
            </a:r>
            <a:r>
              <a:rPr dirty="0" sz="1250" spc="-34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45">
                <a:solidFill>
                  <a:srgbClr val="D5E4EE"/>
                </a:solidFill>
                <a:latin typeface="SimSun-ExtB"/>
                <a:cs typeface="SimSun-ExtB"/>
              </a:rPr>
              <a:t>worst</a:t>
            </a:r>
            <a:r>
              <a:rPr dirty="0" sz="1250" spc="-33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50">
                <a:solidFill>
                  <a:srgbClr val="D5E4EE"/>
                </a:solidFill>
                <a:latin typeface="SimSun-ExtB"/>
                <a:cs typeface="SimSun-ExtB"/>
              </a:rPr>
              <a:t>case</a:t>
            </a:r>
            <a:r>
              <a:rPr dirty="0" sz="1250" spc="-3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250" spc="-175">
                <a:solidFill>
                  <a:srgbClr val="D5E4EE"/>
                </a:solidFill>
                <a:latin typeface="SimSun-ExtB"/>
                <a:cs typeface="SimSun-ExtB"/>
              </a:rPr>
              <a:t>trials</a:t>
            </a:r>
            <a:endParaRPr sz="1250">
              <a:latin typeface="SimSun-ExtB"/>
              <a:cs typeface="SimSun-ExtB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91347" y="5807430"/>
            <a:ext cx="3533775" cy="733425"/>
          </a:xfrm>
          <a:custGeom>
            <a:avLst/>
            <a:gdLst/>
            <a:ahLst/>
            <a:cxnLst/>
            <a:rect l="l" t="t" r="r" b="b"/>
            <a:pathLst>
              <a:path w="3533775" h="733425">
                <a:moveTo>
                  <a:pt x="3512438" y="0"/>
                </a:moveTo>
                <a:lnTo>
                  <a:pt x="20954" y="0"/>
                </a:lnTo>
                <a:lnTo>
                  <a:pt x="12805" y="1647"/>
                </a:lnTo>
                <a:lnTo>
                  <a:pt x="6143" y="6137"/>
                </a:lnTo>
                <a:lnTo>
                  <a:pt x="1649" y="12794"/>
                </a:lnTo>
                <a:lnTo>
                  <a:pt x="0" y="20942"/>
                </a:lnTo>
                <a:lnTo>
                  <a:pt x="0" y="712088"/>
                </a:lnTo>
                <a:lnTo>
                  <a:pt x="1649" y="720242"/>
                </a:lnTo>
                <a:lnTo>
                  <a:pt x="6143" y="726898"/>
                </a:lnTo>
                <a:lnTo>
                  <a:pt x="12805" y="731386"/>
                </a:lnTo>
                <a:lnTo>
                  <a:pt x="20954" y="733031"/>
                </a:lnTo>
                <a:lnTo>
                  <a:pt x="3512438" y="733031"/>
                </a:lnTo>
                <a:lnTo>
                  <a:pt x="3520588" y="731386"/>
                </a:lnTo>
                <a:lnTo>
                  <a:pt x="3527250" y="726898"/>
                </a:lnTo>
                <a:lnTo>
                  <a:pt x="3531744" y="720242"/>
                </a:lnTo>
                <a:lnTo>
                  <a:pt x="3533394" y="712088"/>
                </a:lnTo>
                <a:lnTo>
                  <a:pt x="3533394" y="20942"/>
                </a:lnTo>
                <a:lnTo>
                  <a:pt x="3531744" y="12794"/>
                </a:lnTo>
                <a:lnTo>
                  <a:pt x="3527250" y="6137"/>
                </a:lnTo>
                <a:lnTo>
                  <a:pt x="3520588" y="1647"/>
                </a:lnTo>
                <a:lnTo>
                  <a:pt x="3512438" y="0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85596" y="774572"/>
            <a:ext cx="4896485" cy="8813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50">
                <a:solidFill>
                  <a:srgbClr val="F889C6"/>
                </a:solidFill>
                <a:latin typeface="Georgia"/>
                <a:cs typeface="Georgia"/>
              </a:rPr>
              <a:t>Why</a:t>
            </a:r>
            <a:r>
              <a:rPr dirty="0" sz="2550" spc="17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2550">
                <a:solidFill>
                  <a:srgbClr val="F889C6"/>
                </a:solidFill>
                <a:latin typeface="Georgia"/>
                <a:cs typeface="Georgia"/>
              </a:rPr>
              <a:t>NovaShields</a:t>
            </a:r>
            <a:r>
              <a:rPr dirty="0" sz="2550" spc="170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2550">
                <a:solidFill>
                  <a:srgbClr val="F889C6"/>
                </a:solidFill>
                <a:latin typeface="Georgia"/>
                <a:cs typeface="Georgia"/>
              </a:rPr>
              <a:t>Plus</a:t>
            </a:r>
            <a:r>
              <a:rPr dirty="0" sz="2550" spc="17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2550" spc="55">
                <a:solidFill>
                  <a:srgbClr val="F889C6"/>
                </a:solidFill>
                <a:latin typeface="Georgia"/>
                <a:cs typeface="Georgia"/>
              </a:rPr>
              <a:t>Can</a:t>
            </a:r>
            <a:r>
              <a:rPr dirty="0" sz="2550" spc="16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2550" spc="45">
                <a:solidFill>
                  <a:srgbClr val="F889C6"/>
                </a:solidFill>
                <a:latin typeface="Georgia"/>
                <a:cs typeface="Georgia"/>
              </a:rPr>
              <a:t>Scale</a:t>
            </a:r>
            <a:endParaRPr sz="25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</a:pPr>
            <a:r>
              <a:rPr dirty="0" sz="1250" spc="10">
                <a:solidFill>
                  <a:srgbClr val="F889C6"/>
                </a:solidFill>
                <a:latin typeface="Georgia"/>
                <a:cs typeface="Georgia"/>
              </a:rPr>
              <a:t>Competitive</a:t>
            </a:r>
            <a:r>
              <a:rPr dirty="0" sz="1250" spc="229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250" spc="10">
                <a:solidFill>
                  <a:srgbClr val="F889C6"/>
                </a:solidFill>
                <a:latin typeface="Georgia"/>
                <a:cs typeface="Georgia"/>
              </a:rPr>
              <a:t>Advantage</a:t>
            </a:r>
            <a:r>
              <a:rPr dirty="0" sz="1250" spc="220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1250" spc="-10">
                <a:solidFill>
                  <a:srgbClr val="F889C6"/>
                </a:solidFill>
                <a:latin typeface="Georgia"/>
                <a:cs typeface="Georgia"/>
              </a:rPr>
              <a:t>Matrix</a:t>
            </a:r>
            <a:endParaRPr sz="125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7047" y="1735454"/>
            <a:ext cx="6459220" cy="3747770"/>
            <a:chOff x="707047" y="1735454"/>
            <a:chExt cx="6459220" cy="3747770"/>
          </a:xfrm>
        </p:grpSpPr>
        <p:sp>
          <p:nvSpPr>
            <p:cNvPr id="5" name="object 5"/>
            <p:cNvSpPr/>
            <p:nvPr/>
          </p:nvSpPr>
          <p:spPr>
            <a:xfrm>
              <a:off x="710222" y="1738629"/>
              <a:ext cx="6452870" cy="3741420"/>
            </a:xfrm>
            <a:custGeom>
              <a:avLst/>
              <a:gdLst/>
              <a:ahLst/>
              <a:cxnLst/>
              <a:rect l="l" t="t" r="r" b="b"/>
              <a:pathLst>
                <a:path w="6452870" h="3741420">
                  <a:moveTo>
                    <a:pt x="0" y="23622"/>
                  </a:moveTo>
                  <a:lnTo>
                    <a:pt x="1854" y="14412"/>
                  </a:lnTo>
                  <a:lnTo>
                    <a:pt x="6913" y="6905"/>
                  </a:lnTo>
                  <a:lnTo>
                    <a:pt x="14417" y="1851"/>
                  </a:lnTo>
                  <a:lnTo>
                    <a:pt x="23609" y="0"/>
                  </a:lnTo>
                  <a:lnTo>
                    <a:pt x="6428955" y="0"/>
                  </a:lnTo>
                  <a:lnTo>
                    <a:pt x="6438091" y="1851"/>
                  </a:lnTo>
                  <a:lnTo>
                    <a:pt x="6445561" y="6905"/>
                  </a:lnTo>
                  <a:lnTo>
                    <a:pt x="6450601" y="14412"/>
                  </a:lnTo>
                  <a:lnTo>
                    <a:pt x="6452450" y="23622"/>
                  </a:lnTo>
                  <a:lnTo>
                    <a:pt x="6452450" y="3717544"/>
                  </a:lnTo>
                  <a:lnTo>
                    <a:pt x="6450601" y="3726699"/>
                  </a:lnTo>
                  <a:lnTo>
                    <a:pt x="6445561" y="3734212"/>
                  </a:lnTo>
                  <a:lnTo>
                    <a:pt x="6438091" y="3739296"/>
                  </a:lnTo>
                  <a:lnTo>
                    <a:pt x="6428955" y="3741166"/>
                  </a:lnTo>
                  <a:lnTo>
                    <a:pt x="23609" y="3741166"/>
                  </a:lnTo>
                  <a:lnTo>
                    <a:pt x="14417" y="3739296"/>
                  </a:lnTo>
                  <a:lnTo>
                    <a:pt x="6913" y="3734212"/>
                  </a:lnTo>
                  <a:lnTo>
                    <a:pt x="1854" y="3726699"/>
                  </a:lnTo>
                  <a:lnTo>
                    <a:pt x="0" y="3717544"/>
                  </a:lnTo>
                  <a:lnTo>
                    <a:pt x="0" y="23622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125083" y="1745741"/>
              <a:ext cx="1029969" cy="577850"/>
            </a:xfrm>
            <a:custGeom>
              <a:avLst/>
              <a:gdLst/>
              <a:ahLst/>
              <a:cxnLst/>
              <a:rect l="l" t="t" r="r" b="b"/>
              <a:pathLst>
                <a:path w="1029970" h="577850">
                  <a:moveTo>
                    <a:pt x="1008252" y="0"/>
                  </a:moveTo>
                  <a:lnTo>
                    <a:pt x="0" y="0"/>
                  </a:lnTo>
                  <a:lnTo>
                    <a:pt x="0" y="577596"/>
                  </a:lnTo>
                  <a:lnTo>
                    <a:pt x="1029842" y="577596"/>
                  </a:lnTo>
                  <a:lnTo>
                    <a:pt x="1029842" y="19685"/>
                  </a:lnTo>
                  <a:lnTo>
                    <a:pt x="1028148" y="12001"/>
                  </a:lnTo>
                  <a:lnTo>
                    <a:pt x="1023524" y="5746"/>
                  </a:lnTo>
                  <a:lnTo>
                    <a:pt x="1016662" y="1539"/>
                  </a:lnTo>
                  <a:lnTo>
                    <a:pt x="1008252" y="0"/>
                  </a:lnTo>
                  <a:close/>
                </a:path>
              </a:pathLst>
            </a:custGeom>
            <a:solidFill>
              <a:srgbClr val="1A3952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10222" y="1738629"/>
          <a:ext cx="6529070" cy="3738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3280"/>
                <a:gridCol w="1146174"/>
                <a:gridCol w="3192779"/>
              </a:tblGrid>
              <a:tr h="589280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050" spc="-10" b="1">
                          <a:solidFill>
                            <a:srgbClr val="D5E4EE"/>
                          </a:solidFill>
                          <a:latin typeface="Yu Gothic UI"/>
                          <a:cs typeface="Yu Gothic UI"/>
                        </a:rPr>
                        <a:t>Feature</a:t>
                      </a:r>
                      <a:endParaRPr sz="1050">
                        <a:latin typeface="Yu Gothic UI"/>
                        <a:cs typeface="Yu Gothic UI"/>
                      </a:endParaRPr>
                    </a:p>
                  </a:txBody>
                  <a:tcPr marL="0" marR="0" marB="0" marT="80010"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4175" marR="260350">
                        <a:lnSpc>
                          <a:spcPct val="114300"/>
                        </a:lnSpc>
                        <a:spcBef>
                          <a:spcPts val="434"/>
                        </a:spcBef>
                      </a:pPr>
                      <a:r>
                        <a:rPr dirty="0" sz="1050" spc="-20" b="1">
                          <a:solidFill>
                            <a:srgbClr val="D5E4EE"/>
                          </a:solidFill>
                          <a:latin typeface="Yu Gothic UI"/>
                          <a:cs typeface="Yu Gothic UI"/>
                        </a:rPr>
                        <a:t>Smart Helmets</a:t>
                      </a:r>
                      <a:endParaRPr sz="1050">
                        <a:latin typeface="Yu Gothic UI"/>
                        <a:cs typeface="Yu Gothic UI"/>
                      </a:endParaRPr>
                    </a:p>
                  </a:txBody>
                  <a:tcPr marL="0" marR="0" marB="0" marT="55244"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1297940" algn="l"/>
                          <a:tab pos="2327910" algn="l"/>
                        </a:tabLst>
                      </a:pPr>
                      <a:r>
                        <a:rPr dirty="0" sz="1050" spc="-10" b="1">
                          <a:solidFill>
                            <a:srgbClr val="D5E4EE"/>
                          </a:solidFill>
                          <a:latin typeface="Yu Gothic UI"/>
                          <a:cs typeface="Yu Gothic UI"/>
                        </a:rPr>
                        <a:t>Phone</a:t>
                      </a:r>
                      <a:r>
                        <a:rPr dirty="0" sz="1050" b="1">
                          <a:solidFill>
                            <a:srgbClr val="D5E4EE"/>
                          </a:solidFill>
                          <a:latin typeface="Yu Gothic UI"/>
                          <a:cs typeface="Yu Gothic UI"/>
                        </a:rPr>
                        <a:t>	</a:t>
                      </a:r>
                      <a:r>
                        <a:rPr dirty="0" sz="1050" spc="-10" b="1">
                          <a:solidFill>
                            <a:srgbClr val="D5E4EE"/>
                          </a:solidFill>
                          <a:latin typeface="Yu Gothic UI"/>
                          <a:cs typeface="Yu Gothic UI"/>
                        </a:rPr>
                        <a:t>Premium</a:t>
                      </a:r>
                      <a:r>
                        <a:rPr dirty="0" sz="1050" b="1">
                          <a:solidFill>
                            <a:srgbClr val="D5E4EE"/>
                          </a:solidFill>
                          <a:latin typeface="Yu Gothic UI"/>
                          <a:cs typeface="Yu Gothic UI"/>
                        </a:rPr>
                        <a:t>	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NovaShield</a:t>
                      </a:r>
                      <a:endParaRPr sz="1050">
                        <a:latin typeface="Yu Gothic UI"/>
                        <a:cs typeface="Yu Gothic UI"/>
                      </a:endParaRPr>
                    </a:p>
                    <a:p>
                      <a:pPr marL="267970">
                        <a:lnSpc>
                          <a:spcPct val="100000"/>
                        </a:lnSpc>
                        <a:spcBef>
                          <a:spcPts val="180"/>
                        </a:spcBef>
                        <a:tabLst>
                          <a:tab pos="1297940" algn="l"/>
                          <a:tab pos="2327910" algn="l"/>
                        </a:tabLst>
                      </a:pPr>
                      <a:r>
                        <a:rPr dirty="0" sz="1050" spc="-20" b="1">
                          <a:solidFill>
                            <a:srgbClr val="D5E4EE"/>
                          </a:solidFill>
                          <a:latin typeface="Yu Gothic UI"/>
                          <a:cs typeface="Yu Gothic UI"/>
                        </a:rPr>
                        <a:t>Apps</a:t>
                      </a:r>
                      <a:r>
                        <a:rPr dirty="0" sz="1050" b="1">
                          <a:solidFill>
                            <a:srgbClr val="D5E4EE"/>
                          </a:solidFill>
                          <a:latin typeface="Yu Gothic UI"/>
                          <a:cs typeface="Yu Gothic UI"/>
                        </a:rPr>
                        <a:t>	</a:t>
                      </a:r>
                      <a:r>
                        <a:rPr dirty="0" sz="1050" spc="-20" b="1">
                          <a:solidFill>
                            <a:srgbClr val="D5E4EE"/>
                          </a:solidFill>
                          <a:latin typeface="Yu Gothic UI"/>
                          <a:cs typeface="Yu Gothic UI"/>
                        </a:rPr>
                        <a:t>Bikes</a:t>
                      </a:r>
                      <a:r>
                        <a:rPr dirty="0" sz="1050" b="1">
                          <a:solidFill>
                            <a:srgbClr val="D5E4EE"/>
                          </a:solidFill>
                          <a:latin typeface="Yu Gothic UI"/>
                          <a:cs typeface="Yu Gothic UI"/>
                        </a:rPr>
                        <a:t>	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s+</a:t>
                      </a:r>
                      <a:endParaRPr sz="1050">
                        <a:latin typeface="Yu Gothic UI"/>
                        <a:cs typeface="Yu Gothic UI"/>
                      </a:endParaRPr>
                    </a:p>
                  </a:txBody>
                  <a:tcPr marL="0" marR="0" marB="0" marT="78105"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50" spc="-1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Auto</a:t>
                      </a:r>
                      <a:r>
                        <a:rPr dirty="0" sz="1050" spc="-295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 </a:t>
                      </a:r>
                      <a:r>
                        <a:rPr dirty="0" sz="1050" spc="-35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Crash</a:t>
                      </a:r>
                      <a:r>
                        <a:rPr dirty="0" sz="1050" spc="-31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 </a:t>
                      </a:r>
                      <a:r>
                        <a:rPr dirty="0" sz="1050" spc="-1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Detection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12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50" spc="-55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12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560"/>
                        </a:spcBef>
                        <a:tabLst>
                          <a:tab pos="1297940" algn="l"/>
                          <a:tab pos="2327910" algn="l"/>
                        </a:tabLst>
                      </a:pPr>
                      <a:r>
                        <a:rPr dirty="0" sz="1050" spc="-55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r>
                        <a:rPr dirty="0" sz="1050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459">
                          <a:solidFill>
                            <a:srgbClr val="21C55E"/>
                          </a:solidFill>
                          <a:latin typeface="SimSun-ExtB"/>
                          <a:cs typeface="SimSun-ExtB"/>
                        </a:rPr>
                        <a:t>✓</a:t>
                      </a:r>
                      <a:r>
                        <a:rPr dirty="0" sz="1050">
                          <a:solidFill>
                            <a:srgbClr val="21C55E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430" b="1">
                          <a:solidFill>
                            <a:srgbClr val="21C55E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050">
                        <a:latin typeface="Yu Gothic UI"/>
                        <a:cs typeface="Yu Gothic UI"/>
                      </a:endParaRPr>
                    </a:p>
                  </a:txBody>
                  <a:tcPr marL="0" marR="0" marB="0" marT="7112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50" spc="-9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Live</a:t>
                      </a:r>
                      <a:r>
                        <a:rPr dirty="0" sz="1050" spc="-25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 </a:t>
                      </a:r>
                      <a:r>
                        <a:rPr dirty="0" sz="1050" spc="75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GPS</a:t>
                      </a:r>
                      <a:r>
                        <a:rPr dirty="0" sz="1050" spc="-25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 </a:t>
                      </a:r>
                      <a:r>
                        <a:rPr dirty="0" sz="105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Emergency</a:t>
                      </a:r>
                      <a:r>
                        <a:rPr dirty="0" sz="1050" spc="-29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 </a:t>
                      </a:r>
                      <a:r>
                        <a:rPr dirty="0" sz="1050" spc="-2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Alert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50" spc="-55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565"/>
                        </a:spcBef>
                        <a:tabLst>
                          <a:tab pos="1297940" algn="l"/>
                          <a:tab pos="2327910" algn="l"/>
                        </a:tabLst>
                      </a:pPr>
                      <a:r>
                        <a:rPr dirty="0" sz="1050" spc="-459">
                          <a:solidFill>
                            <a:srgbClr val="21C55E"/>
                          </a:solidFill>
                          <a:latin typeface="SimSun-ExtB"/>
                          <a:cs typeface="SimSun-ExtB"/>
                        </a:rPr>
                        <a:t>✓</a:t>
                      </a:r>
                      <a:r>
                        <a:rPr dirty="0" sz="1050">
                          <a:solidFill>
                            <a:srgbClr val="21C55E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470">
                          <a:solidFill>
                            <a:srgbClr val="21C55E"/>
                          </a:solidFill>
                          <a:latin typeface="SimSun-ExtB"/>
                          <a:cs typeface="SimSun-ExtB"/>
                        </a:rPr>
                        <a:t>✓</a:t>
                      </a:r>
                      <a:r>
                        <a:rPr dirty="0" sz="1050">
                          <a:solidFill>
                            <a:srgbClr val="21C55E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430" b="1">
                          <a:solidFill>
                            <a:srgbClr val="21C55E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050">
                        <a:latin typeface="Yu Gothic UI"/>
                        <a:cs typeface="Yu Gothic UI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5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Works</a:t>
                      </a:r>
                      <a:r>
                        <a:rPr dirty="0" sz="1050" spc="-265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 </a:t>
                      </a:r>
                      <a:r>
                        <a:rPr dirty="0" sz="1050" spc="-3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Without</a:t>
                      </a:r>
                      <a:r>
                        <a:rPr dirty="0" sz="1050" spc="-275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 </a:t>
                      </a:r>
                      <a:r>
                        <a:rPr dirty="0" sz="1050" spc="-1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Smartphone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50" spc="-55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565"/>
                        </a:spcBef>
                        <a:tabLst>
                          <a:tab pos="1297940" algn="l"/>
                          <a:tab pos="2327910" algn="l"/>
                        </a:tabLst>
                      </a:pPr>
                      <a:r>
                        <a:rPr dirty="0" sz="1050" spc="-55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r>
                        <a:rPr dirty="0" sz="1050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459">
                          <a:solidFill>
                            <a:srgbClr val="21C55E"/>
                          </a:solidFill>
                          <a:latin typeface="SimSun-ExtB"/>
                          <a:cs typeface="SimSun-ExtB"/>
                        </a:rPr>
                        <a:t>✓</a:t>
                      </a:r>
                      <a:r>
                        <a:rPr dirty="0" sz="1050">
                          <a:solidFill>
                            <a:srgbClr val="21C55E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430" b="1">
                          <a:solidFill>
                            <a:srgbClr val="21C55E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050">
                        <a:latin typeface="Yu Gothic UI"/>
                        <a:cs typeface="Yu Gothic UI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5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Tamper-</a:t>
                      </a:r>
                      <a:r>
                        <a:rPr dirty="0" sz="1050" spc="-5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Proof</a:t>
                      </a:r>
                      <a:r>
                        <a:rPr dirty="0" sz="1050" spc="-28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 </a:t>
                      </a:r>
                      <a:r>
                        <a:rPr dirty="0" sz="1050" spc="-45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Ride</a:t>
                      </a:r>
                      <a:r>
                        <a:rPr dirty="0" sz="1050" spc="-22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 </a:t>
                      </a:r>
                      <a:r>
                        <a:rPr dirty="0" sz="1050" spc="-2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Logs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50" spc="-55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565"/>
                        </a:spcBef>
                        <a:tabLst>
                          <a:tab pos="1297940" algn="l"/>
                          <a:tab pos="2327910" algn="l"/>
                        </a:tabLst>
                      </a:pPr>
                      <a:r>
                        <a:rPr dirty="0" sz="1050" spc="-55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r>
                        <a:rPr dirty="0" sz="1050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55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r>
                        <a:rPr dirty="0" sz="1050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430" b="1">
                          <a:solidFill>
                            <a:srgbClr val="21C55E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050">
                        <a:latin typeface="Yu Gothic UI"/>
                        <a:cs typeface="Yu Gothic UI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50" spc="-75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Affordable</a:t>
                      </a:r>
                      <a:r>
                        <a:rPr dirty="0" sz="1050" spc="-265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 </a:t>
                      </a:r>
                      <a:r>
                        <a:rPr dirty="0" sz="1050" spc="-3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(&lt;₹3,000)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50" spc="-55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565"/>
                        </a:spcBef>
                        <a:tabLst>
                          <a:tab pos="1297940" algn="l"/>
                          <a:tab pos="2327910" algn="l"/>
                        </a:tabLst>
                      </a:pPr>
                      <a:r>
                        <a:rPr dirty="0" sz="1050" spc="-459">
                          <a:solidFill>
                            <a:srgbClr val="21C55E"/>
                          </a:solidFill>
                          <a:latin typeface="SimSun-ExtB"/>
                          <a:cs typeface="SimSun-ExtB"/>
                        </a:rPr>
                        <a:t>✓</a:t>
                      </a:r>
                      <a:r>
                        <a:rPr dirty="0" sz="1050">
                          <a:solidFill>
                            <a:srgbClr val="21C55E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56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r>
                        <a:rPr dirty="0" sz="1050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430" b="1">
                          <a:solidFill>
                            <a:srgbClr val="21C55E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050">
                        <a:latin typeface="Yu Gothic UI"/>
                        <a:cs typeface="Yu Gothic UI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50" spc="-7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Insurance-</a:t>
                      </a:r>
                      <a:r>
                        <a:rPr dirty="0" sz="105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Ready</a:t>
                      </a:r>
                      <a:r>
                        <a:rPr dirty="0" sz="1050" spc="-18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 </a:t>
                      </a:r>
                      <a:r>
                        <a:rPr dirty="0" sz="1050" spc="-1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Export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50" spc="-55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565"/>
                        </a:spcBef>
                        <a:tabLst>
                          <a:tab pos="1297940" algn="l"/>
                          <a:tab pos="2327910" algn="l"/>
                        </a:tabLst>
                      </a:pPr>
                      <a:r>
                        <a:rPr dirty="0" sz="1050" spc="-55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r>
                        <a:rPr dirty="0" sz="1050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55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r>
                        <a:rPr dirty="0" sz="1050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430" b="1">
                          <a:solidFill>
                            <a:srgbClr val="21C55E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050">
                        <a:latin typeface="Yu Gothic UI"/>
                        <a:cs typeface="Yu Gothic UI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50" spc="-114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Retrofit</a:t>
                      </a:r>
                      <a:r>
                        <a:rPr dirty="0" sz="1050" spc="-24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 </a:t>
                      </a:r>
                      <a:r>
                        <a:rPr dirty="0" sz="105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Any</a:t>
                      </a:r>
                      <a:r>
                        <a:rPr dirty="0" sz="1050" spc="-204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 </a:t>
                      </a:r>
                      <a:r>
                        <a:rPr dirty="0" sz="105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Two-</a:t>
                      </a:r>
                      <a:r>
                        <a:rPr dirty="0" sz="1050" spc="-1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Wheeler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50" spc="-55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565"/>
                        </a:spcBef>
                        <a:tabLst>
                          <a:tab pos="1297940" algn="l"/>
                          <a:tab pos="2327910" algn="l"/>
                        </a:tabLst>
                      </a:pPr>
                      <a:r>
                        <a:rPr dirty="0" sz="1050" spc="-459">
                          <a:solidFill>
                            <a:srgbClr val="21C55E"/>
                          </a:solidFill>
                          <a:latin typeface="SimSun-ExtB"/>
                          <a:cs typeface="SimSun-ExtB"/>
                        </a:rPr>
                        <a:t>✓</a:t>
                      </a:r>
                      <a:r>
                        <a:rPr dirty="0" sz="1050">
                          <a:solidFill>
                            <a:srgbClr val="21C55E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56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r>
                        <a:rPr dirty="0" sz="1050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430" b="1">
                          <a:solidFill>
                            <a:srgbClr val="21C55E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050">
                        <a:latin typeface="Yu Gothic UI"/>
                        <a:cs typeface="Yu Gothic UI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50" spc="-65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Tiered</a:t>
                      </a:r>
                      <a:r>
                        <a:rPr dirty="0" sz="1050" spc="-29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 </a:t>
                      </a:r>
                      <a:r>
                        <a:rPr dirty="0" sz="1050" spc="-10">
                          <a:solidFill>
                            <a:srgbClr val="D5E4EE"/>
                          </a:solidFill>
                          <a:latin typeface="SimSun-ExtB"/>
                          <a:cs typeface="SimSun-ExtB"/>
                        </a:rPr>
                        <a:t>Escalation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50" spc="-54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endParaRPr sz="1050">
                        <a:latin typeface="SimSun-ExtB"/>
                        <a:cs typeface="SimSun-ExtB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565"/>
                        </a:spcBef>
                        <a:tabLst>
                          <a:tab pos="1297940" algn="l"/>
                          <a:tab pos="2327910" algn="l"/>
                        </a:tabLst>
                      </a:pPr>
                      <a:r>
                        <a:rPr dirty="0" sz="1050" spc="-54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r>
                        <a:rPr dirty="0" sz="1050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545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✗</a:t>
                      </a:r>
                      <a:r>
                        <a:rPr dirty="0" sz="1050">
                          <a:solidFill>
                            <a:srgbClr val="EE4444"/>
                          </a:solidFill>
                          <a:latin typeface="SimSun-ExtB"/>
                          <a:cs typeface="SimSun-ExtB"/>
                        </a:rPr>
                        <a:t>	</a:t>
                      </a:r>
                      <a:r>
                        <a:rPr dirty="0" sz="1050" spc="-430" b="1">
                          <a:solidFill>
                            <a:srgbClr val="21C55E"/>
                          </a:solidFill>
                          <a:latin typeface="Yu Gothic UI"/>
                          <a:cs typeface="Yu Gothic UI"/>
                        </a:rPr>
                        <a:t>✓</a:t>
                      </a:r>
                      <a:endParaRPr sz="1050">
                        <a:latin typeface="Yu Gothic UI"/>
                        <a:cs typeface="Yu Gothic UI"/>
                      </a:endParaRPr>
                    </a:p>
                  </a:txBody>
                  <a:tcPr marL="0" marR="0" marB="0" marT="71755"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785861" y="705967"/>
            <a:ext cx="2415540" cy="9372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9500"/>
              </a:lnSpc>
              <a:spcBef>
                <a:spcPts val="100"/>
              </a:spcBef>
            </a:pPr>
            <a:r>
              <a:rPr dirty="0" sz="2000"/>
              <a:t>Market</a:t>
            </a:r>
            <a:r>
              <a:rPr dirty="0" sz="2000" spc="270"/>
              <a:t> </a:t>
            </a:r>
            <a:r>
              <a:rPr dirty="0" sz="2000" spc="45"/>
              <a:t>Opportunity </a:t>
            </a:r>
            <a:r>
              <a:rPr dirty="0" sz="2000"/>
              <a:t>Why</a:t>
            </a:r>
            <a:r>
              <a:rPr dirty="0" sz="2000" spc="145"/>
              <a:t> </a:t>
            </a:r>
            <a:r>
              <a:rPr dirty="0" sz="2000" spc="30"/>
              <a:t>Now?</a:t>
            </a:r>
            <a:endParaRPr sz="2000"/>
          </a:p>
        </p:txBody>
      </p:sp>
      <p:sp>
        <p:nvSpPr>
          <p:cNvPr id="9" name="object 9"/>
          <p:cNvSpPr txBox="1"/>
          <p:nvPr/>
        </p:nvSpPr>
        <p:spPr>
          <a:xfrm>
            <a:off x="7723378" y="1859686"/>
            <a:ext cx="4161154" cy="85344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25425" indent="-215900">
              <a:lnSpc>
                <a:spcPct val="100000"/>
              </a:lnSpc>
              <a:spcBef>
                <a:spcPts val="350"/>
              </a:spcBef>
              <a:buChar char="•"/>
              <a:tabLst>
                <a:tab pos="225425" algn="l"/>
              </a:tabLst>
            </a:pPr>
            <a:r>
              <a:rPr dirty="0" sz="1600">
                <a:solidFill>
                  <a:srgbClr val="D5E4EE"/>
                </a:solidFill>
                <a:latin typeface="SimSun-ExtB"/>
                <a:cs typeface="SimSun-ExtB"/>
              </a:rPr>
              <a:t>Two-</a:t>
            </a:r>
            <a:r>
              <a:rPr dirty="0" sz="1600" spc="-55">
                <a:solidFill>
                  <a:srgbClr val="D5E4EE"/>
                </a:solidFill>
                <a:latin typeface="SimSun-ExtB"/>
                <a:cs typeface="SimSun-ExtB"/>
              </a:rPr>
              <a:t>wheelers</a:t>
            </a:r>
            <a:r>
              <a:rPr dirty="0" sz="1600" spc="-4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SimSun-ExtB"/>
                <a:cs typeface="SimSun-ExtB"/>
              </a:rPr>
              <a:t>=</a:t>
            </a:r>
            <a:r>
              <a:rPr dirty="0" sz="1600" spc="-4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30" b="1">
                <a:solidFill>
                  <a:srgbClr val="D5E4EE"/>
                </a:solidFill>
                <a:latin typeface="Yu Gothic UI"/>
                <a:cs typeface="Yu Gothic UI"/>
              </a:rPr>
              <a:t>75%</a:t>
            </a:r>
            <a:r>
              <a:rPr dirty="0" sz="1600" spc="-10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600" spc="-145">
                <a:solidFill>
                  <a:srgbClr val="D5E4EE"/>
                </a:solidFill>
                <a:latin typeface="SimSun-ExtB"/>
                <a:cs typeface="SimSun-ExtB"/>
              </a:rPr>
              <a:t>of</a:t>
            </a:r>
            <a:r>
              <a:rPr dirty="0" sz="1600" spc="-4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180">
                <a:solidFill>
                  <a:srgbClr val="D5E4EE"/>
                </a:solidFill>
                <a:latin typeface="SimSun-ExtB"/>
                <a:cs typeface="SimSun-ExtB"/>
              </a:rPr>
              <a:t>India's</a:t>
            </a:r>
            <a:r>
              <a:rPr dirty="0" sz="1600" spc="-4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50">
                <a:solidFill>
                  <a:srgbClr val="D5E4EE"/>
                </a:solidFill>
                <a:latin typeface="SimSun-ExtB"/>
                <a:cs typeface="SimSun-ExtB"/>
              </a:rPr>
              <a:t>motorized</a:t>
            </a:r>
            <a:r>
              <a:rPr dirty="0" sz="1600" spc="-4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165">
                <a:solidFill>
                  <a:srgbClr val="D5E4EE"/>
                </a:solidFill>
                <a:latin typeface="SimSun-ExtB"/>
                <a:cs typeface="SimSun-ExtB"/>
              </a:rPr>
              <a:t>fleet</a:t>
            </a:r>
            <a:endParaRPr sz="1600">
              <a:latin typeface="SimSun-ExtB"/>
              <a:cs typeface="SimSun-ExtB"/>
            </a:endParaRPr>
          </a:p>
          <a:p>
            <a:pPr marL="225425" indent="-215900">
              <a:lnSpc>
                <a:spcPct val="100000"/>
              </a:lnSpc>
              <a:spcBef>
                <a:spcPts val="254"/>
              </a:spcBef>
              <a:buChar char="•"/>
              <a:tabLst>
                <a:tab pos="225425" algn="l"/>
              </a:tabLst>
            </a:pPr>
            <a:r>
              <a:rPr dirty="0" sz="1600" spc="190">
                <a:solidFill>
                  <a:srgbClr val="D5E4EE"/>
                </a:solidFill>
                <a:latin typeface="SimSun-ExtB"/>
                <a:cs typeface="SimSun-ExtB"/>
              </a:rPr>
              <a:t>GSM</a:t>
            </a:r>
            <a:r>
              <a:rPr dirty="0" sz="1600" spc="-47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40">
                <a:solidFill>
                  <a:srgbClr val="D5E4EE"/>
                </a:solidFill>
                <a:latin typeface="SimSun-ExtB"/>
                <a:cs typeface="SimSun-ExtB"/>
              </a:rPr>
              <a:t>coverage</a:t>
            </a:r>
            <a:r>
              <a:rPr dirty="0" sz="1600" spc="-47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30">
                <a:solidFill>
                  <a:srgbClr val="D5E4EE"/>
                </a:solidFill>
                <a:latin typeface="SimSun-ExtB"/>
                <a:cs typeface="SimSun-ExtB"/>
              </a:rPr>
              <a:t>&gt;</a:t>
            </a:r>
            <a:r>
              <a:rPr dirty="0" sz="1600" spc="-30" b="1">
                <a:solidFill>
                  <a:srgbClr val="D5E4EE"/>
                </a:solidFill>
                <a:latin typeface="Yu Gothic UI"/>
                <a:cs typeface="Yu Gothic UI"/>
              </a:rPr>
              <a:t>65%</a:t>
            </a:r>
            <a:r>
              <a:rPr dirty="0" sz="1600" spc="-7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600" spc="-145">
                <a:solidFill>
                  <a:srgbClr val="D5E4EE"/>
                </a:solidFill>
                <a:latin typeface="SimSun-ExtB"/>
                <a:cs typeface="SimSun-ExtB"/>
              </a:rPr>
              <a:t>of</a:t>
            </a:r>
            <a:r>
              <a:rPr dirty="0" sz="1600" spc="-47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SimSun-ExtB"/>
                <a:cs typeface="SimSun-ExtB"/>
              </a:rPr>
              <a:t>highways</a:t>
            </a:r>
            <a:endParaRPr sz="1600">
              <a:latin typeface="SimSun-ExtB"/>
              <a:cs typeface="SimSun-ExtB"/>
            </a:endParaRPr>
          </a:p>
          <a:p>
            <a:pPr marL="225425" indent="-215900">
              <a:lnSpc>
                <a:spcPct val="100000"/>
              </a:lnSpc>
              <a:spcBef>
                <a:spcPts val="250"/>
              </a:spcBef>
              <a:buChar char="•"/>
              <a:tabLst>
                <a:tab pos="225425" algn="l"/>
              </a:tabLst>
            </a:pPr>
            <a:r>
              <a:rPr dirty="0" sz="1600" spc="-80">
                <a:solidFill>
                  <a:srgbClr val="D5E4EE"/>
                </a:solidFill>
                <a:latin typeface="SimSun-ExtB"/>
                <a:cs typeface="SimSun-ExtB"/>
              </a:rPr>
              <a:t>IRDAI</a:t>
            </a:r>
            <a:r>
              <a:rPr dirty="0" sz="1600" spc="-409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50">
                <a:solidFill>
                  <a:srgbClr val="D5E4EE"/>
                </a:solidFill>
                <a:latin typeface="SimSun-ExtB"/>
                <a:cs typeface="SimSun-ExtB"/>
              </a:rPr>
              <a:t>pushing</a:t>
            </a:r>
            <a:r>
              <a:rPr dirty="0" sz="1600" spc="-4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130">
                <a:solidFill>
                  <a:srgbClr val="D5E4EE"/>
                </a:solidFill>
                <a:latin typeface="SimSun-ExtB"/>
                <a:cs typeface="SimSun-ExtB"/>
              </a:rPr>
              <a:t>telematics-</a:t>
            </a:r>
            <a:r>
              <a:rPr dirty="0" sz="1600">
                <a:solidFill>
                  <a:srgbClr val="D5E4EE"/>
                </a:solidFill>
                <a:latin typeface="SimSun-ExtB"/>
                <a:cs typeface="SimSun-ExtB"/>
              </a:rPr>
              <a:t>based</a:t>
            </a:r>
            <a:r>
              <a:rPr dirty="0" sz="1600" spc="-4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600" spc="-10">
                <a:solidFill>
                  <a:srgbClr val="D5E4EE"/>
                </a:solidFill>
                <a:latin typeface="SimSun-ExtB"/>
                <a:cs typeface="SimSun-ExtB"/>
              </a:rPr>
              <a:t>insurance</a:t>
            </a:r>
            <a:endParaRPr sz="1600">
              <a:latin typeface="SimSun-ExtB"/>
              <a:cs typeface="SimSun-ExtB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8080" y="5807430"/>
            <a:ext cx="3533775" cy="733425"/>
          </a:xfrm>
          <a:custGeom>
            <a:avLst/>
            <a:gdLst/>
            <a:ahLst/>
            <a:cxnLst/>
            <a:rect l="l" t="t" r="r" b="b"/>
            <a:pathLst>
              <a:path w="3533775" h="733425">
                <a:moveTo>
                  <a:pt x="3512350" y="0"/>
                </a:moveTo>
                <a:lnTo>
                  <a:pt x="20942" y="0"/>
                </a:lnTo>
                <a:lnTo>
                  <a:pt x="12794" y="1647"/>
                </a:lnTo>
                <a:lnTo>
                  <a:pt x="6137" y="6137"/>
                </a:lnTo>
                <a:lnTo>
                  <a:pt x="1647" y="12794"/>
                </a:lnTo>
                <a:lnTo>
                  <a:pt x="0" y="20942"/>
                </a:lnTo>
                <a:lnTo>
                  <a:pt x="0" y="712088"/>
                </a:lnTo>
                <a:lnTo>
                  <a:pt x="1647" y="720242"/>
                </a:lnTo>
                <a:lnTo>
                  <a:pt x="6137" y="726898"/>
                </a:lnTo>
                <a:lnTo>
                  <a:pt x="12794" y="731386"/>
                </a:lnTo>
                <a:lnTo>
                  <a:pt x="20942" y="733031"/>
                </a:lnTo>
                <a:lnTo>
                  <a:pt x="3512350" y="733031"/>
                </a:lnTo>
                <a:lnTo>
                  <a:pt x="3520499" y="731386"/>
                </a:lnTo>
                <a:lnTo>
                  <a:pt x="3527161" y="726898"/>
                </a:lnTo>
                <a:lnTo>
                  <a:pt x="3531656" y="720242"/>
                </a:lnTo>
                <a:lnTo>
                  <a:pt x="3533305" y="712088"/>
                </a:lnTo>
                <a:lnTo>
                  <a:pt x="3533305" y="20942"/>
                </a:lnTo>
                <a:lnTo>
                  <a:pt x="3531656" y="12794"/>
                </a:lnTo>
                <a:lnTo>
                  <a:pt x="3527161" y="6137"/>
                </a:lnTo>
                <a:lnTo>
                  <a:pt x="3520499" y="1647"/>
                </a:lnTo>
                <a:lnTo>
                  <a:pt x="3512350" y="0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25195" y="5829789"/>
            <a:ext cx="2196465" cy="55499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250" spc="-25">
                <a:solidFill>
                  <a:srgbClr val="D5E4EE"/>
                </a:solidFill>
                <a:latin typeface="Georgia"/>
                <a:cs typeface="Georgia"/>
              </a:rPr>
              <a:t>TAM</a:t>
            </a: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050" spc="-10">
                <a:solidFill>
                  <a:srgbClr val="D5E4EE"/>
                </a:solidFill>
                <a:latin typeface="SimSun-ExtB"/>
                <a:cs typeface="SimSun-ExtB"/>
              </a:rPr>
              <a:t>25</a:t>
            </a:r>
            <a:r>
              <a:rPr dirty="0" sz="1050" spc="-27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40">
                <a:solidFill>
                  <a:srgbClr val="D5E4EE"/>
                </a:solidFill>
                <a:latin typeface="SimSun-ExtB"/>
                <a:cs typeface="SimSun-ExtB"/>
              </a:rPr>
              <a:t>Cr+</a:t>
            </a:r>
            <a:r>
              <a:rPr dirty="0" sz="1050" spc="-27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30">
                <a:solidFill>
                  <a:srgbClr val="D5E4EE"/>
                </a:solidFill>
                <a:latin typeface="SimSun-ExtB"/>
                <a:cs typeface="SimSun-ExtB"/>
              </a:rPr>
              <a:t>two-</a:t>
            </a:r>
            <a:r>
              <a:rPr dirty="0" sz="1050" spc="-40">
                <a:solidFill>
                  <a:srgbClr val="D5E4EE"/>
                </a:solidFill>
                <a:latin typeface="SimSun-ExtB"/>
                <a:cs typeface="SimSun-ExtB"/>
              </a:rPr>
              <a:t>wheelers</a:t>
            </a:r>
            <a:r>
              <a:rPr dirty="0" sz="105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90">
                <a:solidFill>
                  <a:srgbClr val="D5E4EE"/>
                </a:solidFill>
                <a:latin typeface="SimSun-ExtB"/>
                <a:cs typeface="SimSun-ExtB"/>
              </a:rPr>
              <a:t>registered</a:t>
            </a:r>
            <a:r>
              <a:rPr dirty="0" sz="1050" spc="-3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114">
                <a:solidFill>
                  <a:srgbClr val="D5E4EE"/>
                </a:solidFill>
                <a:latin typeface="SimSun-ExtB"/>
                <a:cs typeface="SimSun-ExtB"/>
              </a:rPr>
              <a:t>in</a:t>
            </a:r>
            <a:r>
              <a:rPr dirty="0" sz="1050" spc="-26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45">
                <a:solidFill>
                  <a:srgbClr val="D5E4EE"/>
                </a:solidFill>
                <a:latin typeface="SimSun-ExtB"/>
                <a:cs typeface="SimSun-ExtB"/>
              </a:rPr>
              <a:t>India</a:t>
            </a:r>
            <a:endParaRPr sz="1050">
              <a:latin typeface="SimSun-ExtB"/>
              <a:cs typeface="SimSun-ExtB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60164" y="5807430"/>
            <a:ext cx="3533775" cy="733425"/>
          </a:xfrm>
          <a:custGeom>
            <a:avLst/>
            <a:gdLst/>
            <a:ahLst/>
            <a:cxnLst/>
            <a:rect l="l" t="t" r="r" b="b"/>
            <a:pathLst>
              <a:path w="3533775" h="733425">
                <a:moveTo>
                  <a:pt x="3512439" y="0"/>
                </a:moveTo>
                <a:lnTo>
                  <a:pt x="20955" y="0"/>
                </a:lnTo>
                <a:lnTo>
                  <a:pt x="12805" y="1647"/>
                </a:lnTo>
                <a:lnTo>
                  <a:pt x="6143" y="6137"/>
                </a:lnTo>
                <a:lnTo>
                  <a:pt x="1649" y="12794"/>
                </a:lnTo>
                <a:lnTo>
                  <a:pt x="0" y="20942"/>
                </a:lnTo>
                <a:lnTo>
                  <a:pt x="0" y="712088"/>
                </a:lnTo>
                <a:lnTo>
                  <a:pt x="1649" y="720242"/>
                </a:lnTo>
                <a:lnTo>
                  <a:pt x="6143" y="726898"/>
                </a:lnTo>
                <a:lnTo>
                  <a:pt x="12805" y="731386"/>
                </a:lnTo>
                <a:lnTo>
                  <a:pt x="20955" y="733031"/>
                </a:lnTo>
                <a:lnTo>
                  <a:pt x="3512439" y="733031"/>
                </a:lnTo>
                <a:lnTo>
                  <a:pt x="3520588" y="731386"/>
                </a:lnTo>
                <a:lnTo>
                  <a:pt x="3527250" y="726898"/>
                </a:lnTo>
                <a:lnTo>
                  <a:pt x="3531744" y="720242"/>
                </a:lnTo>
                <a:lnTo>
                  <a:pt x="3533393" y="712088"/>
                </a:lnTo>
                <a:lnTo>
                  <a:pt x="3533393" y="20942"/>
                </a:lnTo>
                <a:lnTo>
                  <a:pt x="3531744" y="12794"/>
                </a:lnTo>
                <a:lnTo>
                  <a:pt x="3527250" y="6137"/>
                </a:lnTo>
                <a:lnTo>
                  <a:pt x="3520588" y="1647"/>
                </a:lnTo>
                <a:lnTo>
                  <a:pt x="3512439" y="0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487671" y="5829789"/>
            <a:ext cx="2656840" cy="55499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250" spc="-25">
                <a:solidFill>
                  <a:srgbClr val="D5E4EE"/>
                </a:solidFill>
                <a:latin typeface="Georgia"/>
                <a:cs typeface="Georgia"/>
              </a:rPr>
              <a:t>SAM</a:t>
            </a: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050" spc="-10">
                <a:solidFill>
                  <a:srgbClr val="D5E4EE"/>
                </a:solidFill>
                <a:latin typeface="SimSun-ExtB"/>
                <a:cs typeface="SimSun-ExtB"/>
              </a:rPr>
              <a:t>8</a:t>
            </a:r>
            <a:r>
              <a:rPr dirty="0" sz="1050" spc="-2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50">
                <a:solidFill>
                  <a:srgbClr val="D5E4EE"/>
                </a:solidFill>
                <a:latin typeface="SimSun-ExtB"/>
                <a:cs typeface="SimSun-ExtB"/>
              </a:rPr>
              <a:t>Cr</a:t>
            </a:r>
            <a:r>
              <a:rPr dirty="0" sz="1050" spc="-28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35">
                <a:solidFill>
                  <a:srgbClr val="D5E4EE"/>
                </a:solidFill>
                <a:latin typeface="SimSun-ExtB"/>
                <a:cs typeface="SimSun-ExtB"/>
              </a:rPr>
              <a:t>connected-ready</a:t>
            </a:r>
            <a:r>
              <a:rPr dirty="0" sz="1050" spc="-3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110">
                <a:solidFill>
                  <a:srgbClr val="D5E4EE"/>
                </a:solidFill>
                <a:latin typeface="SimSun-ExtB"/>
                <a:cs typeface="SimSun-ExtB"/>
              </a:rPr>
              <a:t>riders</a:t>
            </a:r>
            <a:r>
              <a:rPr dirty="0" sz="105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45">
                <a:solidFill>
                  <a:srgbClr val="D5E4EE"/>
                </a:solidFill>
                <a:latin typeface="SimSun-ExtB"/>
                <a:cs typeface="SimSun-ExtB"/>
              </a:rPr>
              <a:t>with</a:t>
            </a:r>
            <a:r>
              <a:rPr dirty="0" sz="1050" spc="-2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130">
                <a:solidFill>
                  <a:srgbClr val="D5E4EE"/>
                </a:solidFill>
                <a:latin typeface="SimSun-ExtB"/>
                <a:cs typeface="SimSun-ExtB"/>
              </a:rPr>
              <a:t>GSM</a:t>
            </a:r>
            <a:r>
              <a:rPr dirty="0" sz="1050" spc="-27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10">
                <a:solidFill>
                  <a:srgbClr val="D5E4EE"/>
                </a:solidFill>
                <a:latin typeface="SimSun-ExtB"/>
                <a:cs typeface="SimSun-ExtB"/>
              </a:rPr>
              <a:t>coverage</a:t>
            </a:r>
            <a:endParaRPr sz="1050">
              <a:latin typeface="SimSun-ExtB"/>
              <a:cs typeface="SimSun-ExtB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19364" y="5829789"/>
            <a:ext cx="2905125" cy="55499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250" spc="-25">
                <a:solidFill>
                  <a:srgbClr val="D5E4EE"/>
                </a:solidFill>
                <a:latin typeface="Georgia"/>
                <a:cs typeface="Georgia"/>
              </a:rPr>
              <a:t>SOM</a:t>
            </a: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050" spc="-10">
                <a:solidFill>
                  <a:srgbClr val="D5E4EE"/>
                </a:solidFill>
                <a:latin typeface="SimSun-ExtB"/>
                <a:cs typeface="SimSun-ExtB"/>
              </a:rPr>
              <a:t>40</a:t>
            </a:r>
            <a:r>
              <a:rPr dirty="0" sz="1050" spc="-3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25">
                <a:solidFill>
                  <a:srgbClr val="D5E4EE"/>
                </a:solidFill>
                <a:latin typeface="SimSun-ExtB"/>
                <a:cs typeface="SimSun-ExtB"/>
              </a:rPr>
              <a:t>L</a:t>
            </a:r>
            <a:r>
              <a:rPr dirty="0" sz="1050" spc="-28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90">
                <a:solidFill>
                  <a:srgbClr val="D5E4EE"/>
                </a:solidFill>
                <a:latin typeface="SimSun-ExtB"/>
                <a:cs typeface="SimSun-ExtB"/>
              </a:rPr>
              <a:t>target</a:t>
            </a:r>
            <a:r>
              <a:rPr dirty="0" sz="1050" spc="-33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110">
                <a:solidFill>
                  <a:srgbClr val="D5E4EE"/>
                </a:solidFill>
                <a:latin typeface="SimSun-ExtB"/>
                <a:cs typeface="SimSun-ExtB"/>
              </a:rPr>
              <a:t>riders</a:t>
            </a:r>
            <a:r>
              <a:rPr dirty="0" sz="1050" spc="-3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114">
                <a:solidFill>
                  <a:srgbClr val="D5E4EE"/>
                </a:solidFill>
                <a:latin typeface="SimSun-ExtB"/>
                <a:cs typeface="SimSun-ExtB"/>
              </a:rPr>
              <a:t>in</a:t>
            </a:r>
            <a:r>
              <a:rPr dirty="0" sz="1050" spc="-2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60">
                <a:solidFill>
                  <a:srgbClr val="D5E4EE"/>
                </a:solidFill>
                <a:latin typeface="SimSun-ExtB"/>
                <a:cs typeface="SimSun-ExtB"/>
              </a:rPr>
              <a:t>years</a:t>
            </a:r>
            <a:r>
              <a:rPr dirty="0" sz="105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275">
                <a:solidFill>
                  <a:srgbClr val="D5E4EE"/>
                </a:solidFill>
                <a:latin typeface="SimSun-ExtB"/>
                <a:cs typeface="SimSun-ExtB"/>
              </a:rPr>
              <a:t>1–</a:t>
            </a:r>
            <a:r>
              <a:rPr dirty="0" sz="1050" spc="-10">
                <a:solidFill>
                  <a:srgbClr val="D5E4EE"/>
                </a:solidFill>
                <a:latin typeface="SimSun-ExtB"/>
                <a:cs typeface="SimSun-ExtB"/>
              </a:rPr>
              <a:t>3</a:t>
            </a:r>
            <a:r>
              <a:rPr dirty="0" sz="1050" spc="-3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40">
                <a:solidFill>
                  <a:srgbClr val="D5E4EE"/>
                </a:solidFill>
                <a:latin typeface="SimSun-ExtB"/>
                <a:cs typeface="SimSun-ExtB"/>
              </a:rPr>
              <a:t>(metros</a:t>
            </a:r>
            <a:r>
              <a:rPr dirty="0" sz="1050" spc="-33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114">
                <a:solidFill>
                  <a:srgbClr val="D5E4EE"/>
                </a:solidFill>
                <a:latin typeface="SimSun-ExtB"/>
                <a:cs typeface="SimSun-ExtB"/>
              </a:rPr>
              <a:t>&amp;</a:t>
            </a:r>
            <a:r>
              <a:rPr dirty="0" sz="1050" spc="-2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165">
                <a:solidFill>
                  <a:srgbClr val="D5E4EE"/>
                </a:solidFill>
                <a:latin typeface="SimSun-ExtB"/>
                <a:cs typeface="SimSun-ExtB"/>
              </a:rPr>
              <a:t>tier-</a:t>
            </a:r>
            <a:r>
              <a:rPr dirty="0" sz="1050" spc="-10">
                <a:solidFill>
                  <a:srgbClr val="D5E4EE"/>
                </a:solidFill>
                <a:latin typeface="SimSun-ExtB"/>
                <a:cs typeface="SimSun-ExtB"/>
              </a:rPr>
              <a:t>1</a:t>
            </a:r>
            <a:r>
              <a:rPr dirty="0" sz="1050" spc="-3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050" spc="-120">
                <a:solidFill>
                  <a:srgbClr val="D5E4EE"/>
                </a:solidFill>
                <a:latin typeface="SimSun-ExtB"/>
                <a:cs typeface="SimSun-ExtB"/>
              </a:rPr>
              <a:t>cities)</a:t>
            </a:r>
            <a:endParaRPr sz="1050">
              <a:latin typeface="SimSun-ExtB"/>
              <a:cs typeface="SimSun-ExtB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010392" y="6569998"/>
            <a:ext cx="1188085" cy="220345"/>
            <a:chOff x="11010392" y="6569998"/>
            <a:chExt cx="1188085" cy="220345"/>
          </a:xfrm>
        </p:grpSpPr>
        <p:sp>
          <p:nvSpPr>
            <p:cNvPr id="16" name="object 16">
              <a:hlinkClick r:id="rId2"/>
            </p:cNvPr>
            <p:cNvSpPr/>
            <p:nvPr/>
          </p:nvSpPr>
          <p:spPr>
            <a:xfrm>
              <a:off x="11016742" y="6576348"/>
              <a:ext cx="1175385" cy="207645"/>
            </a:xfrm>
            <a:custGeom>
              <a:avLst/>
              <a:gdLst/>
              <a:ahLst/>
              <a:cxnLst/>
              <a:rect l="l" t="t" r="r" b="b"/>
              <a:pathLst>
                <a:path w="1175384" h="207645">
                  <a:moveTo>
                    <a:pt x="1175232" y="0"/>
                  </a:moveTo>
                  <a:lnTo>
                    <a:pt x="0" y="0"/>
                  </a:lnTo>
                  <a:lnTo>
                    <a:pt x="0" y="207429"/>
                  </a:lnTo>
                  <a:lnTo>
                    <a:pt x="1175232" y="207429"/>
                  </a:lnTo>
                  <a:lnTo>
                    <a:pt x="1175232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>
              <a:hlinkClick r:id="rId2"/>
            </p:cNvPr>
            <p:cNvSpPr/>
            <p:nvPr/>
          </p:nvSpPr>
          <p:spPr>
            <a:xfrm>
              <a:off x="11016742" y="6576348"/>
              <a:ext cx="1175385" cy="207645"/>
            </a:xfrm>
            <a:custGeom>
              <a:avLst/>
              <a:gdLst/>
              <a:ahLst/>
              <a:cxnLst/>
              <a:rect l="l" t="t" r="r" b="b"/>
              <a:pathLst>
                <a:path w="1175384" h="207645">
                  <a:moveTo>
                    <a:pt x="0" y="207429"/>
                  </a:moveTo>
                  <a:lnTo>
                    <a:pt x="1175232" y="207429"/>
                  </a:lnTo>
                  <a:lnTo>
                    <a:pt x="1175232" y="0"/>
                  </a:lnTo>
                  <a:lnTo>
                    <a:pt x="0" y="0"/>
                  </a:lnTo>
                  <a:lnTo>
                    <a:pt x="0" y="207429"/>
                  </a:lnTo>
                  <a:close/>
                </a:path>
              </a:pathLst>
            </a:custGeom>
            <a:ln w="12700">
              <a:solidFill>
                <a:srgbClr val="2428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" name="object 18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05877" y="3092195"/>
            <a:ext cx="3575938" cy="20264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745" y="-1"/>
            <a:ext cx="4571873" cy="685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6BB5"/>
                </a:solidFill>
                <a:latin typeface="Calibri"/>
                <a:cs typeface="Calibri"/>
              </a:rPr>
              <a:t>Bill</a:t>
            </a:r>
            <a:r>
              <a:rPr dirty="0" sz="2400" spc="-35">
                <a:solidFill>
                  <a:srgbClr val="FF6BB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6BB5"/>
                </a:solidFill>
                <a:latin typeface="Calibri"/>
                <a:cs typeface="Calibri"/>
              </a:rPr>
              <a:t>of</a:t>
            </a:r>
            <a:r>
              <a:rPr dirty="0" sz="2400" spc="-30">
                <a:solidFill>
                  <a:srgbClr val="FF6BB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6BB5"/>
                </a:solidFill>
                <a:latin typeface="Calibri"/>
                <a:cs typeface="Calibri"/>
              </a:rPr>
              <a:t>Materials</a:t>
            </a:r>
            <a:r>
              <a:rPr dirty="0" sz="2400" spc="-35">
                <a:solidFill>
                  <a:srgbClr val="FF6BB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6BB5"/>
                </a:solidFill>
                <a:latin typeface="Calibri"/>
                <a:cs typeface="Calibri"/>
              </a:rPr>
              <a:t>—</a:t>
            </a:r>
            <a:r>
              <a:rPr dirty="0" sz="2400" spc="-30">
                <a:solidFill>
                  <a:srgbClr val="FF6BB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6BB5"/>
                </a:solidFill>
                <a:latin typeface="Calibri"/>
                <a:cs typeface="Calibri"/>
              </a:rPr>
              <a:t>Prototype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9020" y="973581"/>
            <a:ext cx="44951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D6E2F4"/>
                </a:solidFill>
                <a:latin typeface="Calibri"/>
                <a:cs typeface="Calibri"/>
              </a:rPr>
              <a:t>A</a:t>
            </a:r>
            <a:r>
              <a:rPr dirty="0" sz="1000" spc="-20">
                <a:solidFill>
                  <a:srgbClr val="D6E2F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6E2F4"/>
                </a:solidFill>
                <a:latin typeface="Calibri"/>
                <a:cs typeface="Calibri"/>
              </a:rPr>
              <a:t>working</a:t>
            </a:r>
            <a:r>
              <a:rPr dirty="0" sz="1000" spc="-30">
                <a:solidFill>
                  <a:srgbClr val="D6E2F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6E2F4"/>
                </a:solidFill>
                <a:latin typeface="Calibri"/>
                <a:cs typeface="Calibri"/>
              </a:rPr>
              <a:t>prototype</a:t>
            </a:r>
            <a:r>
              <a:rPr dirty="0" sz="1000" spc="-15">
                <a:solidFill>
                  <a:srgbClr val="D6E2F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6E2F4"/>
                </a:solidFill>
                <a:latin typeface="Calibri"/>
                <a:cs typeface="Calibri"/>
              </a:rPr>
              <a:t>for</a:t>
            </a:r>
            <a:r>
              <a:rPr dirty="0" sz="1000" spc="-25">
                <a:solidFill>
                  <a:srgbClr val="D6E2F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6E2F4"/>
                </a:solidFill>
                <a:latin typeface="Calibri"/>
                <a:cs typeface="Calibri"/>
              </a:rPr>
              <a:t>under</a:t>
            </a:r>
            <a:r>
              <a:rPr dirty="0" sz="1000" spc="-15">
                <a:solidFill>
                  <a:srgbClr val="D6E2F4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D6E2F4"/>
                </a:solidFill>
                <a:latin typeface="Calibri"/>
                <a:cs typeface="Calibri"/>
              </a:rPr>
              <a:t>₹3,000.</a:t>
            </a:r>
            <a:r>
              <a:rPr dirty="0" sz="1000" spc="20">
                <a:solidFill>
                  <a:srgbClr val="D6E2F4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D6E2F4"/>
                </a:solidFill>
                <a:latin typeface="Calibri"/>
                <a:cs typeface="Calibri"/>
              </a:rPr>
              <a:t>Mass-production</a:t>
            </a:r>
            <a:r>
              <a:rPr dirty="0" sz="1000" spc="-25">
                <a:solidFill>
                  <a:srgbClr val="D6E2F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6E2F4"/>
                </a:solidFill>
                <a:latin typeface="Calibri"/>
                <a:cs typeface="Calibri"/>
              </a:rPr>
              <a:t>BOM</a:t>
            </a:r>
            <a:r>
              <a:rPr dirty="0" sz="1000" spc="-10">
                <a:solidFill>
                  <a:srgbClr val="D6E2F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6E2F4"/>
                </a:solidFill>
                <a:latin typeface="Calibri"/>
                <a:cs typeface="Calibri"/>
              </a:rPr>
              <a:t>projected</a:t>
            </a:r>
            <a:r>
              <a:rPr dirty="0" sz="1000" spc="-5">
                <a:solidFill>
                  <a:srgbClr val="D6E2F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6E2F4"/>
                </a:solidFill>
                <a:latin typeface="Calibri"/>
                <a:cs typeface="Calibri"/>
              </a:rPr>
              <a:t>below</a:t>
            </a:r>
            <a:r>
              <a:rPr dirty="0" sz="1000" spc="-15">
                <a:solidFill>
                  <a:srgbClr val="D6E2F4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D6E2F4"/>
                </a:solidFill>
                <a:latin typeface="Calibri"/>
                <a:cs typeface="Calibri"/>
              </a:rPr>
              <a:t>₹1,500.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6716" y="1196276"/>
            <a:ext cx="6306820" cy="5111115"/>
            <a:chOff x="656716" y="1196276"/>
            <a:chExt cx="6306820" cy="5111115"/>
          </a:xfrm>
        </p:grpSpPr>
        <p:sp>
          <p:nvSpPr>
            <p:cNvPr id="6" name="object 6"/>
            <p:cNvSpPr/>
            <p:nvPr/>
          </p:nvSpPr>
          <p:spPr>
            <a:xfrm>
              <a:off x="661479" y="1201038"/>
              <a:ext cx="6297295" cy="5101590"/>
            </a:xfrm>
            <a:custGeom>
              <a:avLst/>
              <a:gdLst/>
              <a:ahLst/>
              <a:cxnLst/>
              <a:rect l="l" t="t" r="r" b="b"/>
              <a:pathLst>
                <a:path w="6297295" h="5101590">
                  <a:moveTo>
                    <a:pt x="6289484" y="0"/>
                  </a:moveTo>
                  <a:lnTo>
                    <a:pt x="7327" y="0"/>
                  </a:lnTo>
                  <a:lnTo>
                    <a:pt x="0" y="7365"/>
                  </a:lnTo>
                  <a:lnTo>
                    <a:pt x="0" y="16383"/>
                  </a:lnTo>
                  <a:lnTo>
                    <a:pt x="0" y="5093703"/>
                  </a:lnTo>
                  <a:lnTo>
                    <a:pt x="7327" y="5101043"/>
                  </a:lnTo>
                  <a:lnTo>
                    <a:pt x="6289484" y="5101043"/>
                  </a:lnTo>
                  <a:lnTo>
                    <a:pt x="6296850" y="5093703"/>
                  </a:lnTo>
                  <a:lnTo>
                    <a:pt x="6296850" y="7365"/>
                  </a:lnTo>
                  <a:lnTo>
                    <a:pt x="6289484" y="0"/>
                  </a:lnTo>
                  <a:close/>
                </a:path>
              </a:pathLst>
            </a:custGeom>
            <a:solidFill>
              <a:srgbClr val="272C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61479" y="1201038"/>
              <a:ext cx="6297295" cy="5101590"/>
            </a:xfrm>
            <a:custGeom>
              <a:avLst/>
              <a:gdLst/>
              <a:ahLst/>
              <a:cxnLst/>
              <a:rect l="l" t="t" r="r" b="b"/>
              <a:pathLst>
                <a:path w="6297295" h="5101590">
                  <a:moveTo>
                    <a:pt x="0" y="16383"/>
                  </a:moveTo>
                  <a:lnTo>
                    <a:pt x="0" y="7365"/>
                  </a:lnTo>
                  <a:lnTo>
                    <a:pt x="7327" y="0"/>
                  </a:lnTo>
                  <a:lnTo>
                    <a:pt x="16370" y="0"/>
                  </a:lnTo>
                  <a:lnTo>
                    <a:pt x="6280467" y="0"/>
                  </a:lnTo>
                  <a:lnTo>
                    <a:pt x="6289484" y="0"/>
                  </a:lnTo>
                  <a:lnTo>
                    <a:pt x="6296850" y="7365"/>
                  </a:lnTo>
                  <a:lnTo>
                    <a:pt x="6296850" y="16383"/>
                  </a:lnTo>
                  <a:lnTo>
                    <a:pt x="6296850" y="5084660"/>
                  </a:lnTo>
                  <a:lnTo>
                    <a:pt x="6296850" y="5093703"/>
                  </a:lnTo>
                  <a:lnTo>
                    <a:pt x="6289484" y="5101043"/>
                  </a:lnTo>
                  <a:lnTo>
                    <a:pt x="6280467" y="5101043"/>
                  </a:lnTo>
                  <a:lnTo>
                    <a:pt x="16370" y="5101043"/>
                  </a:lnTo>
                  <a:lnTo>
                    <a:pt x="7327" y="5101043"/>
                  </a:lnTo>
                  <a:lnTo>
                    <a:pt x="0" y="5093703"/>
                  </a:lnTo>
                  <a:lnTo>
                    <a:pt x="0" y="5084660"/>
                  </a:lnTo>
                  <a:lnTo>
                    <a:pt x="0" y="16383"/>
                  </a:lnTo>
                  <a:close/>
                </a:path>
              </a:pathLst>
            </a:custGeom>
            <a:ln w="9525">
              <a:solidFill>
                <a:srgbClr val="58606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946521" y="1201000"/>
              <a:ext cx="6985" cy="5101590"/>
            </a:xfrm>
            <a:custGeom>
              <a:avLst/>
              <a:gdLst/>
              <a:ahLst/>
              <a:cxnLst/>
              <a:rect l="l" t="t" r="r" b="b"/>
              <a:pathLst>
                <a:path w="6985" h="5101590">
                  <a:moveTo>
                    <a:pt x="6819" y="5088039"/>
                  </a:moveTo>
                  <a:lnTo>
                    <a:pt x="0" y="5088039"/>
                  </a:lnTo>
                  <a:lnTo>
                    <a:pt x="0" y="5101082"/>
                  </a:lnTo>
                  <a:lnTo>
                    <a:pt x="6819" y="5101082"/>
                  </a:lnTo>
                  <a:lnTo>
                    <a:pt x="6819" y="5088039"/>
                  </a:lnTo>
                  <a:close/>
                </a:path>
                <a:path w="6985" h="5101590">
                  <a:moveTo>
                    <a:pt x="6819" y="0"/>
                  </a:moveTo>
                  <a:lnTo>
                    <a:pt x="0" y="0"/>
                  </a:lnTo>
                  <a:lnTo>
                    <a:pt x="0" y="13119"/>
                  </a:lnTo>
                  <a:lnTo>
                    <a:pt x="6819" y="13119"/>
                  </a:lnTo>
                  <a:lnTo>
                    <a:pt x="6819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7918" y="1207388"/>
              <a:ext cx="2388235" cy="229870"/>
            </a:xfrm>
            <a:custGeom>
              <a:avLst/>
              <a:gdLst/>
              <a:ahLst/>
              <a:cxnLst/>
              <a:rect l="l" t="t" r="r" b="b"/>
              <a:pathLst>
                <a:path w="2388235" h="229869">
                  <a:moveTo>
                    <a:pt x="2387955" y="0"/>
                  </a:moveTo>
                  <a:lnTo>
                    <a:pt x="13665" y="0"/>
                  </a:lnTo>
                  <a:lnTo>
                    <a:pt x="6121" y="0"/>
                  </a:lnTo>
                  <a:lnTo>
                    <a:pt x="0" y="6096"/>
                  </a:lnTo>
                  <a:lnTo>
                    <a:pt x="0" y="229615"/>
                  </a:lnTo>
                  <a:lnTo>
                    <a:pt x="2387955" y="229615"/>
                  </a:lnTo>
                  <a:lnTo>
                    <a:pt x="2387955" y="0"/>
                  </a:lnTo>
                  <a:close/>
                </a:path>
              </a:pathLst>
            </a:custGeom>
            <a:solidFill>
              <a:srgbClr val="16496A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61479" y="1201038"/>
          <a:ext cx="6373495" cy="5095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7760"/>
                <a:gridCol w="879475"/>
                <a:gridCol w="1005205"/>
                <a:gridCol w="1005204"/>
                <a:gridCol w="1008379"/>
              </a:tblGrid>
              <a:tr h="23939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Component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Quantity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16496A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r>
                        <a:rPr dirty="0" sz="9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Price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16496A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9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Price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16496A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16496A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Microcontroller</a:t>
                      </a:r>
                      <a:r>
                        <a:rPr dirty="0" sz="850" spc="7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board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50" spc="-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₹420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₹420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 marR="208279">
                        <a:lnSpc>
                          <a:spcPct val="104700"/>
                        </a:lnSpc>
                        <a:spcBef>
                          <a:spcPts val="250"/>
                        </a:spcBef>
                      </a:pP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Primary</a:t>
                      </a:r>
                      <a:r>
                        <a:rPr dirty="0" sz="850" spc="-3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r>
                        <a:rPr dirty="0" sz="850" spc="50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Temperature</a:t>
                      </a:r>
                      <a:r>
                        <a:rPr dirty="0" sz="850" spc="-4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sensor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₹85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₹170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 marR="247650">
                        <a:lnSpc>
                          <a:spcPct val="104700"/>
                        </a:lnSpc>
                        <a:spcBef>
                          <a:spcPts val="254"/>
                        </a:spcBef>
                      </a:pP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Environmental</a:t>
                      </a:r>
                      <a:r>
                        <a:rPr dirty="0" sz="850" spc="50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monitoring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Humidity</a:t>
                      </a:r>
                      <a:r>
                        <a:rPr dirty="0" sz="850" spc="-4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sensor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₹120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₹120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 marR="221615">
                        <a:lnSpc>
                          <a:spcPct val="104700"/>
                        </a:lnSpc>
                        <a:spcBef>
                          <a:spcPts val="254"/>
                        </a:spcBef>
                      </a:pP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Combined</a:t>
                      </a:r>
                      <a:r>
                        <a:rPr dirty="0" sz="850" spc="3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850" spc="50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temp</a:t>
                      </a: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sensing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Motion</a:t>
                      </a:r>
                      <a:r>
                        <a:rPr dirty="0" sz="850" spc="-4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sensor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₹95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₹95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 marR="269240">
                        <a:lnSpc>
                          <a:spcPct val="104700"/>
                        </a:lnSpc>
                        <a:spcBef>
                          <a:spcPts val="254"/>
                        </a:spcBef>
                      </a:pP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Detection</a:t>
                      </a:r>
                      <a:r>
                        <a:rPr dirty="0" sz="850" spc="3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850" spc="50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wake</a:t>
                      </a: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trigger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Resistor</a:t>
                      </a:r>
                      <a:r>
                        <a:rPr dirty="0" sz="850" spc="-4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assortment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₹60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₹60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 marR="382905">
                        <a:lnSpc>
                          <a:spcPct val="104700"/>
                        </a:lnSpc>
                        <a:spcBef>
                          <a:spcPts val="254"/>
                        </a:spcBef>
                      </a:pP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Mixed</a:t>
                      </a:r>
                      <a:r>
                        <a:rPr dirty="0" sz="850" spc="-3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SMD</a:t>
                      </a:r>
                      <a:r>
                        <a:rPr dirty="0" sz="850" spc="50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values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Capacitor</a:t>
                      </a:r>
                      <a:r>
                        <a:rPr dirty="0" sz="850" spc="-3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assortment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₹75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₹75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 marR="204470">
                        <a:lnSpc>
                          <a:spcPct val="104700"/>
                        </a:lnSpc>
                        <a:spcBef>
                          <a:spcPts val="254"/>
                        </a:spcBef>
                      </a:pP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Decoupling</a:t>
                      </a:r>
                      <a:r>
                        <a:rPr dirty="0" sz="850" spc="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850" spc="50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filtering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Prototype</a:t>
                      </a:r>
                      <a:r>
                        <a:rPr dirty="0" sz="850" spc="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PCB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₹180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₹180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 marR="236220">
                        <a:lnSpc>
                          <a:spcPct val="104700"/>
                        </a:lnSpc>
                        <a:spcBef>
                          <a:spcPts val="254"/>
                        </a:spcBef>
                      </a:pP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2-layer</a:t>
                      </a: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custom</a:t>
                      </a:r>
                      <a:r>
                        <a:rPr dirty="0" sz="850" spc="50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board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Connectors</a:t>
                      </a:r>
                      <a:r>
                        <a:rPr dirty="0" sz="850" spc="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850" spc="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headers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₹140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₹140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 marR="274955">
                        <a:lnSpc>
                          <a:spcPct val="105000"/>
                        </a:lnSpc>
                        <a:spcBef>
                          <a:spcPts val="254"/>
                        </a:spcBef>
                      </a:pP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Board-to-</a:t>
                      </a: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wire</a:t>
                      </a:r>
                      <a:r>
                        <a:rPr dirty="0" sz="850" spc="50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interface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Voltage</a:t>
                      </a:r>
                      <a:r>
                        <a:rPr dirty="0" sz="850" spc="-4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regulator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₹55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₹55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 marR="311150">
                        <a:lnSpc>
                          <a:spcPct val="104700"/>
                        </a:lnSpc>
                        <a:spcBef>
                          <a:spcPts val="259"/>
                        </a:spcBef>
                      </a:pP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Stable</a:t>
                      </a:r>
                      <a:r>
                        <a:rPr dirty="0" sz="850" spc="-3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power</a:t>
                      </a:r>
                      <a:r>
                        <a:rPr dirty="0" sz="850" spc="50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conversion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Passive</a:t>
                      </a:r>
                      <a:r>
                        <a:rPr dirty="0" sz="850" spc="-4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support</a:t>
                      </a:r>
                      <a:r>
                        <a:rPr dirty="0" sz="850" spc="-3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components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₹90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850" spc="-2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₹90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 marR="315595">
                        <a:lnSpc>
                          <a:spcPct val="104700"/>
                        </a:lnSpc>
                        <a:spcBef>
                          <a:spcPts val="259"/>
                        </a:spcBef>
                      </a:pP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LEDs,</a:t>
                      </a:r>
                      <a:r>
                        <a:rPr dirty="0" sz="850" spc="-3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diodes,</a:t>
                      </a:r>
                      <a:r>
                        <a:rPr dirty="0" sz="850" spc="50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ferrites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Assembly</a:t>
                      </a:r>
                      <a:r>
                        <a:rPr dirty="0" sz="850" spc="-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and test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consumables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69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850" spc="-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6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₹250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6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850" spc="-2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₹250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6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9220" marR="338455">
                        <a:lnSpc>
                          <a:spcPct val="104700"/>
                        </a:lnSpc>
                        <a:spcBef>
                          <a:spcPts val="260"/>
                        </a:spcBef>
                      </a:pPr>
                      <a:r>
                        <a:rPr dirty="0" sz="85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Solder,</a:t>
                      </a:r>
                      <a:r>
                        <a:rPr dirty="0" sz="850" spc="-35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wire,</a:t>
                      </a:r>
                      <a:r>
                        <a:rPr dirty="0" sz="850" spc="50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solidFill>
                            <a:srgbClr val="EAEFF7"/>
                          </a:solidFill>
                          <a:latin typeface="Calibri"/>
                          <a:cs typeface="Calibri"/>
                        </a:rPr>
                        <a:t>standoffs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9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Prototype</a:t>
                      </a:r>
                      <a:r>
                        <a:rPr dirty="0" sz="9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BOM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solidFill>
                      <a:srgbClr val="0A2E52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solidFill>
                      <a:srgbClr val="0A2E52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₹1,570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solidFill>
                      <a:srgbClr val="0A2E52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₹1,575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solidFill>
                      <a:srgbClr val="0A2E52"/>
                    </a:solidFill>
                  </a:tcPr>
                </a:tc>
                <a:tc>
                  <a:txBody>
                    <a:bodyPr/>
                    <a:lstStyle/>
                    <a:p>
                      <a:pPr marL="109220" marR="133350">
                        <a:lnSpc>
                          <a:spcPct val="94400"/>
                        </a:lnSpc>
                        <a:spcBef>
                          <a:spcPts val="330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Projected</a:t>
                      </a:r>
                      <a:r>
                        <a:rPr dirty="0" sz="9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mass-</a:t>
                      </a:r>
                      <a:r>
                        <a:rPr dirty="0" sz="9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mass-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production</a:t>
                      </a:r>
                      <a:r>
                        <a:rPr dirty="0" sz="900" spc="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below</a:t>
                      </a:r>
                      <a:r>
                        <a:rPr dirty="0" sz="9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₹1,500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T w="3175">
                      <a:solidFill>
                        <a:srgbClr val="000000"/>
                      </a:solidFill>
                      <a:prstDash val="solid"/>
                    </a:lnT>
                    <a:solidFill>
                      <a:srgbClr val="0A2E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1263" y="6306261"/>
            <a:ext cx="11587480" cy="509270"/>
            <a:chOff x="561263" y="6306261"/>
            <a:chExt cx="11587480" cy="509270"/>
          </a:xfrm>
        </p:grpSpPr>
        <p:sp>
          <p:nvSpPr>
            <p:cNvPr id="3" name="object 3"/>
            <p:cNvSpPr/>
            <p:nvPr/>
          </p:nvSpPr>
          <p:spPr>
            <a:xfrm>
              <a:off x="10927969" y="6559635"/>
              <a:ext cx="1175385" cy="224154"/>
            </a:xfrm>
            <a:custGeom>
              <a:avLst/>
              <a:gdLst/>
              <a:ahLst/>
              <a:cxnLst/>
              <a:rect l="l" t="t" r="r" b="b"/>
              <a:pathLst>
                <a:path w="1175384" h="224154">
                  <a:moveTo>
                    <a:pt x="1175232" y="0"/>
                  </a:moveTo>
                  <a:lnTo>
                    <a:pt x="0" y="0"/>
                  </a:lnTo>
                  <a:lnTo>
                    <a:pt x="0" y="224142"/>
                  </a:lnTo>
                  <a:lnTo>
                    <a:pt x="1175232" y="224142"/>
                  </a:lnTo>
                  <a:lnTo>
                    <a:pt x="1175232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927969" y="6559635"/>
              <a:ext cx="1175385" cy="224154"/>
            </a:xfrm>
            <a:custGeom>
              <a:avLst/>
              <a:gdLst/>
              <a:ahLst/>
              <a:cxnLst/>
              <a:rect l="l" t="t" r="r" b="b"/>
              <a:pathLst>
                <a:path w="1175384" h="224154">
                  <a:moveTo>
                    <a:pt x="0" y="224142"/>
                  </a:moveTo>
                  <a:lnTo>
                    <a:pt x="1175232" y="224142"/>
                  </a:lnTo>
                  <a:lnTo>
                    <a:pt x="1175232" y="0"/>
                  </a:lnTo>
                  <a:lnTo>
                    <a:pt x="0" y="0"/>
                  </a:lnTo>
                  <a:lnTo>
                    <a:pt x="0" y="224142"/>
                  </a:lnTo>
                  <a:close/>
                </a:path>
              </a:pathLst>
            </a:custGeom>
            <a:ln w="12700">
              <a:solidFill>
                <a:srgbClr val="2428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61263" y="6306261"/>
              <a:ext cx="10795635" cy="316230"/>
            </a:xfrm>
            <a:custGeom>
              <a:avLst/>
              <a:gdLst/>
              <a:ahLst/>
              <a:cxnLst/>
              <a:rect l="l" t="t" r="r" b="b"/>
              <a:pathLst>
                <a:path w="10795635" h="316229">
                  <a:moveTo>
                    <a:pt x="10787964" y="0"/>
                  </a:moveTo>
                  <a:lnTo>
                    <a:pt x="7543" y="0"/>
                  </a:lnTo>
                  <a:lnTo>
                    <a:pt x="0" y="7531"/>
                  </a:lnTo>
                  <a:lnTo>
                    <a:pt x="0" y="16840"/>
                  </a:lnTo>
                  <a:lnTo>
                    <a:pt x="0" y="308470"/>
                  </a:lnTo>
                  <a:lnTo>
                    <a:pt x="7543" y="316014"/>
                  </a:lnTo>
                  <a:lnTo>
                    <a:pt x="10787964" y="316014"/>
                  </a:lnTo>
                  <a:lnTo>
                    <a:pt x="10795584" y="308470"/>
                  </a:lnTo>
                  <a:lnTo>
                    <a:pt x="10795584" y="7531"/>
                  </a:lnTo>
                  <a:lnTo>
                    <a:pt x="10787964" y="0"/>
                  </a:lnTo>
                  <a:close/>
                </a:path>
              </a:pathLst>
            </a:custGeom>
            <a:solidFill>
              <a:srgbClr val="79054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85596" y="589914"/>
            <a:ext cx="709612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Revenue,</a:t>
            </a:r>
            <a:r>
              <a:rPr dirty="0" sz="3200" spc="160"/>
              <a:t> </a:t>
            </a:r>
            <a:r>
              <a:rPr dirty="0" sz="3200" spc="70"/>
              <a:t>Channels</a:t>
            </a:r>
            <a:r>
              <a:rPr dirty="0" sz="3200" spc="160"/>
              <a:t> </a:t>
            </a:r>
            <a:r>
              <a:rPr dirty="0" sz="3200"/>
              <a:t>&amp;</a:t>
            </a:r>
            <a:r>
              <a:rPr dirty="0" sz="3200" spc="195"/>
              <a:t> </a:t>
            </a:r>
            <a:r>
              <a:rPr dirty="0" sz="3200"/>
              <a:t>Unit</a:t>
            </a:r>
            <a:r>
              <a:rPr dirty="0" sz="3200" spc="160"/>
              <a:t> </a:t>
            </a:r>
            <a:r>
              <a:rPr dirty="0" sz="3200" spc="75"/>
              <a:t>Economics</a:t>
            </a:r>
            <a:endParaRPr sz="3200"/>
          </a:p>
        </p:txBody>
      </p:sp>
      <p:grpSp>
        <p:nvGrpSpPr>
          <p:cNvPr id="7" name="object 7"/>
          <p:cNvGrpSpPr/>
          <p:nvPr/>
        </p:nvGrpSpPr>
        <p:grpSpPr>
          <a:xfrm>
            <a:off x="698080" y="1366392"/>
            <a:ext cx="996315" cy="170815"/>
            <a:chOff x="698080" y="1366392"/>
            <a:chExt cx="996315" cy="170815"/>
          </a:xfrm>
        </p:grpSpPr>
        <p:sp>
          <p:nvSpPr>
            <p:cNvPr id="8" name="object 8"/>
            <p:cNvSpPr/>
            <p:nvPr/>
          </p:nvSpPr>
          <p:spPr>
            <a:xfrm>
              <a:off x="698080" y="1366392"/>
              <a:ext cx="996315" cy="170815"/>
            </a:xfrm>
            <a:custGeom>
              <a:avLst/>
              <a:gdLst/>
              <a:ahLst/>
              <a:cxnLst/>
              <a:rect l="l" t="t" r="r" b="b"/>
              <a:pathLst>
                <a:path w="996314" h="170815">
                  <a:moveTo>
                    <a:pt x="990257" y="0"/>
                  </a:moveTo>
                  <a:lnTo>
                    <a:pt x="6032" y="0"/>
                  </a:lnTo>
                  <a:lnTo>
                    <a:pt x="0" y="6096"/>
                  </a:lnTo>
                  <a:lnTo>
                    <a:pt x="0" y="13462"/>
                  </a:lnTo>
                  <a:lnTo>
                    <a:pt x="0" y="164465"/>
                  </a:lnTo>
                  <a:lnTo>
                    <a:pt x="6032" y="170561"/>
                  </a:lnTo>
                  <a:lnTo>
                    <a:pt x="990257" y="170561"/>
                  </a:lnTo>
                  <a:lnTo>
                    <a:pt x="996226" y="164465"/>
                  </a:lnTo>
                  <a:lnTo>
                    <a:pt x="996226" y="6096"/>
                  </a:lnTo>
                  <a:lnTo>
                    <a:pt x="990257" y="0"/>
                  </a:lnTo>
                  <a:close/>
                </a:path>
              </a:pathLst>
            </a:custGeom>
            <a:solidFill>
              <a:srgbClr val="4804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8955" y="1411594"/>
              <a:ext cx="42485" cy="84973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689893" y="1599853"/>
            <a:ext cx="5280025" cy="635635"/>
            <a:chOff x="689893" y="1599853"/>
            <a:chExt cx="5280025" cy="635635"/>
          </a:xfrm>
        </p:grpSpPr>
        <p:sp>
          <p:nvSpPr>
            <p:cNvPr id="11" name="object 11"/>
            <p:cNvSpPr/>
            <p:nvPr/>
          </p:nvSpPr>
          <p:spPr>
            <a:xfrm>
              <a:off x="702570" y="1612315"/>
              <a:ext cx="5255260" cy="610870"/>
            </a:xfrm>
            <a:custGeom>
              <a:avLst/>
              <a:gdLst/>
              <a:ahLst/>
              <a:cxnLst/>
              <a:rect l="l" t="t" r="r" b="b"/>
              <a:pathLst>
                <a:path w="5255260" h="610869">
                  <a:moveTo>
                    <a:pt x="5248345" y="0"/>
                  </a:moveTo>
                  <a:lnTo>
                    <a:pt x="50708" y="0"/>
                  </a:lnTo>
                  <a:lnTo>
                    <a:pt x="14852" y="14584"/>
                  </a:lnTo>
                  <a:lnTo>
                    <a:pt x="0" y="49847"/>
                  </a:lnTo>
                  <a:lnTo>
                    <a:pt x="0" y="560757"/>
                  </a:lnTo>
                  <a:lnTo>
                    <a:pt x="14852" y="596005"/>
                  </a:lnTo>
                  <a:lnTo>
                    <a:pt x="50708" y="610606"/>
                  </a:lnTo>
                  <a:lnTo>
                    <a:pt x="5248345" y="610606"/>
                  </a:lnTo>
                  <a:lnTo>
                    <a:pt x="5254631" y="604444"/>
                  </a:lnTo>
                  <a:lnTo>
                    <a:pt x="5254631" y="6127"/>
                  </a:lnTo>
                  <a:lnTo>
                    <a:pt x="5248345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02570" y="1612315"/>
              <a:ext cx="5254625" cy="610870"/>
            </a:xfrm>
            <a:custGeom>
              <a:avLst/>
              <a:gdLst/>
              <a:ahLst/>
              <a:cxnLst/>
              <a:rect l="l" t="t" r="r" b="b"/>
              <a:pathLst>
                <a:path w="5254625" h="610869">
                  <a:moveTo>
                    <a:pt x="31014" y="3997"/>
                  </a:moveTo>
                  <a:lnTo>
                    <a:pt x="31312" y="3843"/>
                  </a:lnTo>
                </a:path>
                <a:path w="5254625" h="610869">
                  <a:moveTo>
                    <a:pt x="50708" y="0"/>
                  </a:moveTo>
                  <a:lnTo>
                    <a:pt x="5240633" y="0"/>
                  </a:lnTo>
                </a:path>
                <a:path w="5254625" h="610869">
                  <a:moveTo>
                    <a:pt x="5254631" y="13759"/>
                  </a:moveTo>
                  <a:lnTo>
                    <a:pt x="5254631" y="596843"/>
                  </a:lnTo>
                </a:path>
                <a:path w="5254625" h="610869">
                  <a:moveTo>
                    <a:pt x="5240633" y="610605"/>
                  </a:moveTo>
                  <a:lnTo>
                    <a:pt x="50708" y="610605"/>
                  </a:lnTo>
                </a:path>
                <a:path w="5254625" h="610869">
                  <a:moveTo>
                    <a:pt x="0" y="560757"/>
                  </a:moveTo>
                  <a:lnTo>
                    <a:pt x="0" y="49847"/>
                  </a:lnTo>
                </a:path>
                <a:path w="5254625" h="610869">
                  <a:moveTo>
                    <a:pt x="3914" y="30769"/>
                  </a:moveTo>
                  <a:lnTo>
                    <a:pt x="4027" y="30449"/>
                  </a:lnTo>
                </a:path>
              </a:pathLst>
            </a:custGeom>
            <a:ln w="25138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2570" y="1612605"/>
              <a:ext cx="50708" cy="61067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53278" y="1623524"/>
            <a:ext cx="5191760" cy="47307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795"/>
              </a:spcBef>
            </a:pPr>
            <a:r>
              <a:rPr dirty="0" sz="1000">
                <a:solidFill>
                  <a:srgbClr val="D5E4EE"/>
                </a:solidFill>
                <a:latin typeface="Georgia"/>
                <a:cs typeface="Georgia"/>
              </a:rPr>
              <a:t>Device</a:t>
            </a:r>
            <a:r>
              <a:rPr dirty="0" sz="1000" spc="17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D5E4EE"/>
                </a:solidFill>
                <a:latin typeface="Georgia"/>
                <a:cs typeface="Georgia"/>
              </a:rPr>
              <a:t>Sale</a:t>
            </a:r>
            <a:endParaRPr sz="1000">
              <a:latin typeface="Georgia"/>
              <a:cs typeface="Georgia"/>
            </a:endParaRPr>
          </a:p>
          <a:p>
            <a:pPr marL="120014">
              <a:lnSpc>
                <a:spcPct val="100000"/>
              </a:lnSpc>
              <a:spcBef>
                <a:spcPts val="605"/>
              </a:spcBef>
            </a:pPr>
            <a:r>
              <a:rPr dirty="0" sz="850" b="1">
                <a:solidFill>
                  <a:srgbClr val="FF6B35"/>
                </a:solidFill>
                <a:latin typeface="Yu Gothic UI"/>
                <a:cs typeface="Yu Gothic UI"/>
              </a:rPr>
              <a:t>Rs.</a:t>
            </a:r>
            <a:r>
              <a:rPr dirty="0" sz="850" spc="-50" b="1">
                <a:solidFill>
                  <a:srgbClr val="FF6B35"/>
                </a:solidFill>
                <a:latin typeface="Yu Gothic UI"/>
                <a:cs typeface="Yu Gothic UI"/>
              </a:rPr>
              <a:t> </a:t>
            </a:r>
            <a:r>
              <a:rPr dirty="0" sz="850" spc="-25" b="1">
                <a:solidFill>
                  <a:srgbClr val="FF6B35"/>
                </a:solidFill>
                <a:latin typeface="Yu Gothic UI"/>
                <a:cs typeface="Yu Gothic UI"/>
              </a:rPr>
              <a:t>2,466</a:t>
            </a:r>
            <a:r>
              <a:rPr dirty="0" sz="850" spc="-10" b="1">
                <a:solidFill>
                  <a:srgbClr val="FF6B35"/>
                </a:solidFill>
                <a:latin typeface="Yu Gothic UI"/>
                <a:cs typeface="Yu Gothic UI"/>
              </a:rPr>
              <a:t> </a:t>
            </a:r>
            <a:r>
              <a:rPr dirty="0" sz="850" spc="-55" b="1">
                <a:solidFill>
                  <a:srgbClr val="FF6B35"/>
                </a:solidFill>
                <a:latin typeface="Yu Gothic UI"/>
                <a:cs typeface="Yu Gothic UI"/>
              </a:rPr>
              <a:t>MRR</a:t>
            </a:r>
            <a:r>
              <a:rPr dirty="0" sz="850" spc="-35" b="1">
                <a:solidFill>
                  <a:srgbClr val="FF6B35"/>
                </a:solidFill>
                <a:latin typeface="Yu Gothic UI"/>
                <a:cs typeface="Yu Gothic UI"/>
              </a:rPr>
              <a:t> </a:t>
            </a:r>
            <a:r>
              <a:rPr dirty="0" sz="850" spc="-40">
                <a:solidFill>
                  <a:srgbClr val="D5E4EE"/>
                </a:solidFill>
                <a:latin typeface="SimSun-ExtB"/>
                <a:cs typeface="SimSun-ExtB"/>
              </a:rPr>
              <a:t>per</a:t>
            </a:r>
            <a:r>
              <a:rPr dirty="0" sz="850" spc="-20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SimSun-ExtB"/>
                <a:cs typeface="SimSun-ExtB"/>
              </a:rPr>
              <a:t>device</a:t>
            </a:r>
            <a:endParaRPr sz="850">
              <a:latin typeface="SimSun-ExtB"/>
              <a:cs typeface="SimSun-ExtB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89893" y="2280827"/>
            <a:ext cx="5280025" cy="635635"/>
            <a:chOff x="689893" y="2280827"/>
            <a:chExt cx="5280025" cy="635635"/>
          </a:xfrm>
        </p:grpSpPr>
        <p:sp>
          <p:nvSpPr>
            <p:cNvPr id="16" name="object 16"/>
            <p:cNvSpPr/>
            <p:nvPr/>
          </p:nvSpPr>
          <p:spPr>
            <a:xfrm>
              <a:off x="702570" y="2293289"/>
              <a:ext cx="5255260" cy="610870"/>
            </a:xfrm>
            <a:custGeom>
              <a:avLst/>
              <a:gdLst/>
              <a:ahLst/>
              <a:cxnLst/>
              <a:rect l="l" t="t" r="r" b="b"/>
              <a:pathLst>
                <a:path w="5255260" h="610869">
                  <a:moveTo>
                    <a:pt x="5248345" y="0"/>
                  </a:moveTo>
                  <a:lnTo>
                    <a:pt x="50708" y="0"/>
                  </a:lnTo>
                  <a:lnTo>
                    <a:pt x="14852" y="14584"/>
                  </a:lnTo>
                  <a:lnTo>
                    <a:pt x="0" y="49847"/>
                  </a:lnTo>
                  <a:lnTo>
                    <a:pt x="0" y="560757"/>
                  </a:lnTo>
                  <a:lnTo>
                    <a:pt x="14852" y="596005"/>
                  </a:lnTo>
                  <a:lnTo>
                    <a:pt x="50708" y="610606"/>
                  </a:lnTo>
                  <a:lnTo>
                    <a:pt x="5248345" y="610606"/>
                  </a:lnTo>
                  <a:lnTo>
                    <a:pt x="5254631" y="604444"/>
                  </a:lnTo>
                  <a:lnTo>
                    <a:pt x="5254631" y="6127"/>
                  </a:lnTo>
                  <a:lnTo>
                    <a:pt x="5248345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2570" y="2293289"/>
              <a:ext cx="5254625" cy="610870"/>
            </a:xfrm>
            <a:custGeom>
              <a:avLst/>
              <a:gdLst/>
              <a:ahLst/>
              <a:cxnLst/>
              <a:rect l="l" t="t" r="r" b="b"/>
              <a:pathLst>
                <a:path w="5254625" h="610869">
                  <a:moveTo>
                    <a:pt x="31014" y="3997"/>
                  </a:moveTo>
                  <a:lnTo>
                    <a:pt x="31312" y="3843"/>
                  </a:lnTo>
                </a:path>
                <a:path w="5254625" h="610869">
                  <a:moveTo>
                    <a:pt x="50708" y="0"/>
                  </a:moveTo>
                  <a:lnTo>
                    <a:pt x="5240633" y="0"/>
                  </a:lnTo>
                </a:path>
                <a:path w="5254625" h="610869">
                  <a:moveTo>
                    <a:pt x="5254631" y="13759"/>
                  </a:moveTo>
                  <a:lnTo>
                    <a:pt x="5254631" y="596843"/>
                  </a:lnTo>
                </a:path>
                <a:path w="5254625" h="610869">
                  <a:moveTo>
                    <a:pt x="5240633" y="610605"/>
                  </a:moveTo>
                  <a:lnTo>
                    <a:pt x="50708" y="610605"/>
                  </a:lnTo>
                </a:path>
                <a:path w="5254625" h="610869">
                  <a:moveTo>
                    <a:pt x="0" y="560757"/>
                  </a:moveTo>
                  <a:lnTo>
                    <a:pt x="0" y="49847"/>
                  </a:lnTo>
                </a:path>
                <a:path w="5254625" h="610869">
                  <a:moveTo>
                    <a:pt x="3914" y="30769"/>
                  </a:moveTo>
                  <a:lnTo>
                    <a:pt x="4027" y="30449"/>
                  </a:lnTo>
                </a:path>
              </a:pathLst>
            </a:custGeom>
            <a:ln w="25138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2570" y="2293580"/>
              <a:ext cx="50708" cy="61067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53278" y="2304751"/>
            <a:ext cx="5191760" cy="47307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795"/>
              </a:spcBef>
            </a:pPr>
            <a:r>
              <a:rPr dirty="0" sz="1000">
                <a:solidFill>
                  <a:srgbClr val="D5E4EE"/>
                </a:solidFill>
                <a:latin typeface="Georgia"/>
                <a:cs typeface="Georgia"/>
              </a:rPr>
              <a:t>Side</a:t>
            </a:r>
            <a:r>
              <a:rPr dirty="0" sz="1000" spc="15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D5E4EE"/>
                </a:solidFill>
                <a:latin typeface="Georgia"/>
                <a:cs typeface="Georgia"/>
              </a:rPr>
              <a:t>Telematics</a:t>
            </a:r>
            <a:r>
              <a:rPr dirty="0" sz="1000" spc="19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D5E4EE"/>
                </a:solidFill>
                <a:latin typeface="Georgia"/>
                <a:cs typeface="Georgia"/>
              </a:rPr>
              <a:t>Subscription</a:t>
            </a:r>
            <a:endParaRPr sz="1000">
              <a:latin typeface="Georgia"/>
              <a:cs typeface="Georgia"/>
            </a:endParaRPr>
          </a:p>
          <a:p>
            <a:pPr marL="120014">
              <a:lnSpc>
                <a:spcPct val="100000"/>
              </a:lnSpc>
              <a:spcBef>
                <a:spcPts val="605"/>
              </a:spcBef>
            </a:pPr>
            <a:r>
              <a:rPr dirty="0" sz="850" b="1">
                <a:solidFill>
                  <a:srgbClr val="FF6B35"/>
                </a:solidFill>
                <a:latin typeface="Yu Gothic UI"/>
                <a:cs typeface="Yu Gothic UI"/>
              </a:rPr>
              <a:t>Rs.</a:t>
            </a:r>
            <a:r>
              <a:rPr dirty="0" sz="850" spc="-50" b="1">
                <a:solidFill>
                  <a:srgbClr val="FF6B35"/>
                </a:solidFill>
                <a:latin typeface="Yu Gothic UI"/>
                <a:cs typeface="Yu Gothic UI"/>
              </a:rPr>
              <a:t> </a:t>
            </a:r>
            <a:r>
              <a:rPr dirty="0" sz="850" spc="-35" b="1">
                <a:solidFill>
                  <a:srgbClr val="FF6B35"/>
                </a:solidFill>
                <a:latin typeface="Yu Gothic UI"/>
                <a:cs typeface="Yu Gothic UI"/>
              </a:rPr>
              <a:t>66</a:t>
            </a:r>
            <a:r>
              <a:rPr dirty="0" sz="850" spc="-20" b="1">
                <a:solidFill>
                  <a:srgbClr val="FF6B35"/>
                </a:solidFill>
                <a:latin typeface="Yu Gothic UI"/>
                <a:cs typeface="Yu Gothic UI"/>
              </a:rPr>
              <a:t> </a:t>
            </a:r>
            <a:r>
              <a:rPr dirty="0" sz="850" spc="-70" b="1">
                <a:solidFill>
                  <a:srgbClr val="FF6B35"/>
                </a:solidFill>
                <a:latin typeface="Yu Gothic UI"/>
                <a:cs typeface="Yu Gothic UI"/>
              </a:rPr>
              <a:t>/</a:t>
            </a:r>
            <a:r>
              <a:rPr dirty="0" sz="850" spc="-35" b="1">
                <a:solidFill>
                  <a:srgbClr val="FF6B35"/>
                </a:solidFill>
                <a:latin typeface="Yu Gothic UI"/>
                <a:cs typeface="Yu Gothic UI"/>
              </a:rPr>
              <a:t> </a:t>
            </a:r>
            <a:r>
              <a:rPr dirty="0" sz="850" spc="-25" b="1">
                <a:solidFill>
                  <a:srgbClr val="FF6B35"/>
                </a:solidFill>
                <a:latin typeface="Yu Gothic UI"/>
                <a:cs typeface="Yu Gothic UI"/>
              </a:rPr>
              <a:t>month</a:t>
            </a:r>
            <a:r>
              <a:rPr dirty="0" sz="850" spc="-55" b="1">
                <a:solidFill>
                  <a:srgbClr val="FF6B35"/>
                </a:solidFill>
                <a:latin typeface="Yu Gothic UI"/>
                <a:cs typeface="Yu Gothic UI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SimSun-ExtB"/>
                <a:cs typeface="SimSun-ExtB"/>
              </a:rPr>
              <a:t>+</a:t>
            </a:r>
            <a:r>
              <a:rPr dirty="0" sz="850" spc="-2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850" spc="-100">
                <a:solidFill>
                  <a:srgbClr val="D5E4EE"/>
                </a:solidFill>
                <a:latin typeface="SimSun-ExtB"/>
                <a:cs typeface="SimSun-ExtB"/>
              </a:rPr>
              <a:t>rider</a:t>
            </a:r>
            <a:r>
              <a:rPr dirty="0" sz="850" spc="-1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850" spc="-25">
                <a:solidFill>
                  <a:srgbClr val="D5E4EE"/>
                </a:solidFill>
                <a:latin typeface="SimSun-ExtB"/>
                <a:cs typeface="SimSun-ExtB"/>
              </a:rPr>
              <a:t>app</a:t>
            </a:r>
            <a:endParaRPr sz="850">
              <a:latin typeface="SimSun-ExtB"/>
              <a:cs typeface="SimSun-ExtB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89893" y="2961928"/>
            <a:ext cx="5280025" cy="635635"/>
            <a:chOff x="689893" y="2961928"/>
            <a:chExt cx="5280025" cy="635635"/>
          </a:xfrm>
        </p:grpSpPr>
        <p:sp>
          <p:nvSpPr>
            <p:cNvPr id="21" name="object 21"/>
            <p:cNvSpPr/>
            <p:nvPr/>
          </p:nvSpPr>
          <p:spPr>
            <a:xfrm>
              <a:off x="702570" y="2974390"/>
              <a:ext cx="5255260" cy="610870"/>
            </a:xfrm>
            <a:custGeom>
              <a:avLst/>
              <a:gdLst/>
              <a:ahLst/>
              <a:cxnLst/>
              <a:rect l="l" t="t" r="r" b="b"/>
              <a:pathLst>
                <a:path w="5255260" h="610870">
                  <a:moveTo>
                    <a:pt x="5248345" y="0"/>
                  </a:moveTo>
                  <a:lnTo>
                    <a:pt x="50708" y="0"/>
                  </a:lnTo>
                  <a:lnTo>
                    <a:pt x="14852" y="14584"/>
                  </a:lnTo>
                  <a:lnTo>
                    <a:pt x="0" y="49847"/>
                  </a:lnTo>
                  <a:lnTo>
                    <a:pt x="0" y="560757"/>
                  </a:lnTo>
                  <a:lnTo>
                    <a:pt x="14852" y="596005"/>
                  </a:lnTo>
                  <a:lnTo>
                    <a:pt x="50708" y="610606"/>
                  </a:lnTo>
                  <a:lnTo>
                    <a:pt x="5248345" y="610606"/>
                  </a:lnTo>
                  <a:lnTo>
                    <a:pt x="5254631" y="604444"/>
                  </a:lnTo>
                  <a:lnTo>
                    <a:pt x="5254631" y="6127"/>
                  </a:lnTo>
                  <a:lnTo>
                    <a:pt x="5248345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02570" y="2974390"/>
              <a:ext cx="5254625" cy="610870"/>
            </a:xfrm>
            <a:custGeom>
              <a:avLst/>
              <a:gdLst/>
              <a:ahLst/>
              <a:cxnLst/>
              <a:rect l="l" t="t" r="r" b="b"/>
              <a:pathLst>
                <a:path w="5254625" h="610870">
                  <a:moveTo>
                    <a:pt x="31014" y="3997"/>
                  </a:moveTo>
                  <a:lnTo>
                    <a:pt x="31312" y="3843"/>
                  </a:lnTo>
                </a:path>
                <a:path w="5254625" h="610870">
                  <a:moveTo>
                    <a:pt x="50708" y="0"/>
                  </a:moveTo>
                  <a:lnTo>
                    <a:pt x="5240633" y="0"/>
                  </a:lnTo>
                </a:path>
                <a:path w="5254625" h="610870">
                  <a:moveTo>
                    <a:pt x="5254631" y="13759"/>
                  </a:moveTo>
                  <a:lnTo>
                    <a:pt x="5254631" y="596843"/>
                  </a:lnTo>
                </a:path>
                <a:path w="5254625" h="610870">
                  <a:moveTo>
                    <a:pt x="5240633" y="610605"/>
                  </a:moveTo>
                  <a:lnTo>
                    <a:pt x="50708" y="610605"/>
                  </a:lnTo>
                </a:path>
                <a:path w="5254625" h="610870">
                  <a:moveTo>
                    <a:pt x="0" y="560757"/>
                  </a:moveTo>
                  <a:lnTo>
                    <a:pt x="0" y="49847"/>
                  </a:lnTo>
                </a:path>
                <a:path w="5254625" h="610870">
                  <a:moveTo>
                    <a:pt x="3914" y="30769"/>
                  </a:moveTo>
                  <a:lnTo>
                    <a:pt x="4027" y="30449"/>
                  </a:lnTo>
                </a:path>
              </a:pathLst>
            </a:custGeom>
            <a:ln w="25138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570" y="2974681"/>
              <a:ext cx="50708" cy="61067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53278" y="2985429"/>
            <a:ext cx="5191760" cy="473709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800"/>
              </a:spcBef>
            </a:pPr>
            <a:r>
              <a:rPr dirty="0" sz="1000">
                <a:solidFill>
                  <a:srgbClr val="D5E4EE"/>
                </a:solidFill>
                <a:latin typeface="Georgia"/>
                <a:cs typeface="Georgia"/>
              </a:rPr>
              <a:t>Insurer</a:t>
            </a:r>
            <a:r>
              <a:rPr dirty="0" sz="1000" spc="10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D5E4EE"/>
                </a:solidFill>
                <a:latin typeface="Georgia"/>
                <a:cs typeface="Georgia"/>
              </a:rPr>
              <a:t>Data</a:t>
            </a:r>
            <a:r>
              <a:rPr dirty="0" sz="1000" spc="7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D5E4EE"/>
                </a:solidFill>
                <a:latin typeface="Georgia"/>
                <a:cs typeface="Georgia"/>
              </a:rPr>
              <a:t>Licensing</a:t>
            </a:r>
            <a:endParaRPr sz="1000">
              <a:latin typeface="Georgia"/>
              <a:cs typeface="Georgia"/>
            </a:endParaRPr>
          </a:p>
          <a:p>
            <a:pPr marL="120014">
              <a:lnSpc>
                <a:spcPct val="100000"/>
              </a:lnSpc>
              <a:spcBef>
                <a:spcPts val="605"/>
              </a:spcBef>
            </a:pPr>
            <a:r>
              <a:rPr dirty="0" sz="850" spc="-70">
                <a:solidFill>
                  <a:srgbClr val="D5E4EE"/>
                </a:solidFill>
                <a:latin typeface="SimSun-ExtB"/>
                <a:cs typeface="SimSun-ExtB"/>
              </a:rPr>
              <a:t>Per-</a:t>
            </a:r>
            <a:r>
              <a:rPr dirty="0" sz="850" spc="-45">
                <a:solidFill>
                  <a:srgbClr val="D5E4EE"/>
                </a:solidFill>
                <a:latin typeface="SimSun-ExtB"/>
                <a:cs typeface="SimSun-ExtB"/>
              </a:rPr>
              <a:t>claim</a:t>
            </a:r>
            <a:r>
              <a:rPr dirty="0" sz="850" spc="-2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850" spc="-114">
                <a:solidFill>
                  <a:srgbClr val="D5E4EE"/>
                </a:solidFill>
                <a:latin typeface="SimSun-ExtB"/>
                <a:cs typeface="SimSun-ExtB"/>
              </a:rPr>
              <a:t>risk</a:t>
            </a:r>
            <a:r>
              <a:rPr dirty="0" sz="850" spc="-2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850" spc="-55">
                <a:solidFill>
                  <a:srgbClr val="D5E4EE"/>
                </a:solidFill>
                <a:latin typeface="SimSun-ExtB"/>
                <a:cs typeface="SimSun-ExtB"/>
              </a:rPr>
              <a:t>score</a:t>
            </a:r>
            <a:r>
              <a:rPr dirty="0" sz="850" spc="-20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850" spc="-25">
                <a:solidFill>
                  <a:srgbClr val="D5E4EE"/>
                </a:solidFill>
                <a:latin typeface="SimSun-ExtB"/>
                <a:cs typeface="SimSun-ExtB"/>
              </a:rPr>
              <a:t>API</a:t>
            </a:r>
            <a:endParaRPr sz="850">
              <a:latin typeface="SimSun-ExtB"/>
              <a:cs typeface="SimSun-ExtB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239002" y="1366392"/>
            <a:ext cx="680720" cy="170815"/>
            <a:chOff x="6239002" y="1366392"/>
            <a:chExt cx="680720" cy="170815"/>
          </a:xfrm>
        </p:grpSpPr>
        <p:sp>
          <p:nvSpPr>
            <p:cNvPr id="26" name="object 26"/>
            <p:cNvSpPr/>
            <p:nvPr/>
          </p:nvSpPr>
          <p:spPr>
            <a:xfrm>
              <a:off x="6239002" y="1366392"/>
              <a:ext cx="680720" cy="170815"/>
            </a:xfrm>
            <a:custGeom>
              <a:avLst/>
              <a:gdLst/>
              <a:ahLst/>
              <a:cxnLst/>
              <a:rect l="l" t="t" r="r" b="b"/>
              <a:pathLst>
                <a:path w="680720" h="170815">
                  <a:moveTo>
                    <a:pt x="674370" y="0"/>
                  </a:moveTo>
                  <a:lnTo>
                    <a:pt x="6096" y="0"/>
                  </a:lnTo>
                  <a:lnTo>
                    <a:pt x="0" y="6096"/>
                  </a:lnTo>
                  <a:lnTo>
                    <a:pt x="0" y="13462"/>
                  </a:lnTo>
                  <a:lnTo>
                    <a:pt x="0" y="164465"/>
                  </a:lnTo>
                  <a:lnTo>
                    <a:pt x="6096" y="170561"/>
                  </a:lnTo>
                  <a:lnTo>
                    <a:pt x="674370" y="170561"/>
                  </a:lnTo>
                  <a:lnTo>
                    <a:pt x="680339" y="164465"/>
                  </a:lnTo>
                  <a:lnTo>
                    <a:pt x="680339" y="6096"/>
                  </a:lnTo>
                  <a:lnTo>
                    <a:pt x="674370" y="0"/>
                  </a:lnTo>
                  <a:close/>
                </a:path>
              </a:pathLst>
            </a:custGeom>
            <a:solidFill>
              <a:srgbClr val="4804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11032" y="1406874"/>
              <a:ext cx="84970" cy="8969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85596" y="1061084"/>
            <a:ext cx="6177280" cy="4445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D5E4EE"/>
                </a:solidFill>
                <a:latin typeface="Yu Gothic UI"/>
                <a:cs typeface="Yu Gothic UI"/>
              </a:rPr>
              <a:t>Three</a:t>
            </a:r>
            <a:r>
              <a:rPr dirty="0" sz="1100" spc="-6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100" spc="-10" b="1">
                <a:solidFill>
                  <a:srgbClr val="D5E4EE"/>
                </a:solidFill>
                <a:latin typeface="Yu Gothic UI"/>
                <a:cs typeface="Yu Gothic UI"/>
              </a:rPr>
              <a:t>revenue</a:t>
            </a:r>
            <a:r>
              <a:rPr dirty="0" sz="1100" spc="-70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100" b="1">
                <a:solidFill>
                  <a:srgbClr val="D5E4EE"/>
                </a:solidFill>
                <a:latin typeface="Yu Gothic UI"/>
                <a:cs typeface="Yu Gothic UI"/>
              </a:rPr>
              <a:t>streams.</a:t>
            </a:r>
            <a:r>
              <a:rPr dirty="0" sz="1100" spc="-80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100" b="1">
                <a:solidFill>
                  <a:srgbClr val="D5E4EE"/>
                </a:solidFill>
                <a:latin typeface="Yu Gothic UI"/>
                <a:cs typeface="Yu Gothic UI"/>
              </a:rPr>
              <a:t>Retail</a:t>
            </a:r>
            <a:r>
              <a:rPr dirty="0" sz="1100" spc="-4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100" b="1">
                <a:solidFill>
                  <a:srgbClr val="D5E4EE"/>
                </a:solidFill>
                <a:latin typeface="Yu Gothic UI"/>
                <a:cs typeface="Yu Gothic UI"/>
              </a:rPr>
              <a:t>today.</a:t>
            </a:r>
            <a:r>
              <a:rPr dirty="0" sz="1100" spc="-50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100" spc="-85" b="1">
                <a:solidFill>
                  <a:srgbClr val="D5E4EE"/>
                </a:solidFill>
                <a:latin typeface="Yu Gothic UI"/>
                <a:cs typeface="Yu Gothic UI"/>
              </a:rPr>
              <a:t>OEM</a:t>
            </a:r>
            <a:r>
              <a:rPr dirty="0" sz="1100" spc="-5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100" spc="-20" b="1">
                <a:solidFill>
                  <a:srgbClr val="D5E4EE"/>
                </a:solidFill>
                <a:latin typeface="Yu Gothic UI"/>
                <a:cs typeface="Yu Gothic UI"/>
              </a:rPr>
              <a:t>and</a:t>
            </a:r>
            <a:r>
              <a:rPr dirty="0" sz="1100" spc="-70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100" spc="-10" b="1">
                <a:solidFill>
                  <a:srgbClr val="D5E4EE"/>
                </a:solidFill>
                <a:latin typeface="Yu Gothic UI"/>
                <a:cs typeface="Yu Gothic UI"/>
              </a:rPr>
              <a:t>insurance</a:t>
            </a:r>
            <a:r>
              <a:rPr dirty="0" sz="1100" spc="-80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100" spc="-10" b="1">
                <a:solidFill>
                  <a:srgbClr val="D5E4EE"/>
                </a:solidFill>
                <a:latin typeface="Yu Gothic UI"/>
                <a:cs typeface="Yu Gothic UI"/>
              </a:rPr>
              <a:t>tomorrow.</a:t>
            </a:r>
            <a:endParaRPr sz="1100">
              <a:latin typeface="Yu Gothic UI"/>
              <a:cs typeface="Yu Gothic UI"/>
            </a:endParaRPr>
          </a:p>
          <a:p>
            <a:pPr marL="213995">
              <a:lnSpc>
                <a:spcPct val="100000"/>
              </a:lnSpc>
              <a:spcBef>
                <a:spcPts val="1135"/>
              </a:spcBef>
              <a:tabLst>
                <a:tab pos="5755640" algn="l"/>
              </a:tabLst>
            </a:pPr>
            <a:r>
              <a:rPr dirty="0" sz="700" spc="20">
                <a:solidFill>
                  <a:srgbClr val="D5E4EE"/>
                </a:solidFill>
                <a:latin typeface="SimSun-ExtB"/>
                <a:cs typeface="SimSun-ExtB"/>
              </a:rPr>
              <a:t>REVENUE</a:t>
            </a:r>
            <a:r>
              <a:rPr dirty="0" sz="700" spc="-5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700" spc="-10">
                <a:solidFill>
                  <a:srgbClr val="D5E4EE"/>
                </a:solidFill>
                <a:latin typeface="SimSun-ExtB"/>
                <a:cs typeface="SimSun-ExtB"/>
              </a:rPr>
              <a:t>STREAMS</a:t>
            </a:r>
            <a:r>
              <a:rPr dirty="0" sz="700">
                <a:solidFill>
                  <a:srgbClr val="D5E4EE"/>
                </a:solidFill>
                <a:latin typeface="SimSun-ExtB"/>
                <a:cs typeface="SimSun-ExtB"/>
              </a:rPr>
              <a:t>	</a:t>
            </a:r>
            <a:r>
              <a:rPr dirty="0" sz="700" spc="35">
                <a:solidFill>
                  <a:srgbClr val="D5E4EE"/>
                </a:solidFill>
                <a:latin typeface="SimSun-ExtB"/>
                <a:cs typeface="SimSun-ExtB"/>
              </a:rPr>
              <a:t>CHANNELS</a:t>
            </a:r>
            <a:endParaRPr sz="700">
              <a:latin typeface="SimSun-ExtB"/>
              <a:cs typeface="SimSun-ExtB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98080" y="3729735"/>
            <a:ext cx="934085" cy="170815"/>
            <a:chOff x="698080" y="3729735"/>
            <a:chExt cx="934085" cy="170815"/>
          </a:xfrm>
        </p:grpSpPr>
        <p:sp>
          <p:nvSpPr>
            <p:cNvPr id="30" name="object 30"/>
            <p:cNvSpPr/>
            <p:nvPr/>
          </p:nvSpPr>
          <p:spPr>
            <a:xfrm>
              <a:off x="698080" y="3729735"/>
              <a:ext cx="934085" cy="170815"/>
            </a:xfrm>
            <a:custGeom>
              <a:avLst/>
              <a:gdLst/>
              <a:ahLst/>
              <a:cxnLst/>
              <a:rect l="l" t="t" r="r" b="b"/>
              <a:pathLst>
                <a:path w="934085" h="170814">
                  <a:moveTo>
                    <a:pt x="927392" y="0"/>
                  </a:moveTo>
                  <a:lnTo>
                    <a:pt x="6032" y="0"/>
                  </a:lnTo>
                  <a:lnTo>
                    <a:pt x="0" y="5968"/>
                  </a:lnTo>
                  <a:lnTo>
                    <a:pt x="0" y="13462"/>
                  </a:lnTo>
                  <a:lnTo>
                    <a:pt x="0" y="164464"/>
                  </a:lnTo>
                  <a:lnTo>
                    <a:pt x="6032" y="170433"/>
                  </a:lnTo>
                  <a:lnTo>
                    <a:pt x="927392" y="170433"/>
                  </a:lnTo>
                  <a:lnTo>
                    <a:pt x="933488" y="164464"/>
                  </a:lnTo>
                  <a:lnTo>
                    <a:pt x="933488" y="5968"/>
                  </a:lnTo>
                  <a:lnTo>
                    <a:pt x="927392" y="0"/>
                  </a:lnTo>
                  <a:close/>
                </a:path>
              </a:pathLst>
            </a:custGeom>
            <a:solidFill>
              <a:srgbClr val="4804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5352" y="3774810"/>
              <a:ext cx="89691" cy="84973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91108" y="3719178"/>
            <a:ext cx="5575300" cy="93980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08610">
              <a:lnSpc>
                <a:spcPct val="100000"/>
              </a:lnSpc>
              <a:spcBef>
                <a:spcPts val="240"/>
              </a:spcBef>
            </a:pPr>
            <a:r>
              <a:rPr dirty="0" sz="700">
                <a:solidFill>
                  <a:srgbClr val="D5E4EE"/>
                </a:solidFill>
                <a:latin typeface="SimSun-ExtB"/>
                <a:cs typeface="SimSun-ExtB"/>
              </a:rPr>
              <a:t>UNIT</a:t>
            </a:r>
            <a:r>
              <a:rPr dirty="0" sz="700" spc="-17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700" spc="35">
                <a:solidFill>
                  <a:srgbClr val="D5E4EE"/>
                </a:solidFill>
                <a:latin typeface="SimSun-ExtB"/>
                <a:cs typeface="SimSun-ExtB"/>
              </a:rPr>
              <a:t>ECONOMICS</a:t>
            </a:r>
            <a:endParaRPr sz="700">
              <a:latin typeface="SimSun-ExtB"/>
              <a:cs typeface="SimSun-ExtB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2900">
                <a:solidFill>
                  <a:srgbClr val="D5E4EE"/>
                </a:solidFill>
                <a:latin typeface="Georgia"/>
                <a:cs typeface="Georgia"/>
              </a:rPr>
              <a:t>Rs.</a:t>
            </a:r>
            <a:r>
              <a:rPr dirty="0" sz="2900" spc="-7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2900">
                <a:solidFill>
                  <a:srgbClr val="D5E4EE"/>
                </a:solidFill>
                <a:latin typeface="Georgia"/>
                <a:cs typeface="Georgia"/>
              </a:rPr>
              <a:t>2499 </a:t>
            </a:r>
            <a:r>
              <a:rPr dirty="0" sz="2900" spc="-340">
                <a:solidFill>
                  <a:srgbClr val="D5E4EE"/>
                </a:solidFill>
                <a:latin typeface="Georgia"/>
                <a:cs typeface="Georgia"/>
              </a:rPr>
              <a:t>+</a:t>
            </a:r>
            <a:r>
              <a:rPr dirty="0" sz="2900" spc="70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2900">
                <a:solidFill>
                  <a:srgbClr val="D5E4EE"/>
                </a:solidFill>
                <a:latin typeface="Georgia"/>
                <a:cs typeface="Georgia"/>
              </a:rPr>
              <a:t>Rs.</a:t>
            </a:r>
            <a:r>
              <a:rPr dirty="0" sz="2900" spc="-1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2900">
                <a:solidFill>
                  <a:srgbClr val="D5E4EE"/>
                </a:solidFill>
                <a:latin typeface="Georgia"/>
                <a:cs typeface="Georgia"/>
              </a:rPr>
              <a:t>1188/yr</a:t>
            </a:r>
            <a:r>
              <a:rPr dirty="0" sz="2900" spc="-4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2900" spc="-340">
                <a:solidFill>
                  <a:srgbClr val="D5E4EE"/>
                </a:solidFill>
                <a:latin typeface="Georgia"/>
                <a:cs typeface="Georgia"/>
              </a:rPr>
              <a:t>=</a:t>
            </a:r>
            <a:r>
              <a:rPr dirty="0" sz="2900" spc="5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2900">
                <a:solidFill>
                  <a:srgbClr val="D5E4EE"/>
                </a:solidFill>
                <a:latin typeface="Georgia"/>
                <a:cs typeface="Georgia"/>
              </a:rPr>
              <a:t>Rs. </a:t>
            </a:r>
            <a:r>
              <a:rPr dirty="0" sz="2900" spc="-20">
                <a:solidFill>
                  <a:srgbClr val="D5E4EE"/>
                </a:solidFill>
                <a:latin typeface="Georgia"/>
                <a:cs typeface="Georgia"/>
              </a:rPr>
              <a:t>3687</a:t>
            </a:r>
            <a:endParaRPr sz="29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920"/>
              </a:spcBef>
            </a:pPr>
            <a:r>
              <a:rPr dirty="0" sz="1000" spc="-20">
                <a:solidFill>
                  <a:srgbClr val="D5E4EE"/>
                </a:solidFill>
                <a:latin typeface="Georgia"/>
                <a:cs typeface="Georgia"/>
              </a:rPr>
              <a:t>ARPU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07020" y="3921963"/>
            <a:ext cx="2818765" cy="737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900">
                <a:solidFill>
                  <a:srgbClr val="D5E4EE"/>
                </a:solidFill>
                <a:latin typeface="Georgia"/>
                <a:cs typeface="Georgia"/>
              </a:rPr>
              <a:t>46%</a:t>
            </a:r>
            <a:r>
              <a:rPr dirty="0" sz="2900" spc="-1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2900" spc="-380">
                <a:solidFill>
                  <a:srgbClr val="D5E4EE"/>
                </a:solidFill>
                <a:latin typeface="Georgia"/>
                <a:cs typeface="Georgia"/>
              </a:rPr>
              <a:t>@</a:t>
            </a:r>
            <a:r>
              <a:rPr dirty="0" sz="2900" spc="6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2900" spc="-10">
                <a:solidFill>
                  <a:srgbClr val="D5E4EE"/>
                </a:solidFill>
                <a:latin typeface="Georgia"/>
                <a:cs typeface="Georgia"/>
              </a:rPr>
              <a:t>10K</a:t>
            </a:r>
            <a:r>
              <a:rPr dirty="0" sz="2900" spc="2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2900" spc="40">
                <a:solidFill>
                  <a:srgbClr val="D5E4EE"/>
                </a:solidFill>
                <a:latin typeface="Georgia"/>
                <a:cs typeface="Georgia"/>
              </a:rPr>
              <a:t>units</a:t>
            </a:r>
            <a:endParaRPr sz="29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915"/>
              </a:spcBef>
            </a:pPr>
            <a:r>
              <a:rPr dirty="0" sz="1000">
                <a:solidFill>
                  <a:srgbClr val="D5E4EE"/>
                </a:solidFill>
                <a:latin typeface="Georgia"/>
                <a:cs typeface="Georgia"/>
              </a:rPr>
              <a:t>Gross</a:t>
            </a:r>
            <a:r>
              <a:rPr dirty="0" sz="1000" spc="16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D5E4EE"/>
                </a:solidFill>
                <a:latin typeface="Georgia"/>
                <a:cs typeface="Georgia"/>
              </a:rPr>
              <a:t>Margin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12491" y="4921072"/>
            <a:ext cx="927735" cy="9175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05"/>
              </a:spcBef>
            </a:pPr>
            <a:r>
              <a:rPr dirty="0" sz="2900" spc="-20">
                <a:solidFill>
                  <a:srgbClr val="D5E4EE"/>
                </a:solidFill>
                <a:latin typeface="Georgia"/>
                <a:cs typeface="Georgia"/>
              </a:rPr>
              <a:t>12mo</a:t>
            </a:r>
            <a:endParaRPr sz="29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915"/>
              </a:spcBef>
            </a:pPr>
            <a:r>
              <a:rPr dirty="0" sz="1000">
                <a:solidFill>
                  <a:srgbClr val="D5E4EE"/>
                </a:solidFill>
                <a:latin typeface="Georgia"/>
                <a:cs typeface="Georgia"/>
              </a:rPr>
              <a:t>Payback</a:t>
            </a:r>
            <a:r>
              <a:rPr dirty="0" sz="1000" spc="16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D5E4EE"/>
                </a:solidFill>
                <a:latin typeface="Georgia"/>
                <a:cs typeface="Georgia"/>
              </a:rPr>
              <a:t>Period</a:t>
            </a:r>
            <a:endParaRPr sz="1000">
              <a:latin typeface="Georgia"/>
              <a:cs typeface="Georgia"/>
            </a:endParaRPr>
          </a:p>
          <a:p>
            <a:pPr algn="ctr" marL="1905">
              <a:lnSpc>
                <a:spcPct val="100000"/>
              </a:lnSpc>
              <a:spcBef>
                <a:spcPts val="405"/>
              </a:spcBef>
            </a:pPr>
            <a:r>
              <a:rPr dirty="0" sz="850" spc="-40">
                <a:solidFill>
                  <a:srgbClr val="D5E4EE"/>
                </a:solidFill>
                <a:latin typeface="SimSun-ExtB"/>
                <a:cs typeface="SimSun-ExtB"/>
              </a:rPr>
              <a:t>Per</a:t>
            </a:r>
            <a:r>
              <a:rPr dirty="0" sz="850" spc="-2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SimSun-ExtB"/>
                <a:cs typeface="SimSun-ExtB"/>
              </a:rPr>
              <a:t>rider</a:t>
            </a:r>
            <a:endParaRPr sz="850">
              <a:latin typeface="SimSun-ExtB"/>
              <a:cs typeface="SimSun-ExtB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348853" y="4921072"/>
            <a:ext cx="934719" cy="9175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 spc="-20">
                <a:solidFill>
                  <a:srgbClr val="D5E4EE"/>
                </a:solidFill>
                <a:latin typeface="Georgia"/>
                <a:cs typeface="Georgia"/>
              </a:rPr>
              <a:t>400K</a:t>
            </a:r>
            <a:endParaRPr sz="2900">
              <a:latin typeface="Georgia"/>
              <a:cs typeface="Georgia"/>
            </a:endParaRPr>
          </a:p>
          <a:p>
            <a:pPr marL="67310">
              <a:lnSpc>
                <a:spcPct val="100000"/>
              </a:lnSpc>
              <a:spcBef>
                <a:spcPts val="915"/>
              </a:spcBef>
            </a:pPr>
            <a:r>
              <a:rPr dirty="0" sz="1000">
                <a:solidFill>
                  <a:srgbClr val="D5E4EE"/>
                </a:solidFill>
                <a:latin typeface="Georgia"/>
                <a:cs typeface="Georgia"/>
              </a:rPr>
              <a:t>Year</a:t>
            </a:r>
            <a:r>
              <a:rPr dirty="0" sz="1000" spc="7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D5E4EE"/>
                </a:solidFill>
                <a:latin typeface="Georgia"/>
                <a:cs typeface="Georgia"/>
              </a:rPr>
              <a:t>3</a:t>
            </a:r>
            <a:r>
              <a:rPr dirty="0" sz="1000" spc="8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D5E4EE"/>
                </a:solidFill>
                <a:latin typeface="Georgia"/>
                <a:cs typeface="Georgia"/>
              </a:rPr>
              <a:t>Target</a:t>
            </a:r>
            <a:endParaRPr sz="1000">
              <a:latin typeface="Georgia"/>
              <a:cs typeface="Georgia"/>
            </a:endParaRPr>
          </a:p>
          <a:p>
            <a:pPr marL="71755">
              <a:lnSpc>
                <a:spcPct val="100000"/>
              </a:lnSpc>
              <a:spcBef>
                <a:spcPts val="405"/>
              </a:spcBef>
            </a:pPr>
            <a:r>
              <a:rPr dirty="0" sz="850" spc="-50">
                <a:solidFill>
                  <a:srgbClr val="D5E4EE"/>
                </a:solidFill>
                <a:latin typeface="SimSun-ExtB"/>
                <a:cs typeface="SimSun-ExtB"/>
              </a:rPr>
              <a:t>Devices</a:t>
            </a:r>
            <a:r>
              <a:rPr dirty="0" sz="850" spc="-18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SimSun-ExtB"/>
                <a:cs typeface="SimSun-ExtB"/>
              </a:rPr>
              <a:t>deployed</a:t>
            </a:r>
            <a:endParaRPr sz="850">
              <a:latin typeface="SimSun-ExtB"/>
              <a:cs typeface="SimSun-ExtB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8469" y="6340855"/>
            <a:ext cx="530098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 b="1">
                <a:solidFill>
                  <a:srgbClr val="FFFFFF"/>
                </a:solidFill>
                <a:latin typeface="Yu Gothic UI"/>
                <a:cs typeface="Yu Gothic UI"/>
              </a:rPr>
              <a:t>Year</a:t>
            </a:r>
            <a:r>
              <a:rPr dirty="0" sz="1050" spc="-65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050" spc="-45" b="1">
                <a:solidFill>
                  <a:srgbClr val="FFFFFF"/>
                </a:solidFill>
                <a:latin typeface="Yu Gothic UI"/>
                <a:cs typeface="Yu Gothic UI"/>
              </a:rPr>
              <a:t>3</a:t>
            </a:r>
            <a:r>
              <a:rPr dirty="0" sz="1050" spc="-70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050" b="1">
                <a:solidFill>
                  <a:srgbClr val="FFFFFF"/>
                </a:solidFill>
                <a:latin typeface="Yu Gothic UI"/>
                <a:cs typeface="Yu Gothic UI"/>
              </a:rPr>
              <a:t>target:</a:t>
            </a:r>
            <a:r>
              <a:rPr dirty="0" sz="1050" spc="-95" b="1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dirty="0" sz="1050" spc="-45">
                <a:solidFill>
                  <a:srgbClr val="FFFFFF"/>
                </a:solidFill>
                <a:latin typeface="SimSun-ExtB"/>
                <a:cs typeface="SimSun-ExtB"/>
              </a:rPr>
              <a:t>400,000</a:t>
            </a:r>
            <a:r>
              <a:rPr dirty="0" sz="1050" spc="-29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050" spc="-60">
                <a:solidFill>
                  <a:srgbClr val="FFFFFF"/>
                </a:solidFill>
                <a:latin typeface="SimSun-ExtB"/>
                <a:cs typeface="SimSun-ExtB"/>
              </a:rPr>
              <a:t>devices</a:t>
            </a:r>
            <a:r>
              <a:rPr dirty="0" sz="1050" spc="-32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SimSun-ExtB"/>
                <a:cs typeface="SimSun-ExtB"/>
              </a:rPr>
              <a:t>deployed</a:t>
            </a:r>
            <a:r>
              <a:rPr dirty="0" sz="1050" spc="-29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050" spc="-735">
                <a:solidFill>
                  <a:srgbClr val="FFFFFF"/>
                </a:solidFill>
                <a:latin typeface="SimSun-ExtB"/>
                <a:cs typeface="SimSun-ExtB"/>
              </a:rPr>
              <a:t>•</a:t>
            </a:r>
            <a:r>
              <a:rPr dirty="0" sz="1050" spc="-27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050" spc="-10" b="1">
                <a:solidFill>
                  <a:srgbClr val="FF6B35"/>
                </a:solidFill>
                <a:latin typeface="Yu Gothic UI"/>
                <a:cs typeface="Yu Gothic UI"/>
              </a:rPr>
              <a:t>$148</a:t>
            </a:r>
            <a:r>
              <a:rPr dirty="0" sz="1050" spc="-70" b="1">
                <a:solidFill>
                  <a:srgbClr val="FF6B35"/>
                </a:solidFill>
                <a:latin typeface="Yu Gothic UI"/>
                <a:cs typeface="Yu Gothic UI"/>
              </a:rPr>
              <a:t> </a:t>
            </a:r>
            <a:r>
              <a:rPr dirty="0" sz="1050" spc="-25" b="1">
                <a:solidFill>
                  <a:srgbClr val="FF6B35"/>
                </a:solidFill>
                <a:latin typeface="Yu Gothic UI"/>
                <a:cs typeface="Yu Gothic UI"/>
              </a:rPr>
              <a:t>CR</a:t>
            </a:r>
            <a:r>
              <a:rPr dirty="0" sz="1050" spc="-75" b="1">
                <a:solidFill>
                  <a:srgbClr val="FF6B35"/>
                </a:solidFill>
                <a:latin typeface="Yu Gothic UI"/>
                <a:cs typeface="Yu Gothic UI"/>
              </a:rPr>
              <a:t> </a:t>
            </a:r>
            <a:r>
              <a:rPr dirty="0" sz="1050" spc="-10" b="1">
                <a:solidFill>
                  <a:srgbClr val="FF6B35"/>
                </a:solidFill>
                <a:latin typeface="Yu Gothic UI"/>
                <a:cs typeface="Yu Gothic UI"/>
              </a:rPr>
              <a:t>revenue</a:t>
            </a:r>
            <a:r>
              <a:rPr dirty="0" sz="1050" spc="-60" b="1">
                <a:solidFill>
                  <a:srgbClr val="FF6B35"/>
                </a:solidFill>
                <a:latin typeface="Yu Gothic UI"/>
                <a:cs typeface="Yu Gothic UI"/>
              </a:rPr>
              <a:t> </a:t>
            </a:r>
            <a:r>
              <a:rPr dirty="0" sz="1050" b="1">
                <a:solidFill>
                  <a:srgbClr val="FF6B35"/>
                </a:solidFill>
                <a:latin typeface="Yu Gothic UI"/>
                <a:cs typeface="Yu Gothic UI"/>
              </a:rPr>
              <a:t>run</a:t>
            </a:r>
            <a:r>
              <a:rPr dirty="0" sz="1050" spc="-65" b="1">
                <a:solidFill>
                  <a:srgbClr val="FF6B35"/>
                </a:solidFill>
                <a:latin typeface="Yu Gothic UI"/>
                <a:cs typeface="Yu Gothic UI"/>
              </a:rPr>
              <a:t> </a:t>
            </a:r>
            <a:r>
              <a:rPr dirty="0" sz="1050" b="1">
                <a:solidFill>
                  <a:srgbClr val="FF6B35"/>
                </a:solidFill>
                <a:latin typeface="Yu Gothic UI"/>
                <a:cs typeface="Yu Gothic UI"/>
              </a:rPr>
              <a:t>rate</a:t>
            </a:r>
            <a:r>
              <a:rPr dirty="0" sz="1050" spc="-65" b="1">
                <a:solidFill>
                  <a:srgbClr val="FF6B35"/>
                </a:solidFill>
                <a:latin typeface="Yu Gothic UI"/>
                <a:cs typeface="Yu Gothic UI"/>
              </a:rPr>
              <a:t> </a:t>
            </a:r>
            <a:r>
              <a:rPr dirty="0" sz="1050" spc="-735">
                <a:solidFill>
                  <a:srgbClr val="FFFFFF"/>
                </a:solidFill>
                <a:latin typeface="SimSun-ExtB"/>
                <a:cs typeface="SimSun-ExtB"/>
              </a:rPr>
              <a:t>•</a:t>
            </a:r>
            <a:r>
              <a:rPr dirty="0" sz="1050" spc="-28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050" spc="-50">
                <a:solidFill>
                  <a:srgbClr val="FFFFFF"/>
                </a:solidFill>
                <a:latin typeface="SimSun-ExtB"/>
                <a:cs typeface="SimSun-ExtB"/>
              </a:rPr>
              <a:t>Break-</a:t>
            </a:r>
            <a:r>
              <a:rPr dirty="0" sz="1050">
                <a:solidFill>
                  <a:srgbClr val="FFFFFF"/>
                </a:solidFill>
                <a:latin typeface="SimSun-ExtB"/>
                <a:cs typeface="SimSun-ExtB"/>
              </a:rPr>
              <a:t>even</a:t>
            </a:r>
            <a:r>
              <a:rPr dirty="0" sz="1050" spc="-34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050">
                <a:solidFill>
                  <a:srgbClr val="FFFFFF"/>
                </a:solidFill>
                <a:latin typeface="SimSun-ExtB"/>
                <a:cs typeface="SimSun-ExtB"/>
              </a:rPr>
              <a:t>by</a:t>
            </a:r>
            <a:r>
              <a:rPr dirty="0" sz="1050" spc="-31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050" spc="60">
                <a:solidFill>
                  <a:srgbClr val="FFFFFF"/>
                </a:solidFill>
                <a:latin typeface="SimSun-ExtB"/>
                <a:cs typeface="SimSun-ExtB"/>
              </a:rPr>
              <a:t>month</a:t>
            </a:r>
            <a:r>
              <a:rPr dirty="0" sz="1050" spc="-29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SimSun-ExtB"/>
                <a:cs typeface="SimSun-ExtB"/>
              </a:rPr>
              <a:t>22</a:t>
            </a:r>
            <a:endParaRPr sz="1050">
              <a:latin typeface="SimSun-ExtB"/>
              <a:cs typeface="SimSun-ExtB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224858" y="1585371"/>
            <a:ext cx="3392170" cy="656590"/>
            <a:chOff x="6224858" y="1585371"/>
            <a:chExt cx="3392170" cy="656590"/>
          </a:xfrm>
        </p:grpSpPr>
        <p:sp>
          <p:nvSpPr>
            <p:cNvPr id="38" name="object 38"/>
            <p:cNvSpPr/>
            <p:nvPr/>
          </p:nvSpPr>
          <p:spPr>
            <a:xfrm>
              <a:off x="6237514" y="1597871"/>
              <a:ext cx="3366770" cy="631825"/>
            </a:xfrm>
            <a:custGeom>
              <a:avLst/>
              <a:gdLst/>
              <a:ahLst/>
              <a:cxnLst/>
              <a:rect l="l" t="t" r="r" b="b"/>
              <a:pathLst>
                <a:path w="3366770" h="631825">
                  <a:moveTo>
                    <a:pt x="3359982" y="0"/>
                  </a:moveTo>
                  <a:lnTo>
                    <a:pt x="50622" y="0"/>
                  </a:lnTo>
                  <a:lnTo>
                    <a:pt x="14827" y="14648"/>
                  </a:lnTo>
                  <a:lnTo>
                    <a:pt x="0" y="50001"/>
                  </a:lnTo>
                  <a:lnTo>
                    <a:pt x="0" y="581254"/>
                  </a:lnTo>
                  <a:lnTo>
                    <a:pt x="14827" y="616611"/>
                  </a:lnTo>
                  <a:lnTo>
                    <a:pt x="50623" y="631256"/>
                  </a:lnTo>
                  <a:lnTo>
                    <a:pt x="3359983" y="631256"/>
                  </a:lnTo>
                  <a:lnTo>
                    <a:pt x="3366416" y="624903"/>
                  </a:lnTo>
                  <a:lnTo>
                    <a:pt x="3366415" y="6354"/>
                  </a:lnTo>
                  <a:lnTo>
                    <a:pt x="3359982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237514" y="1597871"/>
              <a:ext cx="3366770" cy="631825"/>
            </a:xfrm>
            <a:custGeom>
              <a:avLst/>
              <a:gdLst/>
              <a:ahLst/>
              <a:cxnLst/>
              <a:rect l="l" t="t" r="r" b="b"/>
              <a:pathLst>
                <a:path w="3366770" h="631825">
                  <a:moveTo>
                    <a:pt x="30963" y="4016"/>
                  </a:moveTo>
                  <a:lnTo>
                    <a:pt x="31261" y="3861"/>
                  </a:lnTo>
                </a:path>
                <a:path w="3366770" h="631825">
                  <a:moveTo>
                    <a:pt x="50622" y="0"/>
                  </a:moveTo>
                  <a:lnTo>
                    <a:pt x="3352072" y="0"/>
                  </a:lnTo>
                </a:path>
                <a:path w="3366770" h="631825">
                  <a:moveTo>
                    <a:pt x="3366415" y="14166"/>
                  </a:moveTo>
                  <a:lnTo>
                    <a:pt x="3366416" y="617067"/>
                  </a:lnTo>
                </a:path>
                <a:path w="3366770" h="631825">
                  <a:moveTo>
                    <a:pt x="3352073" y="631256"/>
                  </a:moveTo>
                  <a:lnTo>
                    <a:pt x="50623" y="631255"/>
                  </a:lnTo>
                </a:path>
                <a:path w="3366770" h="631825">
                  <a:moveTo>
                    <a:pt x="0" y="581254"/>
                  </a:moveTo>
                  <a:lnTo>
                    <a:pt x="0" y="50000"/>
                  </a:lnTo>
                </a:path>
                <a:path w="3366770" h="631825">
                  <a:moveTo>
                    <a:pt x="3912" y="30865"/>
                  </a:moveTo>
                  <a:lnTo>
                    <a:pt x="4011" y="30560"/>
                  </a:lnTo>
                </a:path>
              </a:pathLst>
            </a:custGeom>
            <a:ln w="25155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37514" y="1597408"/>
              <a:ext cx="50623" cy="632338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288137" y="1608557"/>
            <a:ext cx="3303270" cy="49339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825"/>
              </a:spcBef>
            </a:pPr>
            <a:r>
              <a:rPr dirty="0" sz="1050">
                <a:solidFill>
                  <a:srgbClr val="D5E4EE"/>
                </a:solidFill>
                <a:latin typeface="Georgia"/>
                <a:cs typeface="Georgia"/>
              </a:rPr>
              <a:t>Dealership</a:t>
            </a:r>
            <a:r>
              <a:rPr dirty="0" sz="1050" spc="17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050" spc="-10">
                <a:solidFill>
                  <a:srgbClr val="D5E4EE"/>
                </a:solidFill>
                <a:latin typeface="Georgia"/>
                <a:cs typeface="Georgia"/>
              </a:rPr>
              <a:t>Retrofit</a:t>
            </a:r>
            <a:endParaRPr sz="1050">
              <a:latin typeface="Georgia"/>
              <a:cs typeface="Georgia"/>
            </a:endParaRPr>
          </a:p>
          <a:p>
            <a:pPr marL="124460">
              <a:lnSpc>
                <a:spcPct val="100000"/>
              </a:lnSpc>
              <a:spcBef>
                <a:spcPts val="615"/>
              </a:spcBef>
            </a:pPr>
            <a:r>
              <a:rPr dirty="0" sz="900" spc="-105">
                <a:solidFill>
                  <a:srgbClr val="D5E4EE"/>
                </a:solidFill>
                <a:latin typeface="SimSun-ExtB"/>
                <a:cs typeface="SimSun-ExtB"/>
              </a:rPr>
              <a:t>Bajaj,</a:t>
            </a:r>
            <a:r>
              <a:rPr dirty="0" sz="900" spc="-26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 spc="-50">
                <a:solidFill>
                  <a:srgbClr val="D5E4EE"/>
                </a:solidFill>
                <a:latin typeface="SimSun-ExtB"/>
                <a:cs typeface="SimSun-ExtB"/>
              </a:rPr>
              <a:t>Hero,</a:t>
            </a:r>
            <a:r>
              <a:rPr dirty="0" sz="900" spc="-229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>
                <a:solidFill>
                  <a:srgbClr val="D5E4EE"/>
                </a:solidFill>
                <a:latin typeface="SimSun-ExtB"/>
                <a:cs typeface="SimSun-ExtB"/>
              </a:rPr>
              <a:t>TVS</a:t>
            </a:r>
            <a:r>
              <a:rPr dirty="0" sz="900" spc="-2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 spc="-70">
                <a:solidFill>
                  <a:srgbClr val="D5E4EE"/>
                </a:solidFill>
                <a:latin typeface="SimSun-ExtB"/>
                <a:cs typeface="SimSun-ExtB"/>
              </a:rPr>
              <a:t>Service</a:t>
            </a:r>
            <a:r>
              <a:rPr dirty="0" sz="900" spc="-1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 spc="-10">
                <a:solidFill>
                  <a:srgbClr val="D5E4EE"/>
                </a:solidFill>
                <a:latin typeface="SimSun-ExtB"/>
                <a:cs typeface="SimSun-ExtB"/>
              </a:rPr>
              <a:t>Network</a:t>
            </a:r>
            <a:endParaRPr sz="900">
              <a:latin typeface="SimSun-ExtB"/>
              <a:cs typeface="SimSun-ExtB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224858" y="2289459"/>
            <a:ext cx="3392170" cy="656590"/>
            <a:chOff x="6224858" y="2289459"/>
            <a:chExt cx="3392170" cy="656590"/>
          </a:xfrm>
        </p:grpSpPr>
        <p:sp>
          <p:nvSpPr>
            <p:cNvPr id="43" name="object 43"/>
            <p:cNvSpPr/>
            <p:nvPr/>
          </p:nvSpPr>
          <p:spPr>
            <a:xfrm>
              <a:off x="6237514" y="2301959"/>
              <a:ext cx="3366770" cy="631825"/>
            </a:xfrm>
            <a:custGeom>
              <a:avLst/>
              <a:gdLst/>
              <a:ahLst/>
              <a:cxnLst/>
              <a:rect l="l" t="t" r="r" b="b"/>
              <a:pathLst>
                <a:path w="3366770" h="631825">
                  <a:moveTo>
                    <a:pt x="3359982" y="0"/>
                  </a:moveTo>
                  <a:lnTo>
                    <a:pt x="50622" y="0"/>
                  </a:lnTo>
                  <a:lnTo>
                    <a:pt x="14827" y="14648"/>
                  </a:lnTo>
                  <a:lnTo>
                    <a:pt x="0" y="50001"/>
                  </a:lnTo>
                  <a:lnTo>
                    <a:pt x="0" y="581254"/>
                  </a:lnTo>
                  <a:lnTo>
                    <a:pt x="14827" y="616611"/>
                  </a:lnTo>
                  <a:lnTo>
                    <a:pt x="50623" y="631256"/>
                  </a:lnTo>
                  <a:lnTo>
                    <a:pt x="3359983" y="631256"/>
                  </a:lnTo>
                  <a:lnTo>
                    <a:pt x="3366416" y="624903"/>
                  </a:lnTo>
                  <a:lnTo>
                    <a:pt x="3366415" y="6354"/>
                  </a:lnTo>
                  <a:lnTo>
                    <a:pt x="3359982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237514" y="2301959"/>
              <a:ext cx="3366770" cy="631825"/>
            </a:xfrm>
            <a:custGeom>
              <a:avLst/>
              <a:gdLst/>
              <a:ahLst/>
              <a:cxnLst/>
              <a:rect l="l" t="t" r="r" b="b"/>
              <a:pathLst>
                <a:path w="3366770" h="631825">
                  <a:moveTo>
                    <a:pt x="30963" y="4016"/>
                  </a:moveTo>
                  <a:lnTo>
                    <a:pt x="31261" y="3861"/>
                  </a:lnTo>
                </a:path>
                <a:path w="3366770" h="631825">
                  <a:moveTo>
                    <a:pt x="50622" y="0"/>
                  </a:moveTo>
                  <a:lnTo>
                    <a:pt x="3352072" y="0"/>
                  </a:lnTo>
                </a:path>
                <a:path w="3366770" h="631825">
                  <a:moveTo>
                    <a:pt x="3366415" y="14166"/>
                  </a:moveTo>
                  <a:lnTo>
                    <a:pt x="3366416" y="617067"/>
                  </a:lnTo>
                </a:path>
                <a:path w="3366770" h="631825">
                  <a:moveTo>
                    <a:pt x="3352073" y="631256"/>
                  </a:moveTo>
                  <a:lnTo>
                    <a:pt x="50623" y="631255"/>
                  </a:lnTo>
                </a:path>
                <a:path w="3366770" h="631825">
                  <a:moveTo>
                    <a:pt x="0" y="581254"/>
                  </a:moveTo>
                  <a:lnTo>
                    <a:pt x="0" y="50000"/>
                  </a:lnTo>
                </a:path>
                <a:path w="3366770" h="631825">
                  <a:moveTo>
                    <a:pt x="3912" y="30865"/>
                  </a:moveTo>
                  <a:lnTo>
                    <a:pt x="4011" y="30560"/>
                  </a:lnTo>
                </a:path>
              </a:pathLst>
            </a:custGeom>
            <a:ln w="25155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37514" y="2301496"/>
              <a:ext cx="50623" cy="632338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6288137" y="2311755"/>
            <a:ext cx="3303270" cy="49466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830"/>
              </a:spcBef>
            </a:pPr>
            <a:r>
              <a:rPr dirty="0" sz="1050">
                <a:solidFill>
                  <a:srgbClr val="D5E4EE"/>
                </a:solidFill>
                <a:latin typeface="Georgia"/>
                <a:cs typeface="Georgia"/>
              </a:rPr>
              <a:t>OEM</a:t>
            </a:r>
            <a:r>
              <a:rPr dirty="0" sz="1050" spc="31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050">
                <a:solidFill>
                  <a:srgbClr val="D5E4EE"/>
                </a:solidFill>
                <a:latin typeface="Georgia"/>
                <a:cs typeface="Georgia"/>
              </a:rPr>
              <a:t>Factory-</a:t>
            </a:r>
            <a:r>
              <a:rPr dirty="0" sz="1050" spc="-25">
                <a:solidFill>
                  <a:srgbClr val="D5E4EE"/>
                </a:solidFill>
                <a:latin typeface="Georgia"/>
                <a:cs typeface="Georgia"/>
              </a:rPr>
              <a:t>Fit</a:t>
            </a:r>
            <a:endParaRPr sz="1050">
              <a:latin typeface="Georgia"/>
              <a:cs typeface="Georgia"/>
            </a:endParaRPr>
          </a:p>
          <a:p>
            <a:pPr marL="124460">
              <a:lnSpc>
                <a:spcPct val="100000"/>
              </a:lnSpc>
              <a:spcBef>
                <a:spcPts val="620"/>
              </a:spcBef>
            </a:pPr>
            <a:r>
              <a:rPr dirty="0" sz="900" spc="-30">
                <a:solidFill>
                  <a:srgbClr val="D5E4EE"/>
                </a:solidFill>
                <a:latin typeface="SimSun-ExtB"/>
                <a:cs typeface="SimSun-ExtB"/>
              </a:rPr>
              <a:t>White</a:t>
            </a:r>
            <a:r>
              <a:rPr dirty="0" sz="900" spc="-229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 spc="-90">
                <a:solidFill>
                  <a:srgbClr val="D5E4EE"/>
                </a:solidFill>
                <a:latin typeface="SimSun-ExtB"/>
                <a:cs typeface="SimSun-ExtB"/>
              </a:rPr>
              <a:t>label</a:t>
            </a:r>
            <a:r>
              <a:rPr dirty="0" sz="900" spc="-24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 spc="-114">
                <a:solidFill>
                  <a:srgbClr val="D5E4EE"/>
                </a:solidFill>
                <a:latin typeface="SimSun-ExtB"/>
                <a:cs typeface="SimSun-ExtB"/>
              </a:rPr>
              <a:t>pilot</a:t>
            </a:r>
            <a:r>
              <a:rPr dirty="0" sz="900" spc="-26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 spc="-105">
                <a:solidFill>
                  <a:srgbClr val="D5E4EE"/>
                </a:solidFill>
                <a:latin typeface="SimSun-ExtB"/>
                <a:cs typeface="SimSun-ExtB"/>
              </a:rPr>
              <a:t>in</a:t>
            </a:r>
            <a:r>
              <a:rPr dirty="0" sz="900" spc="-229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 spc="-50">
                <a:solidFill>
                  <a:srgbClr val="D5E4EE"/>
                </a:solidFill>
                <a:latin typeface="SimSun-ExtB"/>
                <a:cs typeface="SimSun-ExtB"/>
              </a:rPr>
              <a:t>year</a:t>
            </a:r>
            <a:r>
              <a:rPr dirty="0" sz="900" spc="-23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 spc="-50">
                <a:solidFill>
                  <a:srgbClr val="D5E4EE"/>
                </a:solidFill>
                <a:latin typeface="SimSun-ExtB"/>
                <a:cs typeface="SimSun-ExtB"/>
              </a:rPr>
              <a:t>2</a:t>
            </a:r>
            <a:endParaRPr sz="900">
              <a:latin typeface="SimSun-ExtB"/>
              <a:cs typeface="SimSun-ExtB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224859" y="2993683"/>
            <a:ext cx="3392170" cy="656590"/>
            <a:chOff x="6224859" y="2993683"/>
            <a:chExt cx="3392170" cy="656590"/>
          </a:xfrm>
        </p:grpSpPr>
        <p:sp>
          <p:nvSpPr>
            <p:cNvPr id="48" name="object 48"/>
            <p:cNvSpPr/>
            <p:nvPr/>
          </p:nvSpPr>
          <p:spPr>
            <a:xfrm>
              <a:off x="6237514" y="3006183"/>
              <a:ext cx="3366770" cy="631825"/>
            </a:xfrm>
            <a:custGeom>
              <a:avLst/>
              <a:gdLst/>
              <a:ahLst/>
              <a:cxnLst/>
              <a:rect l="l" t="t" r="r" b="b"/>
              <a:pathLst>
                <a:path w="3366770" h="631825">
                  <a:moveTo>
                    <a:pt x="3359982" y="0"/>
                  </a:moveTo>
                  <a:lnTo>
                    <a:pt x="50622" y="0"/>
                  </a:lnTo>
                  <a:lnTo>
                    <a:pt x="14827" y="14648"/>
                  </a:lnTo>
                  <a:lnTo>
                    <a:pt x="0" y="50000"/>
                  </a:lnTo>
                  <a:lnTo>
                    <a:pt x="0" y="581246"/>
                  </a:lnTo>
                  <a:lnTo>
                    <a:pt x="14827" y="616602"/>
                  </a:lnTo>
                  <a:lnTo>
                    <a:pt x="50623" y="631247"/>
                  </a:lnTo>
                  <a:lnTo>
                    <a:pt x="3359983" y="631247"/>
                  </a:lnTo>
                  <a:lnTo>
                    <a:pt x="3366416" y="624894"/>
                  </a:lnTo>
                  <a:lnTo>
                    <a:pt x="3366415" y="6354"/>
                  </a:lnTo>
                  <a:lnTo>
                    <a:pt x="3359982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237514" y="3006183"/>
              <a:ext cx="3366770" cy="631825"/>
            </a:xfrm>
            <a:custGeom>
              <a:avLst/>
              <a:gdLst/>
              <a:ahLst/>
              <a:cxnLst/>
              <a:rect l="l" t="t" r="r" b="b"/>
              <a:pathLst>
                <a:path w="3366770" h="631825">
                  <a:moveTo>
                    <a:pt x="30963" y="4016"/>
                  </a:moveTo>
                  <a:lnTo>
                    <a:pt x="31261" y="3861"/>
                  </a:lnTo>
                </a:path>
                <a:path w="3366770" h="631825">
                  <a:moveTo>
                    <a:pt x="50622" y="0"/>
                  </a:moveTo>
                  <a:lnTo>
                    <a:pt x="3352072" y="0"/>
                  </a:lnTo>
                </a:path>
                <a:path w="3366770" h="631825">
                  <a:moveTo>
                    <a:pt x="3366415" y="14166"/>
                  </a:moveTo>
                  <a:lnTo>
                    <a:pt x="3366416" y="617058"/>
                  </a:lnTo>
                </a:path>
                <a:path w="3366770" h="631825">
                  <a:moveTo>
                    <a:pt x="3352073" y="631247"/>
                  </a:moveTo>
                  <a:lnTo>
                    <a:pt x="50623" y="631246"/>
                  </a:lnTo>
                </a:path>
                <a:path w="3366770" h="631825">
                  <a:moveTo>
                    <a:pt x="0" y="581246"/>
                  </a:moveTo>
                  <a:lnTo>
                    <a:pt x="0" y="49999"/>
                  </a:lnTo>
                </a:path>
                <a:path w="3366770" h="631825">
                  <a:moveTo>
                    <a:pt x="3912" y="30864"/>
                  </a:moveTo>
                  <a:lnTo>
                    <a:pt x="4011" y="30559"/>
                  </a:lnTo>
                </a:path>
              </a:pathLst>
            </a:custGeom>
            <a:ln w="25155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37514" y="3005716"/>
              <a:ext cx="50623" cy="632333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6288137" y="3016540"/>
            <a:ext cx="3303270" cy="49403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830"/>
              </a:spcBef>
            </a:pPr>
            <a:r>
              <a:rPr dirty="0" sz="1050">
                <a:solidFill>
                  <a:srgbClr val="D5E4EE"/>
                </a:solidFill>
                <a:latin typeface="Georgia"/>
                <a:cs typeface="Georgia"/>
              </a:rPr>
              <a:t>Direct-</a:t>
            </a:r>
            <a:r>
              <a:rPr dirty="0" sz="1050" spc="65">
                <a:solidFill>
                  <a:srgbClr val="D5E4EE"/>
                </a:solidFill>
                <a:latin typeface="Georgia"/>
                <a:cs typeface="Georgia"/>
              </a:rPr>
              <a:t>to-</a:t>
            </a:r>
            <a:r>
              <a:rPr dirty="0" sz="1050" spc="-20">
                <a:solidFill>
                  <a:srgbClr val="D5E4EE"/>
                </a:solidFill>
                <a:latin typeface="Georgia"/>
                <a:cs typeface="Georgia"/>
              </a:rPr>
              <a:t>Rider</a:t>
            </a:r>
            <a:endParaRPr sz="1050">
              <a:latin typeface="Georgia"/>
              <a:cs typeface="Georgia"/>
            </a:endParaRPr>
          </a:p>
          <a:p>
            <a:pPr marL="124460">
              <a:lnSpc>
                <a:spcPct val="100000"/>
              </a:lnSpc>
              <a:spcBef>
                <a:spcPts val="615"/>
              </a:spcBef>
            </a:pPr>
            <a:r>
              <a:rPr dirty="0" sz="900">
                <a:solidFill>
                  <a:srgbClr val="D5E4EE"/>
                </a:solidFill>
                <a:latin typeface="SimSun-ExtB"/>
                <a:cs typeface="SimSun-ExtB"/>
              </a:rPr>
              <a:t>Amazon,</a:t>
            </a:r>
            <a:r>
              <a:rPr dirty="0" sz="900" spc="-25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 spc="-95">
                <a:solidFill>
                  <a:srgbClr val="D5E4EE"/>
                </a:solidFill>
                <a:latin typeface="SimSun-ExtB"/>
                <a:cs typeface="SimSun-ExtB"/>
              </a:rPr>
              <a:t>Flipkart</a:t>
            </a:r>
            <a:r>
              <a:rPr dirty="0" sz="900" spc="-20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 spc="-180">
                <a:solidFill>
                  <a:srgbClr val="D5E4EE"/>
                </a:solidFill>
                <a:latin typeface="SimSun-ExtB"/>
                <a:cs typeface="SimSun-ExtB"/>
              </a:rPr>
              <a:t>—</a:t>
            </a:r>
            <a:r>
              <a:rPr dirty="0" sz="900" spc="-2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 spc="-65">
                <a:solidFill>
                  <a:srgbClr val="D5E4EE"/>
                </a:solidFill>
                <a:latin typeface="SimSun-ExtB"/>
                <a:cs typeface="SimSun-ExtB"/>
              </a:rPr>
              <a:t>cost</a:t>
            </a:r>
            <a:r>
              <a:rPr dirty="0" sz="900" spc="-2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 spc="-10">
                <a:solidFill>
                  <a:srgbClr val="D5E4EE"/>
                </a:solidFill>
                <a:latin typeface="SimSun-ExtB"/>
                <a:cs typeface="SimSun-ExtB"/>
              </a:rPr>
              <a:t>controlled</a:t>
            </a:r>
            <a:endParaRPr sz="900">
              <a:latin typeface="SimSun-ExtB"/>
              <a:cs typeface="SimSun-ExtB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745" y="-2"/>
            <a:ext cx="4571873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Building</a:t>
            </a:r>
            <a:r>
              <a:rPr dirty="0" spc="75"/>
              <a:t> </a:t>
            </a:r>
            <a:r>
              <a:rPr dirty="0" spc="60"/>
              <a:t>Safer</a:t>
            </a:r>
            <a:r>
              <a:rPr dirty="0" spc="80"/>
              <a:t> </a:t>
            </a:r>
            <a:r>
              <a:rPr dirty="0"/>
              <a:t>Roads</a:t>
            </a:r>
            <a:r>
              <a:rPr dirty="0" spc="70"/>
              <a:t> </a:t>
            </a:r>
            <a:r>
              <a:rPr dirty="0" spc="65"/>
              <a:t>for</a:t>
            </a:r>
            <a:r>
              <a:rPr dirty="0" spc="75"/>
              <a:t> </a:t>
            </a:r>
            <a:r>
              <a:rPr dirty="0" spc="50"/>
              <a:t>Every</a:t>
            </a:r>
            <a:r>
              <a:rPr dirty="0" spc="80"/>
              <a:t> </a:t>
            </a:r>
            <a:r>
              <a:rPr dirty="0" spc="-10"/>
              <a:t>Rider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98080" y="1271650"/>
            <a:ext cx="1145540" cy="222885"/>
            <a:chOff x="698080" y="1271650"/>
            <a:chExt cx="1145540" cy="222885"/>
          </a:xfrm>
        </p:grpSpPr>
        <p:sp>
          <p:nvSpPr>
            <p:cNvPr id="5" name="object 5"/>
            <p:cNvSpPr/>
            <p:nvPr/>
          </p:nvSpPr>
          <p:spPr>
            <a:xfrm>
              <a:off x="698080" y="1271650"/>
              <a:ext cx="1145540" cy="222885"/>
            </a:xfrm>
            <a:custGeom>
              <a:avLst/>
              <a:gdLst/>
              <a:ahLst/>
              <a:cxnLst/>
              <a:rect l="l" t="t" r="r" b="b"/>
              <a:pathLst>
                <a:path w="1145539" h="222884">
                  <a:moveTo>
                    <a:pt x="1137196" y="0"/>
                  </a:moveTo>
                  <a:lnTo>
                    <a:pt x="7874" y="0"/>
                  </a:lnTo>
                  <a:lnTo>
                    <a:pt x="0" y="7874"/>
                  </a:lnTo>
                  <a:lnTo>
                    <a:pt x="0" y="17652"/>
                  </a:lnTo>
                  <a:lnTo>
                    <a:pt x="0" y="214629"/>
                  </a:lnTo>
                  <a:lnTo>
                    <a:pt x="7874" y="222503"/>
                  </a:lnTo>
                  <a:lnTo>
                    <a:pt x="1137196" y="222503"/>
                  </a:lnTo>
                  <a:lnTo>
                    <a:pt x="1145070" y="214629"/>
                  </a:lnTo>
                  <a:lnTo>
                    <a:pt x="1145070" y="7874"/>
                  </a:lnTo>
                  <a:lnTo>
                    <a:pt x="1137196" y="0"/>
                  </a:lnTo>
                  <a:close/>
                </a:path>
              </a:pathLst>
            </a:custGeom>
            <a:solidFill>
              <a:srgbClr val="4804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5" y="1347708"/>
              <a:ext cx="112487" cy="7499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48944" y="1284859"/>
            <a:ext cx="8083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D5E4EE"/>
                </a:solidFill>
                <a:latin typeface="SimSun-ExtB"/>
                <a:cs typeface="SimSun-ExtB"/>
              </a:rPr>
              <a:t>KEY</a:t>
            </a:r>
            <a:r>
              <a:rPr dirty="0" sz="900" spc="-2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 spc="40">
                <a:solidFill>
                  <a:srgbClr val="D5E4EE"/>
                </a:solidFill>
                <a:latin typeface="SimSun-ExtB"/>
                <a:cs typeface="SimSun-ExtB"/>
              </a:rPr>
              <a:t>TAKEAWAYS</a:t>
            </a:r>
            <a:endParaRPr sz="900">
              <a:latin typeface="SimSun-ExtB"/>
              <a:cs typeface="SimSun-ExtB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3565" y="1600654"/>
            <a:ext cx="2964815" cy="1092200"/>
            <a:chOff x="683565" y="1600654"/>
            <a:chExt cx="2964815" cy="1092200"/>
          </a:xfrm>
        </p:grpSpPr>
        <p:sp>
          <p:nvSpPr>
            <p:cNvPr id="9" name="object 9"/>
            <p:cNvSpPr/>
            <p:nvPr/>
          </p:nvSpPr>
          <p:spPr>
            <a:xfrm>
              <a:off x="702567" y="1619584"/>
              <a:ext cx="2926715" cy="1054100"/>
            </a:xfrm>
            <a:custGeom>
              <a:avLst/>
              <a:gdLst/>
              <a:ahLst/>
              <a:cxnLst/>
              <a:rect l="l" t="t" r="r" b="b"/>
              <a:pathLst>
                <a:path w="2926715" h="1054100">
                  <a:moveTo>
                    <a:pt x="2908078" y="0"/>
                  </a:moveTo>
                  <a:lnTo>
                    <a:pt x="76008" y="0"/>
                  </a:lnTo>
                  <a:lnTo>
                    <a:pt x="22262" y="22183"/>
                  </a:lnTo>
                  <a:lnTo>
                    <a:pt x="0" y="75720"/>
                  </a:lnTo>
                  <a:lnTo>
                    <a:pt x="0" y="978051"/>
                  </a:lnTo>
                  <a:lnTo>
                    <a:pt x="22262" y="1031593"/>
                  </a:lnTo>
                  <a:lnTo>
                    <a:pt x="76008" y="1053770"/>
                  </a:lnTo>
                  <a:lnTo>
                    <a:pt x="2908079" y="1053771"/>
                  </a:lnTo>
                  <a:lnTo>
                    <a:pt x="2915185" y="1052341"/>
                  </a:lnTo>
                  <a:lnTo>
                    <a:pt x="2920991" y="1048441"/>
                  </a:lnTo>
                  <a:lnTo>
                    <a:pt x="2924906" y="1042657"/>
                  </a:lnTo>
                  <a:lnTo>
                    <a:pt x="2926342" y="1035574"/>
                  </a:lnTo>
                  <a:lnTo>
                    <a:pt x="2926342" y="18194"/>
                  </a:lnTo>
                  <a:lnTo>
                    <a:pt x="2924906" y="11114"/>
                  </a:lnTo>
                  <a:lnTo>
                    <a:pt x="2920991" y="5331"/>
                  </a:lnTo>
                  <a:lnTo>
                    <a:pt x="2915185" y="1430"/>
                  </a:lnTo>
                  <a:lnTo>
                    <a:pt x="2908078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47846" y="1619584"/>
              <a:ext cx="2881630" cy="1054100"/>
            </a:xfrm>
            <a:custGeom>
              <a:avLst/>
              <a:gdLst/>
              <a:ahLst/>
              <a:cxnLst/>
              <a:rect l="l" t="t" r="r" b="b"/>
              <a:pathLst>
                <a:path w="2881629" h="1054100">
                  <a:moveTo>
                    <a:pt x="0" y="6720"/>
                  </a:moveTo>
                  <a:lnTo>
                    <a:pt x="1658" y="5848"/>
                  </a:lnTo>
                </a:path>
                <a:path w="2881629" h="1054100">
                  <a:moveTo>
                    <a:pt x="30729" y="0"/>
                  </a:moveTo>
                  <a:lnTo>
                    <a:pt x="2862799" y="0"/>
                  </a:lnTo>
                </a:path>
                <a:path w="2881629" h="1054100">
                  <a:moveTo>
                    <a:pt x="2881063" y="18193"/>
                  </a:moveTo>
                  <a:lnTo>
                    <a:pt x="2881063" y="1035574"/>
                  </a:lnTo>
                </a:path>
                <a:path w="2881629" h="1054100">
                  <a:moveTo>
                    <a:pt x="2862799" y="1053770"/>
                  </a:moveTo>
                  <a:lnTo>
                    <a:pt x="30729" y="1053770"/>
                  </a:lnTo>
                </a:path>
              </a:pathLst>
            </a:custGeom>
            <a:ln w="37932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3565" y="1619584"/>
              <a:ext cx="95011" cy="105377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28900" y="1756028"/>
            <a:ext cx="2881630" cy="743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082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D5E4EE"/>
                </a:solidFill>
                <a:latin typeface="Georgia"/>
                <a:cs typeface="Georgia"/>
              </a:rPr>
              <a:t>Affordable</a:t>
            </a:r>
            <a:r>
              <a:rPr dirty="0" sz="1350" spc="26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D5E4EE"/>
                </a:solidFill>
                <a:latin typeface="Georgia"/>
                <a:cs typeface="Georgia"/>
              </a:rPr>
              <a:t>Safety</a:t>
            </a:r>
            <a:endParaRPr sz="1350">
              <a:latin typeface="Georgia"/>
              <a:cs typeface="Georgia"/>
            </a:endParaRPr>
          </a:p>
          <a:p>
            <a:pPr marL="210820" marR="695960">
              <a:lnSpc>
                <a:spcPct val="117400"/>
              </a:lnSpc>
              <a:spcBef>
                <a:spcPts val="785"/>
              </a:spcBef>
            </a:pPr>
            <a:r>
              <a:rPr dirty="0" sz="1150" spc="-75">
                <a:solidFill>
                  <a:srgbClr val="D5E4EE"/>
                </a:solidFill>
                <a:latin typeface="SimSun-ExtB"/>
                <a:cs typeface="SimSun-ExtB"/>
              </a:rPr>
              <a:t>Protection</a:t>
            </a:r>
            <a:r>
              <a:rPr dirty="0" sz="1150" spc="-2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40">
                <a:solidFill>
                  <a:srgbClr val="D5E4EE"/>
                </a:solidFill>
                <a:latin typeface="SimSun-ExtB"/>
                <a:cs typeface="SimSun-ExtB"/>
              </a:rPr>
              <a:t>engineered</a:t>
            </a:r>
            <a:r>
              <a:rPr dirty="0" sz="1150" spc="-3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135">
                <a:solidFill>
                  <a:srgbClr val="D5E4EE"/>
                </a:solidFill>
                <a:latin typeface="SimSun-ExtB"/>
                <a:cs typeface="SimSun-ExtB"/>
              </a:rPr>
              <a:t>for</a:t>
            </a:r>
            <a:r>
              <a:rPr dirty="0" sz="1150" spc="-3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10">
                <a:solidFill>
                  <a:srgbClr val="D5E4EE"/>
                </a:solidFill>
                <a:latin typeface="SimSun-ExtB"/>
                <a:cs typeface="SimSun-ExtB"/>
              </a:rPr>
              <a:t>every </a:t>
            </a:r>
            <a:r>
              <a:rPr dirty="0" sz="1150" spc="-65">
                <a:solidFill>
                  <a:srgbClr val="D5E4EE"/>
                </a:solidFill>
                <a:latin typeface="SimSun-ExtB"/>
                <a:cs typeface="SimSun-ExtB"/>
              </a:rPr>
              <a:t>motorcycle,</a:t>
            </a:r>
            <a:r>
              <a:rPr dirty="0" sz="115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105">
                <a:solidFill>
                  <a:srgbClr val="D5E4EE"/>
                </a:solidFill>
                <a:latin typeface="SimSun-ExtB"/>
                <a:cs typeface="SimSun-ExtB"/>
              </a:rPr>
              <a:t>at</a:t>
            </a:r>
            <a:r>
              <a:rPr dirty="0" sz="1150" spc="-3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65">
                <a:solidFill>
                  <a:srgbClr val="D5E4EE"/>
                </a:solidFill>
                <a:latin typeface="SimSun-ExtB"/>
                <a:cs typeface="SimSun-ExtB"/>
              </a:rPr>
              <a:t>every</a:t>
            </a:r>
            <a:r>
              <a:rPr dirty="0" sz="115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105">
                <a:solidFill>
                  <a:srgbClr val="D5E4EE"/>
                </a:solidFill>
                <a:latin typeface="SimSun-ExtB"/>
                <a:cs typeface="SimSun-ExtB"/>
              </a:rPr>
              <a:t>price</a:t>
            </a:r>
            <a:r>
              <a:rPr dirty="0" sz="1150" spc="-2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95">
                <a:solidFill>
                  <a:srgbClr val="D5E4EE"/>
                </a:solidFill>
                <a:latin typeface="SimSun-ExtB"/>
                <a:cs typeface="SimSun-ExtB"/>
              </a:rPr>
              <a:t>point.</a:t>
            </a:r>
            <a:endParaRPr sz="1150">
              <a:latin typeface="SimSun-ExtB"/>
              <a:cs typeface="SimSun-ExtB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83565" y="2768292"/>
            <a:ext cx="2964815" cy="1092200"/>
            <a:chOff x="683565" y="2768292"/>
            <a:chExt cx="2964815" cy="1092200"/>
          </a:xfrm>
        </p:grpSpPr>
        <p:sp>
          <p:nvSpPr>
            <p:cNvPr id="14" name="object 14"/>
            <p:cNvSpPr/>
            <p:nvPr/>
          </p:nvSpPr>
          <p:spPr>
            <a:xfrm>
              <a:off x="702567" y="2787222"/>
              <a:ext cx="2926715" cy="1054100"/>
            </a:xfrm>
            <a:custGeom>
              <a:avLst/>
              <a:gdLst/>
              <a:ahLst/>
              <a:cxnLst/>
              <a:rect l="l" t="t" r="r" b="b"/>
              <a:pathLst>
                <a:path w="2926715" h="1054100">
                  <a:moveTo>
                    <a:pt x="2908078" y="0"/>
                  </a:moveTo>
                  <a:lnTo>
                    <a:pt x="76008" y="0"/>
                  </a:lnTo>
                  <a:lnTo>
                    <a:pt x="22262" y="22183"/>
                  </a:lnTo>
                  <a:lnTo>
                    <a:pt x="0" y="75720"/>
                  </a:lnTo>
                  <a:lnTo>
                    <a:pt x="0" y="978051"/>
                  </a:lnTo>
                  <a:lnTo>
                    <a:pt x="22262" y="1031593"/>
                  </a:lnTo>
                  <a:lnTo>
                    <a:pt x="76008" y="1053770"/>
                  </a:lnTo>
                  <a:lnTo>
                    <a:pt x="2908079" y="1053771"/>
                  </a:lnTo>
                  <a:lnTo>
                    <a:pt x="2915185" y="1052341"/>
                  </a:lnTo>
                  <a:lnTo>
                    <a:pt x="2920991" y="1048441"/>
                  </a:lnTo>
                  <a:lnTo>
                    <a:pt x="2924906" y="1042657"/>
                  </a:lnTo>
                  <a:lnTo>
                    <a:pt x="2926342" y="1035574"/>
                  </a:lnTo>
                  <a:lnTo>
                    <a:pt x="2926342" y="18194"/>
                  </a:lnTo>
                  <a:lnTo>
                    <a:pt x="2924906" y="11114"/>
                  </a:lnTo>
                  <a:lnTo>
                    <a:pt x="2920991" y="5331"/>
                  </a:lnTo>
                  <a:lnTo>
                    <a:pt x="2915185" y="1430"/>
                  </a:lnTo>
                  <a:lnTo>
                    <a:pt x="2908078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47846" y="2787222"/>
              <a:ext cx="2881630" cy="1054100"/>
            </a:xfrm>
            <a:custGeom>
              <a:avLst/>
              <a:gdLst/>
              <a:ahLst/>
              <a:cxnLst/>
              <a:rect l="l" t="t" r="r" b="b"/>
              <a:pathLst>
                <a:path w="2881629" h="1054100">
                  <a:moveTo>
                    <a:pt x="0" y="6720"/>
                  </a:moveTo>
                  <a:lnTo>
                    <a:pt x="1658" y="5848"/>
                  </a:lnTo>
                </a:path>
                <a:path w="2881629" h="1054100">
                  <a:moveTo>
                    <a:pt x="30729" y="0"/>
                  </a:moveTo>
                  <a:lnTo>
                    <a:pt x="2862799" y="0"/>
                  </a:lnTo>
                </a:path>
                <a:path w="2881629" h="1054100">
                  <a:moveTo>
                    <a:pt x="2881063" y="18193"/>
                  </a:moveTo>
                  <a:lnTo>
                    <a:pt x="2881063" y="1035574"/>
                  </a:lnTo>
                </a:path>
                <a:path w="2881629" h="1054100">
                  <a:moveTo>
                    <a:pt x="2862799" y="1053770"/>
                  </a:moveTo>
                  <a:lnTo>
                    <a:pt x="30729" y="1053770"/>
                  </a:lnTo>
                </a:path>
              </a:pathLst>
            </a:custGeom>
            <a:ln w="37932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3565" y="2787222"/>
              <a:ext cx="95011" cy="105377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28900" y="2924047"/>
            <a:ext cx="2881630" cy="743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0820">
              <a:lnSpc>
                <a:spcPct val="100000"/>
              </a:lnSpc>
              <a:spcBef>
                <a:spcPts val="105"/>
              </a:spcBef>
            </a:pPr>
            <a:r>
              <a:rPr dirty="0" sz="1350" spc="20">
                <a:solidFill>
                  <a:srgbClr val="D5E4EE"/>
                </a:solidFill>
                <a:latin typeface="Georgia"/>
                <a:cs typeface="Georgia"/>
              </a:rPr>
              <a:t>Crash</a:t>
            </a:r>
            <a:r>
              <a:rPr dirty="0" sz="1350" spc="10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350" spc="20">
                <a:solidFill>
                  <a:srgbClr val="D5E4EE"/>
                </a:solidFill>
                <a:latin typeface="Georgia"/>
                <a:cs typeface="Georgia"/>
              </a:rPr>
              <a:t>Detection</a:t>
            </a:r>
            <a:r>
              <a:rPr dirty="0" sz="1350" spc="9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350" spc="20">
                <a:solidFill>
                  <a:srgbClr val="D5E4EE"/>
                </a:solidFill>
                <a:latin typeface="Georgia"/>
                <a:cs typeface="Georgia"/>
              </a:rPr>
              <a:t>&amp;</a:t>
            </a:r>
            <a:r>
              <a:rPr dirty="0" sz="1350" spc="12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D5E4EE"/>
                </a:solidFill>
                <a:latin typeface="Georgia"/>
                <a:cs typeface="Georgia"/>
              </a:rPr>
              <a:t>Alerts</a:t>
            </a:r>
            <a:endParaRPr sz="1350">
              <a:latin typeface="Georgia"/>
              <a:cs typeface="Georgia"/>
            </a:endParaRPr>
          </a:p>
          <a:p>
            <a:pPr marL="210820" marR="586105">
              <a:lnSpc>
                <a:spcPct val="117400"/>
              </a:lnSpc>
              <a:spcBef>
                <a:spcPts val="785"/>
              </a:spcBef>
            </a:pPr>
            <a:r>
              <a:rPr dirty="0" sz="1150" spc="-35">
                <a:solidFill>
                  <a:srgbClr val="D5E4EE"/>
                </a:solidFill>
                <a:latin typeface="SimSun-ExtB"/>
                <a:cs typeface="SimSun-ExtB"/>
              </a:rPr>
              <a:t>Automatic</a:t>
            </a:r>
            <a:r>
              <a:rPr dirty="0" sz="1150" spc="-3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90">
                <a:solidFill>
                  <a:srgbClr val="D5E4EE"/>
                </a:solidFill>
                <a:latin typeface="SimSun-ExtB"/>
                <a:cs typeface="SimSun-ExtB"/>
              </a:rPr>
              <a:t>incident</a:t>
            </a:r>
            <a:r>
              <a:rPr dirty="0" sz="115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70">
                <a:solidFill>
                  <a:srgbClr val="D5E4EE"/>
                </a:solidFill>
                <a:latin typeface="SimSun-ExtB"/>
                <a:cs typeface="SimSun-ExtB"/>
              </a:rPr>
              <a:t>detection</a:t>
            </a:r>
            <a:r>
              <a:rPr dirty="0" sz="1150" spc="-29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30">
                <a:solidFill>
                  <a:srgbClr val="D5E4EE"/>
                </a:solidFill>
                <a:latin typeface="SimSun-ExtB"/>
                <a:cs typeface="SimSun-ExtB"/>
              </a:rPr>
              <a:t>with </a:t>
            </a:r>
            <a:r>
              <a:rPr dirty="0" sz="1150" spc="-105">
                <a:solidFill>
                  <a:srgbClr val="D5E4EE"/>
                </a:solidFill>
                <a:latin typeface="SimSun-ExtB"/>
                <a:cs typeface="SimSun-ExtB"/>
              </a:rPr>
              <a:t>instant</a:t>
            </a:r>
            <a:r>
              <a:rPr dirty="0" sz="1150" spc="-28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>
                <a:solidFill>
                  <a:srgbClr val="D5E4EE"/>
                </a:solidFill>
                <a:latin typeface="SimSun-ExtB"/>
                <a:cs typeface="SimSun-ExtB"/>
              </a:rPr>
              <a:t>emergency</a:t>
            </a:r>
            <a:r>
              <a:rPr dirty="0" sz="1150" spc="-27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65">
                <a:solidFill>
                  <a:srgbClr val="D5E4EE"/>
                </a:solidFill>
                <a:latin typeface="SimSun-ExtB"/>
                <a:cs typeface="SimSun-ExtB"/>
              </a:rPr>
              <a:t>notifications.</a:t>
            </a:r>
            <a:endParaRPr sz="1150">
              <a:latin typeface="SimSun-ExtB"/>
              <a:cs typeface="SimSun-ExtB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3565" y="3936057"/>
            <a:ext cx="2964815" cy="1092200"/>
            <a:chOff x="683565" y="3936057"/>
            <a:chExt cx="2964815" cy="1092200"/>
          </a:xfrm>
        </p:grpSpPr>
        <p:sp>
          <p:nvSpPr>
            <p:cNvPr id="19" name="object 19"/>
            <p:cNvSpPr/>
            <p:nvPr/>
          </p:nvSpPr>
          <p:spPr>
            <a:xfrm>
              <a:off x="702567" y="3954987"/>
              <a:ext cx="2926715" cy="1054100"/>
            </a:xfrm>
            <a:custGeom>
              <a:avLst/>
              <a:gdLst/>
              <a:ahLst/>
              <a:cxnLst/>
              <a:rect l="l" t="t" r="r" b="b"/>
              <a:pathLst>
                <a:path w="2926715" h="1054100">
                  <a:moveTo>
                    <a:pt x="2908078" y="0"/>
                  </a:moveTo>
                  <a:lnTo>
                    <a:pt x="76008" y="0"/>
                  </a:lnTo>
                  <a:lnTo>
                    <a:pt x="22262" y="22183"/>
                  </a:lnTo>
                  <a:lnTo>
                    <a:pt x="0" y="75720"/>
                  </a:lnTo>
                  <a:lnTo>
                    <a:pt x="0" y="978051"/>
                  </a:lnTo>
                  <a:lnTo>
                    <a:pt x="22262" y="1031593"/>
                  </a:lnTo>
                  <a:lnTo>
                    <a:pt x="76008" y="1053770"/>
                  </a:lnTo>
                  <a:lnTo>
                    <a:pt x="2908079" y="1053771"/>
                  </a:lnTo>
                  <a:lnTo>
                    <a:pt x="2915185" y="1052341"/>
                  </a:lnTo>
                  <a:lnTo>
                    <a:pt x="2920991" y="1048441"/>
                  </a:lnTo>
                  <a:lnTo>
                    <a:pt x="2924906" y="1042657"/>
                  </a:lnTo>
                  <a:lnTo>
                    <a:pt x="2926342" y="1035574"/>
                  </a:lnTo>
                  <a:lnTo>
                    <a:pt x="2926342" y="18194"/>
                  </a:lnTo>
                  <a:lnTo>
                    <a:pt x="2924906" y="11114"/>
                  </a:lnTo>
                  <a:lnTo>
                    <a:pt x="2920991" y="5330"/>
                  </a:lnTo>
                  <a:lnTo>
                    <a:pt x="2915185" y="1430"/>
                  </a:lnTo>
                  <a:lnTo>
                    <a:pt x="2908078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47846" y="3954987"/>
              <a:ext cx="2881630" cy="1054100"/>
            </a:xfrm>
            <a:custGeom>
              <a:avLst/>
              <a:gdLst/>
              <a:ahLst/>
              <a:cxnLst/>
              <a:rect l="l" t="t" r="r" b="b"/>
              <a:pathLst>
                <a:path w="2881629" h="1054100">
                  <a:moveTo>
                    <a:pt x="0" y="6720"/>
                  </a:moveTo>
                  <a:lnTo>
                    <a:pt x="1658" y="5848"/>
                  </a:lnTo>
                </a:path>
                <a:path w="2881629" h="1054100">
                  <a:moveTo>
                    <a:pt x="30729" y="0"/>
                  </a:moveTo>
                  <a:lnTo>
                    <a:pt x="2862799" y="0"/>
                  </a:lnTo>
                </a:path>
                <a:path w="2881629" h="1054100">
                  <a:moveTo>
                    <a:pt x="2881063" y="18193"/>
                  </a:moveTo>
                  <a:lnTo>
                    <a:pt x="2881063" y="1035574"/>
                  </a:lnTo>
                </a:path>
                <a:path w="2881629" h="1054100">
                  <a:moveTo>
                    <a:pt x="2862799" y="1053770"/>
                  </a:moveTo>
                  <a:lnTo>
                    <a:pt x="30729" y="1053770"/>
                  </a:lnTo>
                </a:path>
              </a:pathLst>
            </a:custGeom>
            <a:ln w="37932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3565" y="3954987"/>
              <a:ext cx="95011" cy="105377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28900" y="4092066"/>
            <a:ext cx="2881630" cy="743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0820">
              <a:lnSpc>
                <a:spcPct val="100000"/>
              </a:lnSpc>
              <a:spcBef>
                <a:spcPts val="105"/>
              </a:spcBef>
            </a:pPr>
            <a:r>
              <a:rPr dirty="0" sz="1350" spc="10">
                <a:solidFill>
                  <a:srgbClr val="D5E4EE"/>
                </a:solidFill>
                <a:latin typeface="Georgia"/>
                <a:cs typeface="Georgia"/>
              </a:rPr>
              <a:t>Rider</a:t>
            </a:r>
            <a:r>
              <a:rPr dirty="0" sz="1350" spc="14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350" spc="10">
                <a:solidFill>
                  <a:srgbClr val="D5E4EE"/>
                </a:solidFill>
                <a:latin typeface="Georgia"/>
                <a:cs typeface="Georgia"/>
              </a:rPr>
              <a:t>Emergency</a:t>
            </a:r>
            <a:r>
              <a:rPr dirty="0" sz="1350" spc="165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D5E4EE"/>
                </a:solidFill>
                <a:latin typeface="Georgia"/>
                <a:cs typeface="Georgia"/>
              </a:rPr>
              <a:t>Assistance</a:t>
            </a:r>
            <a:endParaRPr sz="1350">
              <a:latin typeface="Georgia"/>
              <a:cs typeface="Georgia"/>
            </a:endParaRPr>
          </a:p>
          <a:p>
            <a:pPr marL="210820">
              <a:lnSpc>
                <a:spcPct val="100000"/>
              </a:lnSpc>
              <a:spcBef>
                <a:spcPts val="1025"/>
              </a:spcBef>
            </a:pPr>
            <a:r>
              <a:rPr dirty="0" sz="1150" spc="-95">
                <a:solidFill>
                  <a:srgbClr val="D5E4EE"/>
                </a:solidFill>
                <a:latin typeface="SimSun-ExtB"/>
                <a:cs typeface="SimSun-ExtB"/>
              </a:rPr>
              <a:t>Real-</a:t>
            </a:r>
            <a:r>
              <a:rPr dirty="0" sz="1150" spc="-35">
                <a:solidFill>
                  <a:srgbClr val="D5E4EE"/>
                </a:solidFill>
                <a:latin typeface="SimSun-ExtB"/>
                <a:cs typeface="SimSun-ExtB"/>
              </a:rPr>
              <a:t>time</a:t>
            </a:r>
            <a:r>
              <a:rPr dirty="0" sz="1150" spc="-3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45">
                <a:solidFill>
                  <a:srgbClr val="D5E4EE"/>
                </a:solidFill>
                <a:latin typeface="SimSun-ExtB"/>
                <a:cs typeface="SimSun-ExtB"/>
              </a:rPr>
              <a:t>support</a:t>
            </a:r>
            <a:r>
              <a:rPr dirty="0" sz="1150" spc="-27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95">
                <a:solidFill>
                  <a:srgbClr val="D5E4EE"/>
                </a:solidFill>
                <a:latin typeface="SimSun-ExtB"/>
                <a:cs typeface="SimSun-ExtB"/>
              </a:rPr>
              <a:t>features</a:t>
            </a:r>
            <a:r>
              <a:rPr dirty="0" sz="1150" spc="-28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95">
                <a:solidFill>
                  <a:srgbClr val="D5E4EE"/>
                </a:solidFill>
                <a:latin typeface="SimSun-ExtB"/>
                <a:cs typeface="SimSun-ExtB"/>
              </a:rPr>
              <a:t>that</a:t>
            </a:r>
            <a:r>
              <a:rPr dirty="0" sz="1150" spc="-2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10">
                <a:solidFill>
                  <a:srgbClr val="D5E4EE"/>
                </a:solidFill>
                <a:latin typeface="SimSun-ExtB"/>
                <a:cs typeface="SimSun-ExtB"/>
              </a:rPr>
              <a:t>respond</a:t>
            </a:r>
            <a:endParaRPr sz="1150">
              <a:latin typeface="SimSun-ExtB"/>
              <a:cs typeface="SimSun-ExtB"/>
            </a:endParaRPr>
          </a:p>
          <a:p>
            <a:pPr marL="210820">
              <a:lnSpc>
                <a:spcPct val="100000"/>
              </a:lnSpc>
              <a:spcBef>
                <a:spcPts val="240"/>
              </a:spcBef>
            </a:pPr>
            <a:r>
              <a:rPr dirty="0" sz="1150" spc="85">
                <a:solidFill>
                  <a:srgbClr val="D5E4EE"/>
                </a:solidFill>
                <a:latin typeface="SimSun-ExtB"/>
                <a:cs typeface="SimSun-ExtB"/>
              </a:rPr>
              <a:t>when</a:t>
            </a:r>
            <a:r>
              <a:rPr dirty="0" sz="1150" spc="-31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120">
                <a:solidFill>
                  <a:srgbClr val="D5E4EE"/>
                </a:solidFill>
                <a:latin typeface="SimSun-ExtB"/>
                <a:cs typeface="SimSun-ExtB"/>
              </a:rPr>
              <a:t>riders</a:t>
            </a:r>
            <a:r>
              <a:rPr dirty="0" sz="1150" spc="-3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>
                <a:solidFill>
                  <a:srgbClr val="D5E4EE"/>
                </a:solidFill>
                <a:latin typeface="SimSun-ExtB"/>
                <a:cs typeface="SimSun-ExtB"/>
              </a:rPr>
              <a:t>need</a:t>
            </a:r>
            <a:r>
              <a:rPr dirty="0" sz="1150" spc="-33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55">
                <a:solidFill>
                  <a:srgbClr val="D5E4EE"/>
                </a:solidFill>
                <a:latin typeface="SimSun-ExtB"/>
                <a:cs typeface="SimSun-ExtB"/>
              </a:rPr>
              <a:t>help</a:t>
            </a:r>
            <a:r>
              <a:rPr dirty="0" sz="1150" spc="-31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20">
                <a:solidFill>
                  <a:srgbClr val="D5E4EE"/>
                </a:solidFill>
                <a:latin typeface="SimSun-ExtB"/>
                <a:cs typeface="SimSun-ExtB"/>
              </a:rPr>
              <a:t>most.</a:t>
            </a:r>
            <a:endParaRPr sz="1150">
              <a:latin typeface="SimSun-ExtB"/>
              <a:cs typeface="SimSun-ExtB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83565" y="5103746"/>
            <a:ext cx="2964815" cy="1092200"/>
            <a:chOff x="683565" y="5103746"/>
            <a:chExt cx="2964815" cy="1092200"/>
          </a:xfrm>
        </p:grpSpPr>
        <p:sp>
          <p:nvSpPr>
            <p:cNvPr id="24" name="object 24"/>
            <p:cNvSpPr/>
            <p:nvPr/>
          </p:nvSpPr>
          <p:spPr>
            <a:xfrm>
              <a:off x="702567" y="5122676"/>
              <a:ext cx="2926715" cy="1054100"/>
            </a:xfrm>
            <a:custGeom>
              <a:avLst/>
              <a:gdLst/>
              <a:ahLst/>
              <a:cxnLst/>
              <a:rect l="l" t="t" r="r" b="b"/>
              <a:pathLst>
                <a:path w="2926715" h="1054100">
                  <a:moveTo>
                    <a:pt x="2908078" y="0"/>
                  </a:moveTo>
                  <a:lnTo>
                    <a:pt x="76008" y="0"/>
                  </a:lnTo>
                  <a:lnTo>
                    <a:pt x="46422" y="5952"/>
                  </a:lnTo>
                  <a:lnTo>
                    <a:pt x="22262" y="22183"/>
                  </a:lnTo>
                  <a:lnTo>
                    <a:pt x="5973" y="46253"/>
                  </a:lnTo>
                  <a:lnTo>
                    <a:pt x="0" y="75720"/>
                  </a:lnTo>
                  <a:lnTo>
                    <a:pt x="0" y="978051"/>
                  </a:lnTo>
                  <a:lnTo>
                    <a:pt x="5973" y="1007524"/>
                  </a:lnTo>
                  <a:lnTo>
                    <a:pt x="22262" y="1031593"/>
                  </a:lnTo>
                  <a:lnTo>
                    <a:pt x="46422" y="1047820"/>
                  </a:lnTo>
                  <a:lnTo>
                    <a:pt x="76008" y="1053770"/>
                  </a:lnTo>
                  <a:lnTo>
                    <a:pt x="2908079" y="1053770"/>
                  </a:lnTo>
                  <a:lnTo>
                    <a:pt x="2915185" y="1052340"/>
                  </a:lnTo>
                  <a:lnTo>
                    <a:pt x="2920991" y="1048441"/>
                  </a:lnTo>
                  <a:lnTo>
                    <a:pt x="2924906" y="1042657"/>
                  </a:lnTo>
                  <a:lnTo>
                    <a:pt x="2926342" y="1035573"/>
                  </a:lnTo>
                  <a:lnTo>
                    <a:pt x="2926342" y="18193"/>
                  </a:lnTo>
                  <a:lnTo>
                    <a:pt x="2924906" y="11114"/>
                  </a:lnTo>
                  <a:lnTo>
                    <a:pt x="2920991" y="5330"/>
                  </a:lnTo>
                  <a:lnTo>
                    <a:pt x="2915185" y="1430"/>
                  </a:lnTo>
                  <a:lnTo>
                    <a:pt x="2908078" y="0"/>
                  </a:lnTo>
                  <a:close/>
                </a:path>
              </a:pathLst>
            </a:custGeom>
            <a:solidFill>
              <a:srgbClr val="2428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47846" y="5122676"/>
              <a:ext cx="2881630" cy="1054100"/>
            </a:xfrm>
            <a:custGeom>
              <a:avLst/>
              <a:gdLst/>
              <a:ahLst/>
              <a:cxnLst/>
              <a:rect l="l" t="t" r="r" b="b"/>
              <a:pathLst>
                <a:path w="2881629" h="1054100">
                  <a:moveTo>
                    <a:pt x="0" y="6720"/>
                  </a:moveTo>
                  <a:lnTo>
                    <a:pt x="1658" y="5848"/>
                  </a:lnTo>
                </a:path>
                <a:path w="2881629" h="1054100">
                  <a:moveTo>
                    <a:pt x="30729" y="0"/>
                  </a:moveTo>
                  <a:lnTo>
                    <a:pt x="2862799" y="0"/>
                  </a:lnTo>
                </a:path>
                <a:path w="2881629" h="1054100">
                  <a:moveTo>
                    <a:pt x="2881063" y="18193"/>
                  </a:moveTo>
                  <a:lnTo>
                    <a:pt x="2881063" y="1035574"/>
                  </a:lnTo>
                </a:path>
                <a:path w="2881629" h="1054100">
                  <a:moveTo>
                    <a:pt x="2862799" y="1053770"/>
                  </a:moveTo>
                  <a:lnTo>
                    <a:pt x="30729" y="1053770"/>
                  </a:lnTo>
                </a:path>
              </a:pathLst>
            </a:custGeom>
            <a:ln w="37932">
              <a:solidFill>
                <a:srgbClr val="5D5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3565" y="5122676"/>
              <a:ext cx="95011" cy="105377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28900" y="5259400"/>
            <a:ext cx="2881630" cy="7442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082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D5E4EE"/>
                </a:solidFill>
                <a:latin typeface="Georgia"/>
                <a:cs typeface="Georgia"/>
              </a:rPr>
              <a:t>Valuable</a:t>
            </a:r>
            <a:r>
              <a:rPr dirty="0" sz="1350" spc="7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D5E4EE"/>
                </a:solidFill>
                <a:latin typeface="Georgia"/>
                <a:cs typeface="Georgia"/>
              </a:rPr>
              <a:t>Ride</a:t>
            </a:r>
            <a:r>
              <a:rPr dirty="0" sz="1350" spc="70">
                <a:solidFill>
                  <a:srgbClr val="D5E4EE"/>
                </a:solidFill>
                <a:latin typeface="Georgia"/>
                <a:cs typeface="Georgia"/>
              </a:rPr>
              <a:t> </a:t>
            </a:r>
            <a:r>
              <a:rPr dirty="0" sz="1350" spc="-20">
                <a:solidFill>
                  <a:srgbClr val="D5E4EE"/>
                </a:solidFill>
                <a:latin typeface="Georgia"/>
                <a:cs typeface="Georgia"/>
              </a:rPr>
              <a:t>Data</a:t>
            </a:r>
            <a:endParaRPr sz="1350">
              <a:latin typeface="Georgia"/>
              <a:cs typeface="Georgia"/>
            </a:endParaRPr>
          </a:p>
          <a:p>
            <a:pPr marL="210820">
              <a:lnSpc>
                <a:spcPct val="100000"/>
              </a:lnSpc>
              <a:spcBef>
                <a:spcPts val="1030"/>
              </a:spcBef>
            </a:pPr>
            <a:r>
              <a:rPr dirty="0" sz="1150" spc="-70">
                <a:solidFill>
                  <a:srgbClr val="D5E4EE"/>
                </a:solidFill>
                <a:latin typeface="SimSun-ExtB"/>
                <a:cs typeface="SimSun-ExtB"/>
              </a:rPr>
              <a:t>Actionable</a:t>
            </a:r>
            <a:r>
              <a:rPr dirty="0" sz="1150" spc="-3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120">
                <a:solidFill>
                  <a:srgbClr val="D5E4EE"/>
                </a:solidFill>
                <a:latin typeface="SimSun-ExtB"/>
                <a:cs typeface="SimSun-ExtB"/>
              </a:rPr>
              <a:t>insights</a:t>
            </a:r>
            <a:r>
              <a:rPr dirty="0" sz="1150" spc="-3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135">
                <a:solidFill>
                  <a:srgbClr val="D5E4EE"/>
                </a:solidFill>
                <a:latin typeface="SimSun-ExtB"/>
                <a:cs typeface="SimSun-ExtB"/>
              </a:rPr>
              <a:t>for</a:t>
            </a:r>
            <a:r>
              <a:rPr dirty="0" sz="1150" spc="-3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120">
                <a:solidFill>
                  <a:srgbClr val="D5E4EE"/>
                </a:solidFill>
                <a:latin typeface="SimSun-ExtB"/>
                <a:cs typeface="SimSun-ExtB"/>
              </a:rPr>
              <a:t>riders</a:t>
            </a:r>
            <a:r>
              <a:rPr dirty="0" sz="1150" spc="-28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25">
                <a:solidFill>
                  <a:srgbClr val="D5E4EE"/>
                </a:solidFill>
                <a:latin typeface="SimSun-ExtB"/>
                <a:cs typeface="SimSun-ExtB"/>
              </a:rPr>
              <a:t>and</a:t>
            </a:r>
            <a:endParaRPr sz="1150">
              <a:latin typeface="SimSun-ExtB"/>
              <a:cs typeface="SimSun-ExtB"/>
            </a:endParaRPr>
          </a:p>
          <a:p>
            <a:pPr marL="210820">
              <a:lnSpc>
                <a:spcPct val="100000"/>
              </a:lnSpc>
              <a:spcBef>
                <a:spcPts val="240"/>
              </a:spcBef>
            </a:pPr>
            <a:r>
              <a:rPr dirty="0" sz="1150" spc="-100">
                <a:solidFill>
                  <a:srgbClr val="D5E4EE"/>
                </a:solidFill>
                <a:latin typeface="SimSun-ExtB"/>
                <a:cs typeface="SimSun-ExtB"/>
              </a:rPr>
              <a:t>insurers</a:t>
            </a:r>
            <a:r>
              <a:rPr dirty="0" sz="1150" spc="-3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150" spc="-10">
                <a:solidFill>
                  <a:srgbClr val="D5E4EE"/>
                </a:solidFill>
                <a:latin typeface="SimSun-ExtB"/>
                <a:cs typeface="SimSun-ExtB"/>
              </a:rPr>
              <a:t>alike.</a:t>
            </a:r>
            <a:endParaRPr sz="1150">
              <a:latin typeface="SimSun-ExtB"/>
              <a:cs typeface="SimSun-ExtB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889502" y="2755773"/>
            <a:ext cx="3144520" cy="1797685"/>
            <a:chOff x="3889502" y="2755773"/>
            <a:chExt cx="3144520" cy="1797685"/>
          </a:xfrm>
        </p:grpSpPr>
        <p:sp>
          <p:nvSpPr>
            <p:cNvPr id="29" name="object 29"/>
            <p:cNvSpPr/>
            <p:nvPr/>
          </p:nvSpPr>
          <p:spPr>
            <a:xfrm>
              <a:off x="3889502" y="2755773"/>
              <a:ext cx="3144520" cy="1797685"/>
            </a:xfrm>
            <a:custGeom>
              <a:avLst/>
              <a:gdLst/>
              <a:ahLst/>
              <a:cxnLst/>
              <a:rect l="l" t="t" r="r" b="b"/>
              <a:pathLst>
                <a:path w="3144520" h="1797685">
                  <a:moveTo>
                    <a:pt x="3138424" y="0"/>
                  </a:moveTo>
                  <a:lnTo>
                    <a:pt x="5587" y="0"/>
                  </a:lnTo>
                  <a:lnTo>
                    <a:pt x="0" y="5587"/>
                  </a:lnTo>
                  <a:lnTo>
                    <a:pt x="0" y="12573"/>
                  </a:lnTo>
                  <a:lnTo>
                    <a:pt x="0" y="1791970"/>
                  </a:lnTo>
                  <a:lnTo>
                    <a:pt x="5587" y="1797558"/>
                  </a:lnTo>
                  <a:lnTo>
                    <a:pt x="3138424" y="1797558"/>
                  </a:lnTo>
                  <a:lnTo>
                    <a:pt x="3144012" y="1791970"/>
                  </a:lnTo>
                  <a:lnTo>
                    <a:pt x="3144012" y="5587"/>
                  </a:lnTo>
                  <a:lnTo>
                    <a:pt x="3138424" y="0"/>
                  </a:lnTo>
                  <a:close/>
                </a:path>
              </a:pathLst>
            </a:custGeom>
            <a:solidFill>
              <a:srgbClr val="1649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035933" y="2876677"/>
              <a:ext cx="756920" cy="222885"/>
            </a:xfrm>
            <a:custGeom>
              <a:avLst/>
              <a:gdLst/>
              <a:ahLst/>
              <a:cxnLst/>
              <a:rect l="l" t="t" r="r" b="b"/>
              <a:pathLst>
                <a:path w="756920" h="222885">
                  <a:moveTo>
                    <a:pt x="748918" y="0"/>
                  </a:moveTo>
                  <a:lnTo>
                    <a:pt x="7874" y="0"/>
                  </a:lnTo>
                  <a:lnTo>
                    <a:pt x="0" y="7874"/>
                  </a:lnTo>
                  <a:lnTo>
                    <a:pt x="0" y="17652"/>
                  </a:lnTo>
                  <a:lnTo>
                    <a:pt x="0" y="214630"/>
                  </a:lnTo>
                  <a:lnTo>
                    <a:pt x="7874" y="222503"/>
                  </a:lnTo>
                  <a:lnTo>
                    <a:pt x="748918" y="222503"/>
                  </a:lnTo>
                  <a:lnTo>
                    <a:pt x="756792" y="214630"/>
                  </a:lnTo>
                  <a:lnTo>
                    <a:pt x="756792" y="7874"/>
                  </a:lnTo>
                  <a:lnTo>
                    <a:pt x="748918" y="0"/>
                  </a:lnTo>
                  <a:close/>
                </a:path>
              </a:pathLst>
            </a:custGeom>
            <a:solidFill>
              <a:srgbClr val="4804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3889502" y="2755773"/>
            <a:ext cx="3144520" cy="17976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endParaRPr sz="900">
              <a:latin typeface="Times New Roman"/>
              <a:cs typeface="Times New Roman"/>
            </a:endParaRPr>
          </a:p>
          <a:p>
            <a:pPr marL="234315">
              <a:lnSpc>
                <a:spcPct val="100000"/>
              </a:lnSpc>
              <a:spcBef>
                <a:spcPts val="5"/>
              </a:spcBef>
            </a:pPr>
            <a:r>
              <a:rPr dirty="0" sz="900" spc="110">
                <a:solidFill>
                  <a:srgbClr val="D5E4EE"/>
                </a:solidFill>
                <a:latin typeface="SimSun-ExtB"/>
                <a:cs typeface="SimSun-ExtB"/>
              </a:rPr>
              <a:t>OUR</a:t>
            </a:r>
            <a:r>
              <a:rPr dirty="0" sz="900" spc="-27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900" spc="-10">
                <a:solidFill>
                  <a:srgbClr val="D5E4EE"/>
                </a:solidFill>
                <a:latin typeface="SimSun-ExtB"/>
                <a:cs typeface="SimSun-ExtB"/>
              </a:rPr>
              <a:t>VISION</a:t>
            </a:r>
            <a:endParaRPr sz="900">
              <a:latin typeface="SimSun-ExtB"/>
              <a:cs typeface="SimSun-ExtB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SimSun-ExtB"/>
              <a:cs typeface="SimSun-ExtB"/>
            </a:endParaRPr>
          </a:p>
          <a:p>
            <a:pPr marL="366395" marR="255904">
              <a:lnSpc>
                <a:spcPct val="111700"/>
              </a:lnSpc>
            </a:pPr>
            <a:r>
              <a:rPr dirty="0" sz="1200" spc="-40" i="1">
                <a:solidFill>
                  <a:srgbClr val="FFFFFF"/>
                </a:solidFill>
                <a:latin typeface="Arial"/>
                <a:cs typeface="Arial"/>
              </a:rPr>
              <a:t>"To</a:t>
            </a:r>
            <a:r>
              <a:rPr dirty="0" sz="1200" spc="-7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75" i="1">
                <a:solidFill>
                  <a:srgbClr val="FFFFFF"/>
                </a:solidFill>
                <a:latin typeface="Arial"/>
                <a:cs typeface="Arial"/>
              </a:rPr>
              <a:t>make</a:t>
            </a:r>
            <a:r>
              <a:rPr dirty="0" sz="1200" spc="-5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 i="1">
                <a:solidFill>
                  <a:srgbClr val="FFFFFF"/>
                </a:solidFill>
                <a:latin typeface="Arial"/>
                <a:cs typeface="Arial"/>
              </a:rPr>
              <a:t>intelligent</a:t>
            </a:r>
            <a:r>
              <a:rPr dirty="0" sz="1200" spc="-9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75" i="1">
                <a:solidFill>
                  <a:srgbClr val="FFFFFF"/>
                </a:solidFill>
                <a:latin typeface="Arial"/>
                <a:cs typeface="Arial"/>
              </a:rPr>
              <a:t>crash</a:t>
            </a:r>
            <a:r>
              <a:rPr dirty="0" sz="1200" spc="-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30" i="1">
                <a:solidFill>
                  <a:srgbClr val="FFFFFF"/>
                </a:solidFill>
                <a:latin typeface="Arial"/>
                <a:cs typeface="Arial"/>
              </a:rPr>
              <a:t>protection</a:t>
            </a:r>
            <a:r>
              <a:rPr dirty="0" sz="1200" spc="-5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 i="1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200" spc="-55" i="1">
                <a:solidFill>
                  <a:srgbClr val="FFFFFF"/>
                </a:solidFill>
                <a:latin typeface="Arial"/>
                <a:cs typeface="Arial"/>
              </a:rPr>
              <a:t>standard</a:t>
            </a:r>
            <a:r>
              <a:rPr dirty="0" sz="1200" spc="-6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 i="1">
                <a:solidFill>
                  <a:srgbClr val="FFFFFF"/>
                </a:solidFill>
                <a:latin typeface="Arial"/>
                <a:cs typeface="Arial"/>
              </a:rPr>
              <a:t>feature</a:t>
            </a:r>
            <a:r>
              <a:rPr dirty="0" sz="1200" spc="-5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45" i="1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200" spc="-6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70" i="1">
                <a:solidFill>
                  <a:srgbClr val="FFFFFF"/>
                </a:solidFill>
                <a:latin typeface="Arial"/>
                <a:cs typeface="Arial"/>
              </a:rPr>
              <a:t>every</a:t>
            </a:r>
            <a:r>
              <a:rPr dirty="0" sz="1200" spc="-5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30" i="1">
                <a:solidFill>
                  <a:srgbClr val="FFFFFF"/>
                </a:solidFill>
                <a:latin typeface="Arial"/>
                <a:cs typeface="Arial"/>
              </a:rPr>
              <a:t>two-</a:t>
            </a:r>
            <a:r>
              <a:rPr dirty="0" sz="1200" spc="-55" i="1">
                <a:solidFill>
                  <a:srgbClr val="FFFFFF"/>
                </a:solidFill>
                <a:latin typeface="Arial"/>
                <a:cs typeface="Arial"/>
              </a:rPr>
              <a:t>wheeler</a:t>
            </a:r>
            <a:r>
              <a:rPr dirty="0" sz="1200" spc="-6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340" i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200" spc="-50" i="1">
                <a:solidFill>
                  <a:srgbClr val="FFFFFF"/>
                </a:solidFill>
                <a:latin typeface="Arial"/>
                <a:cs typeface="Arial"/>
              </a:rPr>
              <a:t> reducing</a:t>
            </a:r>
            <a:r>
              <a:rPr dirty="0" sz="1200" spc="-8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 i="1">
                <a:solidFill>
                  <a:srgbClr val="FFFFFF"/>
                </a:solidFill>
                <a:latin typeface="Arial"/>
                <a:cs typeface="Arial"/>
              </a:rPr>
              <a:t>injury</a:t>
            </a:r>
            <a:r>
              <a:rPr dirty="0" sz="1200" spc="-7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60" i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200" spc="-8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 i="1">
                <a:solidFill>
                  <a:srgbClr val="FFFFFF"/>
                </a:solidFill>
                <a:latin typeface="Arial"/>
                <a:cs typeface="Arial"/>
              </a:rPr>
              <a:t>fatality</a:t>
            </a:r>
            <a:r>
              <a:rPr dirty="0" sz="1200" spc="-5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FFFFFF"/>
                </a:solidFill>
                <a:latin typeface="Arial"/>
                <a:cs typeface="Arial"/>
              </a:rPr>
              <a:t>through </a:t>
            </a:r>
            <a:r>
              <a:rPr dirty="0" sz="1200" spc="-45" i="1">
                <a:solidFill>
                  <a:srgbClr val="FFFFFF"/>
                </a:solidFill>
                <a:latin typeface="Arial"/>
                <a:cs typeface="Arial"/>
              </a:rPr>
              <a:t>affordable</a:t>
            </a:r>
            <a:r>
              <a:rPr dirty="0" sz="1200" spc="-2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FFFFFF"/>
                </a:solidFill>
                <a:latin typeface="Arial"/>
                <a:cs typeface="Arial"/>
              </a:rPr>
              <a:t>technology."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035933" y="3220085"/>
            <a:ext cx="19050" cy="1006475"/>
          </a:xfrm>
          <a:custGeom>
            <a:avLst/>
            <a:gdLst/>
            <a:ahLst/>
            <a:cxnLst/>
            <a:rect l="l" t="t" r="r" b="b"/>
            <a:pathLst>
              <a:path w="19050" h="1006475">
                <a:moveTo>
                  <a:pt x="14731" y="0"/>
                </a:moveTo>
                <a:lnTo>
                  <a:pt x="4190" y="0"/>
                </a:lnTo>
                <a:lnTo>
                  <a:pt x="0" y="4317"/>
                </a:lnTo>
                <a:lnTo>
                  <a:pt x="0" y="9525"/>
                </a:lnTo>
                <a:lnTo>
                  <a:pt x="0" y="1001648"/>
                </a:lnTo>
                <a:lnTo>
                  <a:pt x="4190" y="1005966"/>
                </a:lnTo>
                <a:lnTo>
                  <a:pt x="14731" y="1005966"/>
                </a:lnTo>
                <a:lnTo>
                  <a:pt x="19050" y="1001648"/>
                </a:lnTo>
                <a:lnTo>
                  <a:pt x="19050" y="4317"/>
                </a:lnTo>
                <a:lnTo>
                  <a:pt x="14731" y="0"/>
                </a:lnTo>
                <a:close/>
              </a:path>
            </a:pathLst>
          </a:custGeom>
          <a:solidFill>
            <a:srgbClr val="48042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3996" y="1000201"/>
            <a:ext cx="6169025" cy="50952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L="157480" marR="666115" indent="-4445">
              <a:lnSpc>
                <a:spcPts val="6360"/>
              </a:lnSpc>
              <a:spcBef>
                <a:spcPts val="115"/>
              </a:spcBef>
            </a:pPr>
            <a:r>
              <a:rPr dirty="0" sz="5100" spc="185">
                <a:solidFill>
                  <a:srgbClr val="F889C6"/>
                </a:solidFill>
                <a:latin typeface="Georgia"/>
                <a:cs typeface="Georgia"/>
              </a:rPr>
              <a:t>One</a:t>
            </a:r>
            <a:r>
              <a:rPr dirty="0" sz="5100" spc="6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5100">
                <a:solidFill>
                  <a:srgbClr val="F889C6"/>
                </a:solidFill>
                <a:latin typeface="Georgia"/>
                <a:cs typeface="Georgia"/>
              </a:rPr>
              <a:t>Kit.</a:t>
            </a:r>
            <a:r>
              <a:rPr dirty="0" sz="5100" spc="6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5100" spc="-20">
                <a:solidFill>
                  <a:srgbClr val="F889C6"/>
                </a:solidFill>
                <a:latin typeface="Georgia"/>
                <a:cs typeface="Georgia"/>
              </a:rPr>
              <a:t>Four </a:t>
            </a:r>
            <a:r>
              <a:rPr dirty="0" sz="5100" spc="210">
                <a:solidFill>
                  <a:srgbClr val="F889C6"/>
                </a:solidFill>
                <a:latin typeface="Georgia"/>
                <a:cs typeface="Georgia"/>
              </a:rPr>
              <a:t>Connected</a:t>
            </a:r>
            <a:r>
              <a:rPr dirty="0" sz="5100" spc="13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5100" spc="125">
                <a:solidFill>
                  <a:srgbClr val="F889C6"/>
                </a:solidFill>
                <a:latin typeface="Georgia"/>
                <a:cs typeface="Georgia"/>
              </a:rPr>
              <a:t>Safety</a:t>
            </a:r>
            <a:endParaRPr sz="5100">
              <a:latin typeface="Georgia"/>
              <a:cs typeface="Georgia"/>
            </a:endParaRPr>
          </a:p>
          <a:p>
            <a:pPr algn="ctr" marL="114935" marR="622935">
              <a:lnSpc>
                <a:spcPts val="6360"/>
              </a:lnSpc>
              <a:spcBef>
                <a:spcPts val="10"/>
              </a:spcBef>
            </a:pPr>
            <a:r>
              <a:rPr dirty="0" sz="5100" spc="125">
                <a:solidFill>
                  <a:srgbClr val="F889C6"/>
                </a:solidFill>
                <a:latin typeface="Georgia"/>
                <a:cs typeface="Georgia"/>
              </a:rPr>
              <a:t>Experiences.</a:t>
            </a:r>
            <a:r>
              <a:rPr dirty="0" sz="5100" spc="145">
                <a:solidFill>
                  <a:srgbClr val="F889C6"/>
                </a:solidFill>
                <a:latin typeface="Georgia"/>
                <a:cs typeface="Georgia"/>
              </a:rPr>
              <a:t> </a:t>
            </a:r>
            <a:r>
              <a:rPr dirty="0" sz="5100" spc="135">
                <a:solidFill>
                  <a:srgbClr val="FF6B35"/>
                </a:solidFill>
                <a:latin typeface="Georgia"/>
                <a:cs typeface="Georgia"/>
              </a:rPr>
              <a:t>Zero </a:t>
            </a:r>
            <a:r>
              <a:rPr dirty="0" sz="5100">
                <a:solidFill>
                  <a:srgbClr val="FF6B35"/>
                </a:solidFill>
                <a:latin typeface="Georgia"/>
                <a:cs typeface="Georgia"/>
              </a:rPr>
              <a:t>Extra</a:t>
            </a:r>
            <a:r>
              <a:rPr dirty="0" sz="5100" spc="360">
                <a:solidFill>
                  <a:srgbClr val="FF6B35"/>
                </a:solidFill>
                <a:latin typeface="Georgia"/>
                <a:cs typeface="Georgia"/>
              </a:rPr>
              <a:t> </a:t>
            </a:r>
            <a:r>
              <a:rPr dirty="0" sz="5100" spc="105">
                <a:solidFill>
                  <a:srgbClr val="FF6B35"/>
                </a:solidFill>
                <a:latin typeface="Georgia"/>
                <a:cs typeface="Georgia"/>
              </a:rPr>
              <a:t>Sensors.</a:t>
            </a:r>
            <a:endParaRPr sz="5100">
              <a:latin typeface="Georgia"/>
              <a:cs typeface="Georgia"/>
            </a:endParaRPr>
          </a:p>
          <a:p>
            <a:pPr algn="ctr" marR="511175">
              <a:lnSpc>
                <a:spcPct val="100000"/>
              </a:lnSpc>
              <a:spcBef>
                <a:spcPts val="2995"/>
              </a:spcBef>
            </a:pPr>
            <a:r>
              <a:rPr dirty="0" sz="1550">
                <a:solidFill>
                  <a:srgbClr val="D5E4EE"/>
                </a:solidFill>
                <a:latin typeface="SimSun-ExtB"/>
                <a:cs typeface="SimSun-ExtB"/>
              </a:rPr>
              <a:t>Thank</a:t>
            </a:r>
            <a:r>
              <a:rPr dirty="0" sz="1550" spc="-40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>
                <a:solidFill>
                  <a:srgbClr val="D5E4EE"/>
                </a:solidFill>
                <a:latin typeface="SimSun-ExtB"/>
                <a:cs typeface="SimSun-ExtB"/>
              </a:rPr>
              <a:t>you</a:t>
            </a:r>
            <a:r>
              <a:rPr dirty="0" sz="1550" spc="-4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80">
                <a:solidFill>
                  <a:srgbClr val="D5E4EE"/>
                </a:solidFill>
                <a:latin typeface="SimSun-ExtB"/>
                <a:cs typeface="SimSun-ExtB"/>
              </a:rPr>
              <a:t>for</a:t>
            </a:r>
            <a:r>
              <a:rPr dirty="0" sz="1550" spc="-39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55">
                <a:solidFill>
                  <a:srgbClr val="D5E4EE"/>
                </a:solidFill>
                <a:latin typeface="SimSun-ExtB"/>
                <a:cs typeface="SimSun-ExtB"/>
              </a:rPr>
              <a:t>your</a:t>
            </a:r>
            <a:r>
              <a:rPr dirty="0" sz="1550" spc="-40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0">
                <a:solidFill>
                  <a:srgbClr val="D5E4EE"/>
                </a:solidFill>
                <a:latin typeface="SimSun-ExtB"/>
                <a:cs typeface="SimSun-ExtB"/>
              </a:rPr>
              <a:t>time.</a:t>
            </a:r>
            <a:endParaRPr sz="1550">
              <a:latin typeface="SimSun-ExtB"/>
              <a:cs typeface="SimSun-ExtB"/>
            </a:endParaRPr>
          </a:p>
          <a:p>
            <a:pPr>
              <a:lnSpc>
                <a:spcPct val="100000"/>
              </a:lnSpc>
            </a:pPr>
            <a:endParaRPr sz="1550">
              <a:latin typeface="SimSun-ExtB"/>
              <a:cs typeface="SimSun-ExtB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550">
              <a:latin typeface="SimSun-ExtB"/>
              <a:cs typeface="SimSun-ExtB"/>
            </a:endParaRPr>
          </a:p>
          <a:p>
            <a:pPr algn="ctr" marR="508634">
              <a:lnSpc>
                <a:spcPct val="100000"/>
              </a:lnSpc>
            </a:pPr>
            <a:r>
              <a:rPr dirty="0" sz="1550" spc="-30" b="1">
                <a:solidFill>
                  <a:srgbClr val="D5E4EE"/>
                </a:solidFill>
                <a:latin typeface="Yu Gothic UI"/>
                <a:cs typeface="Yu Gothic UI"/>
              </a:rPr>
              <a:t>Team</a:t>
            </a:r>
            <a:r>
              <a:rPr dirty="0" sz="1550" spc="-110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spc="-70" b="1">
                <a:solidFill>
                  <a:srgbClr val="D5E4EE"/>
                </a:solidFill>
                <a:latin typeface="Yu Gothic UI"/>
                <a:cs typeface="Yu Gothic UI"/>
              </a:rPr>
              <a:t>ID</a:t>
            </a:r>
            <a:r>
              <a:rPr dirty="0" sz="1550" spc="-9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spc="-260" b="1">
                <a:solidFill>
                  <a:srgbClr val="D5E4EE"/>
                </a:solidFill>
                <a:latin typeface="Yu Gothic UI"/>
                <a:cs typeface="Yu Gothic UI"/>
              </a:rPr>
              <a:t>=</a:t>
            </a:r>
            <a:r>
              <a:rPr dirty="0" sz="1550" spc="-110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spc="-20" b="1">
                <a:solidFill>
                  <a:srgbClr val="D5E4EE"/>
                </a:solidFill>
                <a:latin typeface="Yu Gothic UI"/>
                <a:cs typeface="Yu Gothic UI"/>
              </a:rPr>
              <a:t>ECF5</a:t>
            </a:r>
            <a:r>
              <a:rPr dirty="0" sz="1550" spc="-9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spc="-120" b="1">
                <a:solidFill>
                  <a:srgbClr val="D5E4EE"/>
                </a:solidFill>
                <a:latin typeface="Yu Gothic UI"/>
                <a:cs typeface="Yu Gothic UI"/>
              </a:rPr>
              <a:t>-</a:t>
            </a:r>
            <a:r>
              <a:rPr dirty="0" sz="1550" spc="-10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spc="-25" b="1">
                <a:solidFill>
                  <a:srgbClr val="D5E4EE"/>
                </a:solidFill>
                <a:latin typeface="Yu Gothic UI"/>
                <a:cs typeface="Yu Gothic UI"/>
              </a:rPr>
              <a:t>166</a:t>
            </a:r>
            <a:endParaRPr sz="155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550" spc="-25" b="1">
                <a:solidFill>
                  <a:srgbClr val="D5E4EE"/>
                </a:solidFill>
                <a:latin typeface="Yu Gothic UI"/>
                <a:cs typeface="Yu Gothic UI"/>
              </a:rPr>
              <a:t>Team</a:t>
            </a:r>
            <a:r>
              <a:rPr dirty="0" sz="1550" spc="-90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spc="-60" b="1">
                <a:solidFill>
                  <a:srgbClr val="D5E4EE"/>
                </a:solidFill>
                <a:latin typeface="Yu Gothic UI"/>
                <a:cs typeface="Yu Gothic UI"/>
              </a:rPr>
              <a:t>Code</a:t>
            </a:r>
            <a:r>
              <a:rPr dirty="0" sz="1550" spc="-85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b="1">
                <a:solidFill>
                  <a:srgbClr val="D5E4EE"/>
                </a:solidFill>
                <a:latin typeface="Yu Gothic UI"/>
                <a:cs typeface="Yu Gothic UI"/>
              </a:rPr>
              <a:t>Catalyst</a:t>
            </a:r>
            <a:r>
              <a:rPr dirty="0" sz="1550" spc="-80" b="1">
                <a:solidFill>
                  <a:srgbClr val="D5E4EE"/>
                </a:solidFill>
                <a:latin typeface="Yu Gothic UI"/>
                <a:cs typeface="Yu Gothic UI"/>
              </a:rPr>
              <a:t> </a:t>
            </a:r>
            <a:r>
              <a:rPr dirty="0" sz="1550" spc="-1180">
                <a:solidFill>
                  <a:srgbClr val="D5E4EE"/>
                </a:solidFill>
                <a:latin typeface="SimSun-ExtB"/>
                <a:cs typeface="SimSun-ExtB"/>
              </a:rPr>
              <a:t>·</a:t>
            </a:r>
            <a:r>
              <a:rPr dirty="0" sz="1550" spc="-4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65">
                <a:solidFill>
                  <a:srgbClr val="D5E4EE"/>
                </a:solidFill>
                <a:latin typeface="SimSun-ExtB"/>
                <a:cs typeface="SimSun-ExtB"/>
              </a:rPr>
              <a:t>Panipat</a:t>
            </a:r>
            <a:r>
              <a:rPr dirty="0" sz="1550" spc="-43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80">
                <a:solidFill>
                  <a:srgbClr val="D5E4EE"/>
                </a:solidFill>
                <a:latin typeface="SimSun-ExtB"/>
                <a:cs typeface="SimSun-ExtB"/>
              </a:rPr>
              <a:t>Institute</a:t>
            </a:r>
            <a:r>
              <a:rPr dirty="0" sz="1550" spc="-41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140">
                <a:solidFill>
                  <a:srgbClr val="D5E4EE"/>
                </a:solidFill>
                <a:latin typeface="SimSun-ExtB"/>
                <a:cs typeface="SimSun-ExtB"/>
              </a:rPr>
              <a:t>of</a:t>
            </a:r>
            <a:r>
              <a:rPr dirty="0" sz="1550" spc="-434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80">
                <a:solidFill>
                  <a:srgbClr val="D5E4EE"/>
                </a:solidFill>
                <a:latin typeface="SimSun-ExtB"/>
                <a:cs typeface="SimSun-ExtB"/>
              </a:rPr>
              <a:t>Engineering</a:t>
            </a:r>
            <a:r>
              <a:rPr dirty="0" sz="1550" spc="-4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160">
                <a:solidFill>
                  <a:srgbClr val="D5E4EE"/>
                </a:solidFill>
                <a:latin typeface="SimSun-ExtB"/>
                <a:cs typeface="SimSun-ExtB"/>
              </a:rPr>
              <a:t>&amp;</a:t>
            </a:r>
            <a:r>
              <a:rPr dirty="0" sz="1550" spc="-420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30">
                <a:solidFill>
                  <a:srgbClr val="D5E4EE"/>
                </a:solidFill>
                <a:latin typeface="SimSun-ExtB"/>
                <a:cs typeface="SimSun-ExtB"/>
              </a:rPr>
              <a:t>Technology</a:t>
            </a:r>
            <a:r>
              <a:rPr dirty="0" sz="1550" spc="-425">
                <a:solidFill>
                  <a:srgbClr val="D5E4EE"/>
                </a:solidFill>
                <a:latin typeface="SimSun-ExtB"/>
                <a:cs typeface="SimSun-ExtB"/>
              </a:rPr>
              <a:t> </a:t>
            </a:r>
            <a:r>
              <a:rPr dirty="0" sz="1550" spc="-80">
                <a:solidFill>
                  <a:srgbClr val="D5E4EE"/>
                </a:solidFill>
                <a:latin typeface="SimSun-ExtB"/>
                <a:cs typeface="SimSun-ExtB"/>
              </a:rPr>
              <a:t>(PIET)</a:t>
            </a:r>
            <a:endParaRPr sz="1550">
              <a:latin typeface="SimSun-ExtB"/>
              <a:cs typeface="SimSun-Ext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Nitin Sharma</dc:creator>
  <dcterms:created xsi:type="dcterms:W3CDTF">2026-08-21T19:27:47Z</dcterms:created>
  <dcterms:modified xsi:type="dcterms:W3CDTF">2026-08-21T19:27:47Z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2026-08-22T00:00:00Z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2026-08-21T00:00:00Z</vt:filetime>
  </property>
  <property fmtid="{D5CDD505-2E9C-101B-9397-08002B2CF9AE}" pid="6" name="Producer">
    <vt:lpwstr>Microsoft® PowerPoint® 2021</vt:lpwstr>
  </property>
</Properties>
</file>